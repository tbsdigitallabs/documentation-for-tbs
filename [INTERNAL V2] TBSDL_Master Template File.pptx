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y="8229600" cx="14630400"/>
  <p:notesSz cx="8229600" cy="14630400"/>
  <p:embeddedFontLst>
    <p:embeddedFont>
      <p:font typeface="Funnel Display"/>
      <p:regular r:id="rId29"/>
      <p:bold r:id="rId30"/>
    </p:embeddedFont>
    <p:embeddedFont>
      <p:font typeface="Rethink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FunnelDisplay-regular.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ethinkSans-regular.fntdata"/><Relationship Id="rId30" Type="http://schemas.openxmlformats.org/officeDocument/2006/relationships/font" Target="fonts/FunnelDisplay-bold.fntdata"/><Relationship Id="rId11" Type="http://schemas.openxmlformats.org/officeDocument/2006/relationships/slide" Target="slides/slide7.xml"/><Relationship Id="rId33" Type="http://schemas.openxmlformats.org/officeDocument/2006/relationships/font" Target="fonts/RethinkSans-italic.fntdata"/><Relationship Id="rId10" Type="http://schemas.openxmlformats.org/officeDocument/2006/relationships/slide" Target="slides/slide6.xml"/><Relationship Id="rId32" Type="http://schemas.openxmlformats.org/officeDocument/2006/relationships/font" Target="fonts/RethinkSans-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RethinkSans-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df5fad41a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7df5fad41a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7df5fad41a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df5fad41a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7df5fad41a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37df5fad41a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7df5fad41a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7df5fad41a_0_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37df5fad41a_0_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df5fad41a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g37df5fad41a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37df5fad41a_0_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8a66a6483d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8a66a6483d_0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8a66a6483d_0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8a66a6483d_0_1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8a66a6483d_0_1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8a66a6483d_0_1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0828e3e0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g380828e3e0e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g380828e3e0e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808d025f41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808d025f41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3808d025f41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808d025f41_0_4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g3808d025f41_0_4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g3808d025f41_0_4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808d025f41_0_5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808d025f41_0_5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g3808d025f41_0_5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08d025f41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g3808d025f41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g3808d025f41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808d025f41_0_6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808d025f41_0_6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g3808d025f41_0_6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1" name="Shape 11"/>
        <p:cNvGrpSpPr/>
        <p:nvPr/>
      </p:nvGrpSpPr>
      <p:grpSpPr>
        <a:xfrm>
          <a:off x="0" y="0"/>
          <a:ext cx="0" cy="0"/>
          <a:chOff x="0" y="0"/>
          <a:chExt cx="0" cy="0"/>
        </a:xfrm>
      </p:grpSpPr>
      <p:pic>
        <p:nvPicPr>
          <p:cNvPr descr="preencoded.png" id="12" name="Google Shape;12;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3" name="Google Shape;13;p3"/>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4"/>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7" name="Shape 17"/>
        <p:cNvGrpSpPr/>
        <p:nvPr/>
      </p:nvGrpSpPr>
      <p:grpSpPr>
        <a:xfrm>
          <a:off x="0" y="0"/>
          <a:ext cx="0" cy="0"/>
          <a:chOff x="0" y="0"/>
          <a:chExt cx="0" cy="0"/>
        </a:xfrm>
      </p:grpSpPr>
      <p:pic>
        <p:nvPicPr>
          <p:cNvPr descr="preencoded.png" id="18" name="Google Shape;18;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9" name="Google Shape;19;p5"/>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0" name="Shape 20"/>
        <p:cNvGrpSpPr/>
        <p:nvPr/>
      </p:nvGrpSpPr>
      <p:grpSpPr>
        <a:xfrm>
          <a:off x="0" y="0"/>
          <a:ext cx="0" cy="0"/>
          <a:chOff x="0" y="0"/>
          <a:chExt cx="0" cy="0"/>
        </a:xfrm>
      </p:grpSpPr>
      <p:pic>
        <p:nvPicPr>
          <p:cNvPr descr="preencoded.png" id="21" name="Google Shape;21;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2" name="Google Shape;22;p6"/>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3" name="Shape 23"/>
        <p:cNvGrpSpPr/>
        <p:nvPr/>
      </p:nvGrpSpPr>
      <p:grpSpPr>
        <a:xfrm>
          <a:off x="0" y="0"/>
          <a:ext cx="0" cy="0"/>
          <a:chOff x="0" y="0"/>
          <a:chExt cx="0" cy="0"/>
        </a:xfrm>
      </p:grpSpPr>
      <p:pic>
        <p:nvPicPr>
          <p:cNvPr descr="preencoded.png" id="24" name="Google Shape;24;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5" name="Google Shape;25;p7"/>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6" name="Shape 26"/>
        <p:cNvGrpSpPr/>
        <p:nvPr/>
      </p:nvGrpSpPr>
      <p:grpSpPr>
        <a:xfrm>
          <a:off x="0" y="0"/>
          <a:ext cx="0" cy="0"/>
          <a:chOff x="0" y="0"/>
          <a:chExt cx="0" cy="0"/>
        </a:xfrm>
      </p:grpSpPr>
      <p:pic>
        <p:nvPicPr>
          <p:cNvPr descr="preencoded.png" id="27" name="Google Shape;27;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8"/>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9" name="Shape 29"/>
        <p:cNvGrpSpPr/>
        <p:nvPr/>
      </p:nvGrpSpPr>
      <p:grpSpPr>
        <a:xfrm>
          <a:off x="0" y="0"/>
          <a:ext cx="0" cy="0"/>
          <a:chOff x="0" y="0"/>
          <a:chExt cx="0" cy="0"/>
        </a:xfrm>
      </p:grpSpPr>
      <p:pic>
        <p:nvPicPr>
          <p:cNvPr descr="preencoded.png" id="30" name="Google Shape;30;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1" name="Google Shape;31;p9"/>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2" name="Shape 32"/>
        <p:cNvGrpSpPr/>
        <p:nvPr/>
      </p:nvGrpSpPr>
      <p:grpSpPr>
        <a:xfrm>
          <a:off x="0" y="0"/>
          <a:ext cx="0" cy="0"/>
          <a:chOff x="0" y="0"/>
          <a:chExt cx="0" cy="0"/>
        </a:xfrm>
      </p:grpSpPr>
      <p:pic>
        <p:nvPicPr>
          <p:cNvPr descr="preencoded.png" id="33" name="Google Shape;33;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4" name="Google Shape;34;p10"/>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5" name="Shape 35"/>
        <p:cNvGrpSpPr/>
        <p:nvPr/>
      </p:nvGrpSpPr>
      <p:grpSpPr>
        <a:xfrm>
          <a:off x="0" y="0"/>
          <a:ext cx="0" cy="0"/>
          <a:chOff x="0" y="0"/>
          <a:chExt cx="0" cy="0"/>
        </a:xfrm>
      </p:grpSpPr>
      <p:pic>
        <p:nvPicPr>
          <p:cNvPr descr="preencoded.png" id="36" name="Google Shape;36;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7" name="Google Shape;37;p11"/>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8" name="Shape 38"/>
        <p:cNvGrpSpPr/>
        <p:nvPr/>
      </p:nvGrpSpPr>
      <p:grpSpPr>
        <a:xfrm>
          <a:off x="0" y="0"/>
          <a:ext cx="0" cy="0"/>
          <a:chOff x="0" y="0"/>
          <a:chExt cx="0" cy="0"/>
        </a:xfrm>
      </p:grpSpPr>
      <p:pic>
        <p:nvPicPr>
          <p:cNvPr descr="preencoded.png" id="39" name="Google Shape;39;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12"/>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1" name="Shape 41"/>
        <p:cNvGrpSpPr/>
        <p:nvPr/>
      </p:nvGrpSpPr>
      <p:grpSpPr>
        <a:xfrm>
          <a:off x="0" y="0"/>
          <a:ext cx="0" cy="0"/>
          <a:chOff x="0" y="0"/>
          <a:chExt cx="0" cy="0"/>
        </a:xfrm>
      </p:grpSpPr>
      <p:pic>
        <p:nvPicPr>
          <p:cNvPr descr="preencoded.png" id="42" name="Google Shape;42;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3" name="Google Shape;43;p13"/>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4" name="Shape 44"/>
        <p:cNvGrpSpPr/>
        <p:nvPr/>
      </p:nvGrpSpPr>
      <p:grpSpPr>
        <a:xfrm>
          <a:off x="0" y="0"/>
          <a:ext cx="0" cy="0"/>
          <a:chOff x="0" y="0"/>
          <a:chExt cx="0" cy="0"/>
        </a:xfrm>
      </p:grpSpPr>
      <p:pic>
        <p:nvPicPr>
          <p:cNvPr descr="preencoded.png" id="45" name="Google Shape;45;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6" name="Google Shape;46;p14"/>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7" name="Shape 47"/>
        <p:cNvGrpSpPr/>
        <p:nvPr/>
      </p:nvGrpSpPr>
      <p:grpSpPr>
        <a:xfrm>
          <a:off x="0" y="0"/>
          <a:ext cx="0" cy="0"/>
          <a:chOff x="0" y="0"/>
          <a:chExt cx="0" cy="0"/>
        </a:xfrm>
      </p:grpSpPr>
      <p:pic>
        <p:nvPicPr>
          <p:cNvPr descr="preencoded.png" id="48" name="Google Shape;48;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9" name="Google Shape;49;p15"/>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50" name="Shape 50"/>
        <p:cNvGrpSpPr/>
        <p:nvPr/>
      </p:nvGrpSpPr>
      <p:grpSpPr>
        <a:xfrm>
          <a:off x="0" y="0"/>
          <a:ext cx="0" cy="0"/>
          <a:chOff x="0" y="0"/>
          <a:chExt cx="0" cy="0"/>
        </a:xfrm>
      </p:grpSpPr>
      <p:pic>
        <p:nvPicPr>
          <p:cNvPr descr="preencoded.png" id="51" name="Google Shape;51;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2" name="Google Shape;52;p16"/>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3" name="Shape 53"/>
        <p:cNvGrpSpPr/>
        <p:nvPr/>
      </p:nvGrpSpPr>
      <p:grpSpPr>
        <a:xfrm>
          <a:off x="0" y="0"/>
          <a:ext cx="0" cy="0"/>
          <a:chOff x="0" y="0"/>
          <a:chExt cx="0" cy="0"/>
        </a:xfrm>
      </p:grpSpPr>
      <p:pic>
        <p:nvPicPr>
          <p:cNvPr descr="preencoded.png" id="54" name="Google Shape;54;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5" name="Google Shape;55;p17"/>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56" name="Shape 56"/>
        <p:cNvGrpSpPr/>
        <p:nvPr/>
      </p:nvGrpSpPr>
      <p:grpSpPr>
        <a:xfrm>
          <a:off x="0" y="0"/>
          <a:ext cx="0" cy="0"/>
          <a:chOff x="0" y="0"/>
          <a:chExt cx="0" cy="0"/>
        </a:xfrm>
      </p:grpSpPr>
      <p:pic>
        <p:nvPicPr>
          <p:cNvPr descr="preencoded.png" id="57" name="Google Shape;57;p1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8" name="Google Shape;58;p18"/>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59" name="Shape 59"/>
        <p:cNvGrpSpPr/>
        <p:nvPr/>
      </p:nvGrpSpPr>
      <p:grpSpPr>
        <a:xfrm>
          <a:off x="0" y="0"/>
          <a:ext cx="0" cy="0"/>
          <a:chOff x="0" y="0"/>
          <a:chExt cx="0" cy="0"/>
        </a:xfrm>
      </p:grpSpPr>
      <p:pic>
        <p:nvPicPr>
          <p:cNvPr descr="preencoded.png" id="60" name="Google Shape;60;p1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61" name="Google Shape;61;p19"/>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62" name="Shape 62"/>
        <p:cNvGrpSpPr/>
        <p:nvPr/>
      </p:nvGrpSpPr>
      <p:grpSpPr>
        <a:xfrm>
          <a:off x="0" y="0"/>
          <a:ext cx="0" cy="0"/>
          <a:chOff x="0" y="0"/>
          <a:chExt cx="0" cy="0"/>
        </a:xfrm>
      </p:grpSpPr>
      <p:pic>
        <p:nvPicPr>
          <p:cNvPr descr="preencoded.png" id="63" name="Google Shape;63;p2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64" name="Google Shape;64;p20"/>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65" name="Shape 65"/>
        <p:cNvGrpSpPr/>
        <p:nvPr/>
      </p:nvGrpSpPr>
      <p:grpSpPr>
        <a:xfrm>
          <a:off x="0" y="0"/>
          <a:ext cx="0" cy="0"/>
          <a:chOff x="0" y="0"/>
          <a:chExt cx="0" cy="0"/>
        </a:xfrm>
      </p:grpSpPr>
      <p:pic>
        <p:nvPicPr>
          <p:cNvPr descr="preencoded.png" id="66" name="Google Shape;66;p2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67" name="Google Shape;67;p21"/>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68" name="Shape 68"/>
        <p:cNvGrpSpPr/>
        <p:nvPr/>
      </p:nvGrpSpPr>
      <p:grpSpPr>
        <a:xfrm>
          <a:off x="0" y="0"/>
          <a:ext cx="0" cy="0"/>
          <a:chOff x="0" y="0"/>
          <a:chExt cx="0" cy="0"/>
        </a:xfrm>
      </p:grpSpPr>
      <p:pic>
        <p:nvPicPr>
          <p:cNvPr descr="preencoded.png" id="69" name="Google Shape;69;p2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70" name="Google Shape;70;p22"/>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1 master">
  <p:cSld name="Slide 21 master">
    <p:spTree>
      <p:nvGrpSpPr>
        <p:cNvPr id="71" name="Shape 71"/>
        <p:cNvGrpSpPr/>
        <p:nvPr/>
      </p:nvGrpSpPr>
      <p:grpSpPr>
        <a:xfrm>
          <a:off x="0" y="0"/>
          <a:ext cx="0" cy="0"/>
          <a:chOff x="0" y="0"/>
          <a:chExt cx="0" cy="0"/>
        </a:xfrm>
      </p:grpSpPr>
      <p:pic>
        <p:nvPicPr>
          <p:cNvPr descr="preencoded.png" id="72" name="Google Shape;72;p2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73" name="Google Shape;73;p23"/>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2 master">
  <p:cSld name="Slide 22 master">
    <p:spTree>
      <p:nvGrpSpPr>
        <p:cNvPr id="74" name="Shape 74"/>
        <p:cNvGrpSpPr/>
        <p:nvPr/>
      </p:nvGrpSpPr>
      <p:grpSpPr>
        <a:xfrm>
          <a:off x="0" y="0"/>
          <a:ext cx="0" cy="0"/>
          <a:chOff x="0" y="0"/>
          <a:chExt cx="0" cy="0"/>
        </a:xfrm>
      </p:grpSpPr>
      <p:pic>
        <p:nvPicPr>
          <p:cNvPr descr="preencoded.png" id="75" name="Google Shape;75;p2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76" name="Google Shape;76;p24"/>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3 master">
  <p:cSld name="Slide 23 master">
    <p:spTree>
      <p:nvGrpSpPr>
        <p:cNvPr id="77" name="Shape 77"/>
        <p:cNvGrpSpPr/>
        <p:nvPr/>
      </p:nvGrpSpPr>
      <p:grpSpPr>
        <a:xfrm>
          <a:off x="0" y="0"/>
          <a:ext cx="0" cy="0"/>
          <a:chOff x="0" y="0"/>
          <a:chExt cx="0" cy="0"/>
        </a:xfrm>
      </p:grpSpPr>
      <p:pic>
        <p:nvPicPr>
          <p:cNvPr descr="preencoded.png" id="78" name="Google Shape;78;p2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79" name="Google Shape;79;p25"/>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4 master">
  <p:cSld name="Slide 24 master">
    <p:spTree>
      <p:nvGrpSpPr>
        <p:cNvPr id="80" name="Shape 80"/>
        <p:cNvGrpSpPr/>
        <p:nvPr/>
      </p:nvGrpSpPr>
      <p:grpSpPr>
        <a:xfrm>
          <a:off x="0" y="0"/>
          <a:ext cx="0" cy="0"/>
          <a:chOff x="0" y="0"/>
          <a:chExt cx="0" cy="0"/>
        </a:xfrm>
      </p:grpSpPr>
      <p:pic>
        <p:nvPicPr>
          <p:cNvPr descr="preencoded.png" id="81" name="Google Shape;81;p2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82" name="Google Shape;82;p26"/>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5 master">
  <p:cSld name="Slide 25 master">
    <p:spTree>
      <p:nvGrpSpPr>
        <p:cNvPr id="83" name="Shape 83"/>
        <p:cNvGrpSpPr/>
        <p:nvPr/>
      </p:nvGrpSpPr>
      <p:grpSpPr>
        <a:xfrm>
          <a:off x="0" y="0"/>
          <a:ext cx="0" cy="0"/>
          <a:chOff x="0" y="0"/>
          <a:chExt cx="0" cy="0"/>
        </a:xfrm>
      </p:grpSpPr>
      <p:pic>
        <p:nvPicPr>
          <p:cNvPr descr="preencoded.png" id="84" name="Google Shape;84;p2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85" name="Google Shape;85;p27"/>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6 master">
  <p:cSld name="Slide 26 master">
    <p:spTree>
      <p:nvGrpSpPr>
        <p:cNvPr id="86" name="Shape 86"/>
        <p:cNvGrpSpPr/>
        <p:nvPr/>
      </p:nvGrpSpPr>
      <p:grpSpPr>
        <a:xfrm>
          <a:off x="0" y="0"/>
          <a:ext cx="0" cy="0"/>
          <a:chOff x="0" y="0"/>
          <a:chExt cx="0" cy="0"/>
        </a:xfrm>
      </p:grpSpPr>
      <p:pic>
        <p:nvPicPr>
          <p:cNvPr descr="preencoded.png" id="87" name="Google Shape;87;p2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88" name="Google Shape;88;p28"/>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7 master">
  <p:cSld name="Slide 27 master">
    <p:spTree>
      <p:nvGrpSpPr>
        <p:cNvPr id="89" name="Shape 89"/>
        <p:cNvGrpSpPr/>
        <p:nvPr/>
      </p:nvGrpSpPr>
      <p:grpSpPr>
        <a:xfrm>
          <a:off x="0" y="0"/>
          <a:ext cx="0" cy="0"/>
          <a:chOff x="0" y="0"/>
          <a:chExt cx="0" cy="0"/>
        </a:xfrm>
      </p:grpSpPr>
      <p:pic>
        <p:nvPicPr>
          <p:cNvPr descr="preencoded.png" id="90" name="Google Shape;90;p2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91" name="Google Shape;91;p29"/>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8 master">
  <p:cSld name="Slide 28 master">
    <p:spTree>
      <p:nvGrpSpPr>
        <p:cNvPr id="92" name="Shape 92"/>
        <p:cNvGrpSpPr/>
        <p:nvPr/>
      </p:nvGrpSpPr>
      <p:grpSpPr>
        <a:xfrm>
          <a:off x="0" y="0"/>
          <a:ext cx="0" cy="0"/>
          <a:chOff x="0" y="0"/>
          <a:chExt cx="0" cy="0"/>
        </a:xfrm>
      </p:grpSpPr>
      <p:pic>
        <p:nvPicPr>
          <p:cNvPr descr="preencoded.png" id="93" name="Google Shape;93;p3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94" name="Google Shape;94;p30"/>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9 master">
  <p:cSld name="Slide 29 master">
    <p:spTree>
      <p:nvGrpSpPr>
        <p:cNvPr id="95" name="Shape 95"/>
        <p:cNvGrpSpPr/>
        <p:nvPr/>
      </p:nvGrpSpPr>
      <p:grpSpPr>
        <a:xfrm>
          <a:off x="0" y="0"/>
          <a:ext cx="0" cy="0"/>
          <a:chOff x="0" y="0"/>
          <a:chExt cx="0" cy="0"/>
        </a:xfrm>
      </p:grpSpPr>
      <p:pic>
        <p:nvPicPr>
          <p:cNvPr descr="preencoded.png" id="96" name="Google Shape;96;p3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97" name="Google Shape;97;p31"/>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0 master">
  <p:cSld name="Slide 30 master">
    <p:spTree>
      <p:nvGrpSpPr>
        <p:cNvPr id="98" name="Shape 98"/>
        <p:cNvGrpSpPr/>
        <p:nvPr/>
      </p:nvGrpSpPr>
      <p:grpSpPr>
        <a:xfrm>
          <a:off x="0" y="0"/>
          <a:ext cx="0" cy="0"/>
          <a:chOff x="0" y="0"/>
          <a:chExt cx="0" cy="0"/>
        </a:xfrm>
      </p:grpSpPr>
      <p:pic>
        <p:nvPicPr>
          <p:cNvPr descr="preencoded.png" id="99" name="Google Shape;99;p3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00" name="Google Shape;100;p32"/>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1 master">
  <p:cSld name="Slide 31 master">
    <p:spTree>
      <p:nvGrpSpPr>
        <p:cNvPr id="101" name="Shape 101"/>
        <p:cNvGrpSpPr/>
        <p:nvPr/>
      </p:nvGrpSpPr>
      <p:grpSpPr>
        <a:xfrm>
          <a:off x="0" y="0"/>
          <a:ext cx="0" cy="0"/>
          <a:chOff x="0" y="0"/>
          <a:chExt cx="0" cy="0"/>
        </a:xfrm>
      </p:grpSpPr>
      <p:pic>
        <p:nvPicPr>
          <p:cNvPr descr="preencoded.png" id="102" name="Google Shape;102;p3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03" name="Google Shape;103;p33"/>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2 master">
  <p:cSld name="Slide 32 master">
    <p:spTree>
      <p:nvGrpSpPr>
        <p:cNvPr id="104" name="Shape 104"/>
        <p:cNvGrpSpPr/>
        <p:nvPr/>
      </p:nvGrpSpPr>
      <p:grpSpPr>
        <a:xfrm>
          <a:off x="0" y="0"/>
          <a:ext cx="0" cy="0"/>
          <a:chOff x="0" y="0"/>
          <a:chExt cx="0" cy="0"/>
        </a:xfrm>
      </p:grpSpPr>
      <p:pic>
        <p:nvPicPr>
          <p:cNvPr descr="preencoded.png" id="105" name="Google Shape;105;p3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06" name="Google Shape;106;p34"/>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3 master">
  <p:cSld name="Slide 33 master">
    <p:spTree>
      <p:nvGrpSpPr>
        <p:cNvPr id="107" name="Shape 107"/>
        <p:cNvGrpSpPr/>
        <p:nvPr/>
      </p:nvGrpSpPr>
      <p:grpSpPr>
        <a:xfrm>
          <a:off x="0" y="0"/>
          <a:ext cx="0" cy="0"/>
          <a:chOff x="0" y="0"/>
          <a:chExt cx="0" cy="0"/>
        </a:xfrm>
      </p:grpSpPr>
      <p:pic>
        <p:nvPicPr>
          <p:cNvPr descr="preencoded.png" id="108" name="Google Shape;108;p3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09" name="Google Shape;109;p35"/>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4 master">
  <p:cSld name="Slide 34 master">
    <p:spTree>
      <p:nvGrpSpPr>
        <p:cNvPr id="110" name="Shape 110"/>
        <p:cNvGrpSpPr/>
        <p:nvPr/>
      </p:nvGrpSpPr>
      <p:grpSpPr>
        <a:xfrm>
          <a:off x="0" y="0"/>
          <a:ext cx="0" cy="0"/>
          <a:chOff x="0" y="0"/>
          <a:chExt cx="0" cy="0"/>
        </a:xfrm>
      </p:grpSpPr>
      <p:pic>
        <p:nvPicPr>
          <p:cNvPr descr="preencoded.png" id="111" name="Google Shape;111;p3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12" name="Google Shape;112;p36"/>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5 master">
  <p:cSld name="Slide 35 master">
    <p:spTree>
      <p:nvGrpSpPr>
        <p:cNvPr id="113" name="Shape 113"/>
        <p:cNvGrpSpPr/>
        <p:nvPr/>
      </p:nvGrpSpPr>
      <p:grpSpPr>
        <a:xfrm>
          <a:off x="0" y="0"/>
          <a:ext cx="0" cy="0"/>
          <a:chOff x="0" y="0"/>
          <a:chExt cx="0" cy="0"/>
        </a:xfrm>
      </p:grpSpPr>
      <p:pic>
        <p:nvPicPr>
          <p:cNvPr descr="preencoded.png" id="114" name="Google Shape;114;p3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15" name="Google Shape;115;p37"/>
          <p:cNvSpPr/>
          <p:nvPr/>
        </p:nvSpPr>
        <p:spPr>
          <a:xfrm>
            <a:off x="0" y="0"/>
            <a:ext cx="14630400" cy="8229600"/>
          </a:xfrm>
          <a:prstGeom prst="rect">
            <a:avLst/>
          </a:prstGeom>
          <a:solidFill>
            <a:srgbClr val="0D0A2C">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16" name="Shape 1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1.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49.png"/><Relationship Id="rId5"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jpg"/><Relationship Id="rId4" Type="http://schemas.openxmlformats.org/officeDocument/2006/relationships/image" Target="../media/image49.png"/><Relationship Id="rId5"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8.jpg"/><Relationship Id="rId4" Type="http://schemas.openxmlformats.org/officeDocument/2006/relationships/image" Target="../media/image49.png"/><Relationship Id="rId5"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4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8.png"/><Relationship Id="rId4" Type="http://schemas.openxmlformats.org/officeDocument/2006/relationships/image" Target="../media/image31.png"/><Relationship Id="rId5"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jp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jpg"/><Relationship Id="rId4" Type="http://schemas.openxmlformats.org/officeDocument/2006/relationships/image" Target="../media/image38.png"/><Relationship Id="rId5" Type="http://schemas.openxmlformats.org/officeDocument/2006/relationships/image" Target="../media/image46.png"/><Relationship Id="rId6"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6.png"/><Relationship Id="rId4" Type="http://schemas.openxmlformats.org/officeDocument/2006/relationships/image" Target="../media/image28.png"/><Relationship Id="rId5" Type="http://schemas.openxmlformats.org/officeDocument/2006/relationships/image" Target="../media/image37.png"/><Relationship Id="rId6" Type="http://schemas.openxmlformats.org/officeDocument/2006/relationships/image" Target="../media/image42.png"/><Relationship Id="rId7" Type="http://schemas.openxmlformats.org/officeDocument/2006/relationships/image" Target="../media/image31.png"/><Relationship Id="rId8"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1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18.jpg"/><Relationship Id="rId4" Type="http://schemas.openxmlformats.org/officeDocument/2006/relationships/image" Target="../media/image19.png"/><Relationship Id="rId5"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121" name="Shape 121"/>
        <p:cNvGrpSpPr/>
        <p:nvPr/>
      </p:nvGrpSpPr>
      <p:grpSpPr>
        <a:xfrm>
          <a:off x="0" y="0"/>
          <a:ext cx="0" cy="0"/>
          <a:chOff x="0" y="0"/>
          <a:chExt cx="0" cy="0"/>
        </a:xfrm>
      </p:grpSpPr>
      <p:pic>
        <p:nvPicPr>
          <p:cNvPr id="122" name="Google Shape;122;p39" title="Frame 67.jpg"/>
          <p:cNvPicPr preferRelativeResize="0"/>
          <p:nvPr/>
        </p:nvPicPr>
        <p:blipFill>
          <a:blip r:embed="rId3">
            <a:alphaModFix/>
          </a:blip>
          <a:stretch>
            <a:fillRect/>
          </a:stretch>
        </p:blipFill>
        <p:spPr>
          <a:xfrm>
            <a:off x="0" y="0"/>
            <a:ext cx="14630400" cy="8229600"/>
          </a:xfrm>
          <a:prstGeom prst="rect">
            <a:avLst/>
          </a:prstGeom>
          <a:noFill/>
          <a:ln>
            <a:noFill/>
          </a:ln>
        </p:spPr>
      </p:pic>
      <p:sp>
        <p:nvSpPr>
          <p:cNvPr id="123" name="Google Shape;123;p39"/>
          <p:cNvSpPr/>
          <p:nvPr/>
        </p:nvSpPr>
        <p:spPr>
          <a:xfrm>
            <a:off x="6280200" y="5426050"/>
            <a:ext cx="7556400" cy="10542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C77DFF"/>
              </a:buClr>
              <a:buSzPts val="3300"/>
              <a:buFont typeface="Funnel Display"/>
              <a:buNone/>
            </a:pPr>
            <a:r>
              <a:rPr b="0" i="0" lang="en-US" sz="3500" u="none" cap="none" strike="noStrike">
                <a:solidFill>
                  <a:srgbClr val="FCFCFC"/>
                </a:solidFill>
                <a:latin typeface="Funnel Display"/>
                <a:ea typeface="Funnel Display"/>
                <a:cs typeface="Funnel Display"/>
                <a:sym typeface="Funnel Display"/>
              </a:rPr>
              <a:t>Empowering </a:t>
            </a:r>
            <a:r>
              <a:rPr b="0" i="0" lang="en-US" sz="3500" u="none" cap="none" strike="noStrike">
                <a:solidFill>
                  <a:srgbClr val="D56EED"/>
                </a:solidFill>
                <a:latin typeface="Funnel Display"/>
                <a:ea typeface="Funnel Display"/>
                <a:cs typeface="Funnel Display"/>
                <a:sym typeface="Funnel Display"/>
              </a:rPr>
              <a:t>Digital</a:t>
            </a:r>
            <a:r>
              <a:rPr b="0" i="0" lang="en-US" sz="3500" u="none" cap="none" strike="noStrike">
                <a:solidFill>
                  <a:srgbClr val="FCFCFC"/>
                </a:solidFill>
                <a:latin typeface="Funnel Display"/>
                <a:ea typeface="Funnel Display"/>
                <a:cs typeface="Funnel Display"/>
                <a:sym typeface="Funnel Display"/>
              </a:rPr>
              <a:t> Transformation</a:t>
            </a:r>
            <a:endParaRPr b="0" i="0" sz="3500" u="none" cap="none" strike="noStrike">
              <a:solidFill>
                <a:srgbClr val="FCFCFC"/>
              </a:solidFill>
            </a:endParaRPr>
          </a:p>
        </p:txBody>
      </p:sp>
      <p:sp>
        <p:nvSpPr>
          <p:cNvPr id="124" name="Google Shape;124;p39"/>
          <p:cNvSpPr/>
          <p:nvPr/>
        </p:nvSpPr>
        <p:spPr>
          <a:xfrm>
            <a:off x="10018250" y="7585100"/>
            <a:ext cx="3896100" cy="2700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EFEFE"/>
              </a:buClr>
              <a:buSzPts val="1300"/>
              <a:buFont typeface="Rethink Sans"/>
              <a:buNone/>
            </a:pPr>
            <a:r>
              <a:rPr b="0" i="0" lang="en-US" sz="1800" u="none" cap="none" strike="noStrike">
                <a:solidFill>
                  <a:srgbClr val="FEFEFE"/>
                </a:solidFill>
                <a:latin typeface="Rethink Sans"/>
                <a:ea typeface="Rethink Sans"/>
                <a:cs typeface="Rethink Sans"/>
                <a:sym typeface="Rethink Sans"/>
              </a:rPr>
              <a:t>Founded 2018 • San Francisco, CA</a:t>
            </a:r>
            <a:endParaRPr b="0" i="0" sz="1800" u="none" cap="none" strike="noStrike"/>
          </a:p>
        </p:txBody>
      </p:sp>
      <p:sp>
        <p:nvSpPr>
          <p:cNvPr id="125" name="Google Shape;125;p39"/>
          <p:cNvSpPr/>
          <p:nvPr/>
        </p:nvSpPr>
        <p:spPr>
          <a:xfrm flipH="1">
            <a:off x="6280200" y="7617125"/>
            <a:ext cx="3896100" cy="2379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EFEFE"/>
              </a:buClr>
              <a:buSzPts val="1300"/>
              <a:buFont typeface="Rethink Sans"/>
              <a:buNone/>
            </a:pPr>
            <a:r>
              <a:rPr b="0" i="0" lang="en-US" sz="1800" u="none" cap="none" strike="noStrike">
                <a:solidFill>
                  <a:srgbClr val="FEFEFE"/>
                </a:solidFill>
                <a:latin typeface="Rethink Sans"/>
                <a:ea typeface="Rethink Sans"/>
                <a:cs typeface="Rethink Sans"/>
                <a:sym typeface="Rethink Sans"/>
              </a:rPr>
              <a:t>Presented by: Alex Mercer</a:t>
            </a:r>
            <a:endParaRPr b="0" i="0" sz="1800" u="none" cap="none" strike="noStrike"/>
          </a:p>
        </p:txBody>
      </p:sp>
      <p:pic>
        <p:nvPicPr>
          <p:cNvPr id="126" name="Google Shape;126;p39"/>
          <p:cNvPicPr preferRelativeResize="0"/>
          <p:nvPr/>
        </p:nvPicPr>
        <p:blipFill rotWithShape="1">
          <a:blip r:embed="rId4">
            <a:alphaModFix/>
          </a:blip>
          <a:srcRect b="23871" l="19660" r="19660" t="23871"/>
          <a:stretch/>
        </p:blipFill>
        <p:spPr>
          <a:xfrm>
            <a:off x="6280200" y="1273500"/>
            <a:ext cx="5460350" cy="3154451"/>
          </a:xfrm>
          <a:prstGeom prst="rect">
            <a:avLst/>
          </a:prstGeom>
          <a:noFill/>
          <a:ln>
            <a:noFill/>
          </a:ln>
        </p:spPr>
      </p:pic>
      <p:sp>
        <p:nvSpPr>
          <p:cNvPr id="127" name="Google Shape;127;p39"/>
          <p:cNvSpPr/>
          <p:nvPr/>
        </p:nvSpPr>
        <p:spPr>
          <a:xfrm>
            <a:off x="0" y="0"/>
            <a:ext cx="5460300" cy="825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39"/>
          <p:cNvSpPr/>
          <p:nvPr/>
        </p:nvSpPr>
        <p:spPr>
          <a:xfrm>
            <a:off x="6280200" y="6281150"/>
            <a:ext cx="7533300" cy="6045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C77DFF"/>
              </a:buClr>
              <a:buSzPts val="3300"/>
              <a:buFont typeface="Funnel Display"/>
              <a:buNone/>
            </a:pPr>
            <a:r>
              <a:rPr lang="en-US" sz="2400">
                <a:solidFill>
                  <a:srgbClr val="FCFCFC"/>
                </a:solidFill>
                <a:latin typeface="Rethink Sans"/>
                <a:ea typeface="Rethink Sans"/>
                <a:cs typeface="Rethink Sans"/>
                <a:sym typeface="Rethink Sans"/>
              </a:rPr>
              <a:t>Building Authority, Amplifying Impact.</a:t>
            </a:r>
            <a:endParaRPr i="0" sz="2400" u="none" cap="none" strike="noStrike">
              <a:solidFill>
                <a:srgbClr val="FCFCFC"/>
              </a:solidFill>
              <a:latin typeface="Rethink Sans"/>
              <a:ea typeface="Rethink Sans"/>
              <a:cs typeface="Rethink Sans"/>
              <a:sym typeface="Rethink Sans"/>
            </a:endParaRPr>
          </a:p>
        </p:txBody>
      </p:sp>
      <p:pic>
        <p:nvPicPr>
          <p:cNvPr id="129" name="Google Shape;129;p39"/>
          <p:cNvPicPr preferRelativeResize="0"/>
          <p:nvPr/>
        </p:nvPicPr>
        <p:blipFill>
          <a:blip r:embed="rId5">
            <a:alphaModFix/>
          </a:blip>
          <a:stretch>
            <a:fillRect/>
          </a:stretch>
        </p:blipFill>
        <p:spPr>
          <a:xfrm>
            <a:off x="10018251" y="-451301"/>
            <a:ext cx="5874475" cy="5877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134" name="Shape 134"/>
        <p:cNvGrpSpPr/>
        <p:nvPr/>
      </p:nvGrpSpPr>
      <p:grpSpPr>
        <a:xfrm>
          <a:off x="0" y="0"/>
          <a:ext cx="0" cy="0"/>
          <a:chOff x="0" y="0"/>
          <a:chExt cx="0" cy="0"/>
        </a:xfrm>
      </p:grpSpPr>
      <p:pic>
        <p:nvPicPr>
          <p:cNvPr id="135" name="Google Shape;135;p40" title="Frame 67.jpg"/>
          <p:cNvPicPr preferRelativeResize="0"/>
          <p:nvPr/>
        </p:nvPicPr>
        <p:blipFill>
          <a:blip r:embed="rId3">
            <a:alphaModFix/>
          </a:blip>
          <a:stretch>
            <a:fillRect/>
          </a:stretch>
        </p:blipFill>
        <p:spPr>
          <a:xfrm>
            <a:off x="0" y="0"/>
            <a:ext cx="14630400" cy="8229600"/>
          </a:xfrm>
          <a:prstGeom prst="rect">
            <a:avLst/>
          </a:prstGeom>
          <a:noFill/>
          <a:ln>
            <a:noFill/>
          </a:ln>
        </p:spPr>
      </p:pic>
      <p:sp>
        <p:nvSpPr>
          <p:cNvPr id="136" name="Google Shape;136;p40"/>
          <p:cNvSpPr/>
          <p:nvPr/>
        </p:nvSpPr>
        <p:spPr>
          <a:xfrm>
            <a:off x="8064603" y="7585100"/>
            <a:ext cx="5748900" cy="2700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EFEFE"/>
              </a:buClr>
              <a:buSzPts val="1300"/>
              <a:buFont typeface="Rethink Sans"/>
              <a:buNone/>
            </a:pPr>
            <a:r>
              <a:rPr b="0" i="0" lang="en-US" sz="1800" u="none" cap="none" strike="noStrike">
                <a:solidFill>
                  <a:srgbClr val="FEFEFE"/>
                </a:solidFill>
                <a:latin typeface="Rethink Sans"/>
                <a:ea typeface="Rethink Sans"/>
                <a:cs typeface="Rethink Sans"/>
                <a:sym typeface="Rethink Sans"/>
              </a:rPr>
              <a:t>Founded 2018 • San Francisco, CA</a:t>
            </a:r>
            <a:endParaRPr b="0" i="0" sz="1800" u="none" cap="none" strike="noStrike"/>
          </a:p>
        </p:txBody>
      </p:sp>
      <p:sp>
        <p:nvSpPr>
          <p:cNvPr id="137" name="Google Shape;137;p40"/>
          <p:cNvSpPr/>
          <p:nvPr/>
        </p:nvSpPr>
        <p:spPr>
          <a:xfrm>
            <a:off x="793798" y="7585100"/>
            <a:ext cx="5109000" cy="2700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EFEFE"/>
              </a:buClr>
              <a:buSzPts val="1300"/>
              <a:buFont typeface="Rethink Sans"/>
              <a:buNone/>
            </a:pPr>
            <a:r>
              <a:rPr b="0" i="0" lang="en-US" sz="1800" u="none" cap="none" strike="noStrike">
                <a:solidFill>
                  <a:srgbClr val="FEFEFE"/>
                </a:solidFill>
                <a:latin typeface="Rethink Sans"/>
                <a:ea typeface="Rethink Sans"/>
                <a:cs typeface="Rethink Sans"/>
                <a:sym typeface="Rethink Sans"/>
              </a:rPr>
              <a:t>Presented by: Alex Mercer, CEO &amp; Founder</a:t>
            </a:r>
            <a:endParaRPr b="0" i="0" sz="1800" u="none" cap="none" strike="noStrike"/>
          </a:p>
        </p:txBody>
      </p:sp>
      <p:pic>
        <p:nvPicPr>
          <p:cNvPr id="138" name="Google Shape;138;p40"/>
          <p:cNvPicPr preferRelativeResize="0"/>
          <p:nvPr/>
        </p:nvPicPr>
        <p:blipFill rotWithShape="1">
          <a:blip r:embed="rId4">
            <a:alphaModFix/>
          </a:blip>
          <a:srcRect b="23871" l="19660" r="19660" t="23871"/>
          <a:stretch/>
        </p:blipFill>
        <p:spPr>
          <a:xfrm>
            <a:off x="708075" y="3696225"/>
            <a:ext cx="5460350" cy="3154451"/>
          </a:xfrm>
          <a:prstGeom prst="rect">
            <a:avLst/>
          </a:prstGeom>
          <a:noFill/>
          <a:ln>
            <a:noFill/>
          </a:ln>
        </p:spPr>
      </p:pic>
      <p:sp>
        <p:nvSpPr>
          <p:cNvPr id="139" name="Google Shape;139;p40"/>
          <p:cNvSpPr/>
          <p:nvPr/>
        </p:nvSpPr>
        <p:spPr>
          <a:xfrm>
            <a:off x="8064600" y="5109025"/>
            <a:ext cx="5748900" cy="10542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C77DFF"/>
              </a:buClr>
              <a:buSzPts val="3300"/>
              <a:buFont typeface="Funnel Display"/>
              <a:buNone/>
            </a:pPr>
            <a:r>
              <a:rPr b="0" i="0" lang="en-US" sz="4800" u="none" cap="none" strike="noStrike">
                <a:solidFill>
                  <a:srgbClr val="FCFCFC"/>
                </a:solidFill>
                <a:latin typeface="Funnel Display"/>
                <a:ea typeface="Funnel Display"/>
                <a:cs typeface="Funnel Display"/>
                <a:sym typeface="Funnel Display"/>
              </a:rPr>
              <a:t>Empowering </a:t>
            </a:r>
            <a:r>
              <a:rPr b="0" i="0" lang="en-US" sz="4800" u="none" cap="none" strike="noStrike">
                <a:solidFill>
                  <a:srgbClr val="D56EED"/>
                </a:solidFill>
                <a:latin typeface="Funnel Display"/>
                <a:ea typeface="Funnel Display"/>
                <a:cs typeface="Funnel Display"/>
                <a:sym typeface="Funnel Display"/>
              </a:rPr>
              <a:t>Digital</a:t>
            </a:r>
            <a:r>
              <a:rPr b="0" i="0" lang="en-US" sz="4800" u="none" cap="none" strike="noStrike">
                <a:solidFill>
                  <a:srgbClr val="FCFCFC"/>
                </a:solidFill>
                <a:latin typeface="Funnel Display"/>
                <a:ea typeface="Funnel Display"/>
                <a:cs typeface="Funnel Display"/>
                <a:sym typeface="Funnel Display"/>
              </a:rPr>
              <a:t> Transformation</a:t>
            </a:r>
            <a:endParaRPr b="0" i="0" sz="4800" u="none" cap="none" strike="noStrike">
              <a:solidFill>
                <a:srgbClr val="FCFCFC"/>
              </a:solidFill>
            </a:endParaRPr>
          </a:p>
        </p:txBody>
      </p:sp>
      <p:sp>
        <p:nvSpPr>
          <p:cNvPr id="140" name="Google Shape;140;p40"/>
          <p:cNvSpPr/>
          <p:nvPr/>
        </p:nvSpPr>
        <p:spPr>
          <a:xfrm>
            <a:off x="8064600" y="6246175"/>
            <a:ext cx="5748900" cy="6045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C77DFF"/>
              </a:buClr>
              <a:buSzPts val="3300"/>
              <a:buFont typeface="Funnel Display"/>
              <a:buNone/>
            </a:pPr>
            <a:r>
              <a:rPr lang="en-US" sz="2400">
                <a:solidFill>
                  <a:srgbClr val="FCFCFC"/>
                </a:solidFill>
                <a:latin typeface="Rethink Sans"/>
                <a:ea typeface="Rethink Sans"/>
                <a:cs typeface="Rethink Sans"/>
                <a:sym typeface="Rethink Sans"/>
              </a:rPr>
              <a:t>Building Authority, Amplifying Impact.</a:t>
            </a:r>
            <a:endParaRPr i="0" sz="2400" u="none" cap="none" strike="noStrike">
              <a:solidFill>
                <a:srgbClr val="FCFCFC"/>
              </a:solidFill>
              <a:latin typeface="Rethink Sans"/>
              <a:ea typeface="Rethink Sans"/>
              <a:cs typeface="Rethink Sans"/>
              <a:sym typeface="Rethink Sans"/>
            </a:endParaRPr>
          </a:p>
        </p:txBody>
      </p:sp>
      <p:pic>
        <p:nvPicPr>
          <p:cNvPr id="141" name="Google Shape;141;p40"/>
          <p:cNvPicPr preferRelativeResize="0"/>
          <p:nvPr/>
        </p:nvPicPr>
        <p:blipFill>
          <a:blip r:embed="rId5">
            <a:alphaModFix/>
          </a:blip>
          <a:stretch>
            <a:fillRect/>
          </a:stretch>
        </p:blipFill>
        <p:spPr>
          <a:xfrm>
            <a:off x="6274425" y="-6535750"/>
            <a:ext cx="11189076" cy="111945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146" name="Shape 146"/>
        <p:cNvGrpSpPr/>
        <p:nvPr/>
      </p:nvGrpSpPr>
      <p:grpSpPr>
        <a:xfrm>
          <a:off x="0" y="0"/>
          <a:ext cx="0" cy="0"/>
          <a:chOff x="0" y="0"/>
          <a:chExt cx="0" cy="0"/>
        </a:xfrm>
      </p:grpSpPr>
      <p:pic>
        <p:nvPicPr>
          <p:cNvPr id="147" name="Google Shape;147;p41" title="Frame 67.jpg"/>
          <p:cNvPicPr preferRelativeResize="0"/>
          <p:nvPr/>
        </p:nvPicPr>
        <p:blipFill>
          <a:blip r:embed="rId3">
            <a:alphaModFix/>
          </a:blip>
          <a:stretch>
            <a:fillRect/>
          </a:stretch>
        </p:blipFill>
        <p:spPr>
          <a:xfrm>
            <a:off x="0" y="0"/>
            <a:ext cx="14630400" cy="8229600"/>
          </a:xfrm>
          <a:prstGeom prst="rect">
            <a:avLst/>
          </a:prstGeom>
          <a:noFill/>
          <a:ln>
            <a:noFill/>
          </a:ln>
        </p:spPr>
      </p:pic>
      <p:sp>
        <p:nvSpPr>
          <p:cNvPr id="148" name="Google Shape;148;p41"/>
          <p:cNvSpPr/>
          <p:nvPr/>
        </p:nvSpPr>
        <p:spPr>
          <a:xfrm>
            <a:off x="9786551" y="7585100"/>
            <a:ext cx="4026900" cy="270000"/>
          </a:xfrm>
          <a:prstGeom prst="rect">
            <a:avLst/>
          </a:prstGeom>
          <a:noFill/>
          <a:ln>
            <a:noFill/>
          </a:ln>
        </p:spPr>
        <p:txBody>
          <a:bodyPr anchorCtr="0" anchor="t" bIns="0" lIns="0" spcFirstLastPara="1" rIns="0" wrap="square" tIns="0">
            <a:noAutofit/>
          </a:bodyPr>
          <a:lstStyle/>
          <a:p>
            <a:pPr indent="0" lvl="0" marL="0" marR="0" rtl="0" algn="r">
              <a:lnSpc>
                <a:spcPct val="161538"/>
              </a:lnSpc>
              <a:spcBef>
                <a:spcPts val="0"/>
              </a:spcBef>
              <a:spcAft>
                <a:spcPts val="0"/>
              </a:spcAft>
              <a:buClr>
                <a:srgbClr val="FEFEFE"/>
              </a:buClr>
              <a:buSzPts val="1300"/>
              <a:buFont typeface="Rethink Sans"/>
              <a:buNone/>
            </a:pPr>
            <a:r>
              <a:rPr b="0" i="0" lang="en-US" sz="1800" u="none" cap="none" strike="noStrike">
                <a:solidFill>
                  <a:srgbClr val="FEFEFE"/>
                </a:solidFill>
                <a:latin typeface="Rethink Sans"/>
                <a:ea typeface="Rethink Sans"/>
                <a:cs typeface="Rethink Sans"/>
                <a:sym typeface="Rethink Sans"/>
              </a:rPr>
              <a:t>Founded 2018 • San Francisco, CA</a:t>
            </a:r>
            <a:endParaRPr b="0" i="0" sz="1800" u="none" cap="none" strike="noStrike"/>
          </a:p>
        </p:txBody>
      </p:sp>
      <p:sp>
        <p:nvSpPr>
          <p:cNvPr id="149" name="Google Shape;149;p41"/>
          <p:cNvSpPr/>
          <p:nvPr/>
        </p:nvSpPr>
        <p:spPr>
          <a:xfrm>
            <a:off x="793800" y="7585100"/>
            <a:ext cx="4972200" cy="2700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FEFEFE"/>
              </a:buClr>
              <a:buSzPts val="1300"/>
              <a:buFont typeface="Rethink Sans"/>
              <a:buNone/>
            </a:pPr>
            <a:r>
              <a:rPr b="0" i="0" lang="en-US" sz="1800" u="none" cap="none" strike="noStrike">
                <a:solidFill>
                  <a:srgbClr val="FEFEFE"/>
                </a:solidFill>
                <a:latin typeface="Rethink Sans"/>
                <a:ea typeface="Rethink Sans"/>
                <a:cs typeface="Rethink Sans"/>
                <a:sym typeface="Rethink Sans"/>
              </a:rPr>
              <a:t>Presented by: Alex Mercer, CEO &amp; Founder</a:t>
            </a:r>
            <a:endParaRPr b="0" i="0" sz="1800" u="none" cap="none" strike="noStrike"/>
          </a:p>
        </p:txBody>
      </p:sp>
      <p:pic>
        <p:nvPicPr>
          <p:cNvPr id="150" name="Google Shape;150;p41"/>
          <p:cNvPicPr preferRelativeResize="0"/>
          <p:nvPr/>
        </p:nvPicPr>
        <p:blipFill rotWithShape="1">
          <a:blip r:embed="rId4">
            <a:alphaModFix/>
          </a:blip>
          <a:srcRect b="23871" l="19660" r="19660" t="23871"/>
          <a:stretch/>
        </p:blipFill>
        <p:spPr>
          <a:xfrm>
            <a:off x="11193075" y="759275"/>
            <a:ext cx="2620426" cy="1513825"/>
          </a:xfrm>
          <a:prstGeom prst="rect">
            <a:avLst/>
          </a:prstGeom>
          <a:noFill/>
          <a:ln>
            <a:noFill/>
          </a:ln>
        </p:spPr>
      </p:pic>
      <p:sp>
        <p:nvSpPr>
          <p:cNvPr id="151" name="Google Shape;151;p41"/>
          <p:cNvSpPr/>
          <p:nvPr/>
        </p:nvSpPr>
        <p:spPr>
          <a:xfrm>
            <a:off x="793800" y="4418826"/>
            <a:ext cx="8428200" cy="15456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C77DFF"/>
              </a:buClr>
              <a:buSzPts val="4838"/>
              <a:buFont typeface="Funnel Display"/>
              <a:buNone/>
            </a:pPr>
            <a:r>
              <a:rPr b="0" i="0" lang="en-US" sz="7037" u="none" cap="none" strike="noStrike">
                <a:solidFill>
                  <a:srgbClr val="FCFCFC"/>
                </a:solidFill>
                <a:latin typeface="Funnel Display"/>
                <a:ea typeface="Funnel Display"/>
                <a:cs typeface="Funnel Display"/>
                <a:sym typeface="Funnel Display"/>
              </a:rPr>
              <a:t>Empowering </a:t>
            </a:r>
            <a:r>
              <a:rPr b="0" i="0" lang="en-US" sz="7037" u="none" cap="none" strike="noStrike">
                <a:solidFill>
                  <a:srgbClr val="D56EED"/>
                </a:solidFill>
                <a:latin typeface="Funnel Display"/>
                <a:ea typeface="Funnel Display"/>
                <a:cs typeface="Funnel Display"/>
                <a:sym typeface="Funnel Display"/>
              </a:rPr>
              <a:t>Digital</a:t>
            </a:r>
            <a:r>
              <a:rPr b="0" i="0" lang="en-US" sz="7037" u="none" cap="none" strike="noStrike">
                <a:solidFill>
                  <a:srgbClr val="FCFCFC"/>
                </a:solidFill>
                <a:latin typeface="Funnel Display"/>
                <a:ea typeface="Funnel Display"/>
                <a:cs typeface="Funnel Display"/>
                <a:sym typeface="Funnel Display"/>
              </a:rPr>
              <a:t> Transformation</a:t>
            </a:r>
            <a:endParaRPr b="0" i="0" sz="7037" u="none" cap="none" strike="noStrike">
              <a:solidFill>
                <a:srgbClr val="FCFCFC"/>
              </a:solidFill>
            </a:endParaRPr>
          </a:p>
        </p:txBody>
      </p:sp>
      <p:sp>
        <p:nvSpPr>
          <p:cNvPr id="152" name="Google Shape;152;p41"/>
          <p:cNvSpPr/>
          <p:nvPr/>
        </p:nvSpPr>
        <p:spPr>
          <a:xfrm>
            <a:off x="793800" y="5964423"/>
            <a:ext cx="8428200" cy="8862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C77DFF"/>
              </a:buClr>
              <a:buSzPts val="4838"/>
              <a:buFont typeface="Funnel Display"/>
              <a:buNone/>
            </a:pPr>
            <a:r>
              <a:rPr lang="en-US" sz="3518">
                <a:solidFill>
                  <a:srgbClr val="FCFCFC"/>
                </a:solidFill>
                <a:latin typeface="Rethink Sans"/>
                <a:ea typeface="Rethink Sans"/>
                <a:cs typeface="Rethink Sans"/>
                <a:sym typeface="Rethink Sans"/>
              </a:rPr>
              <a:t>Building Authority, Amplifying Impact.</a:t>
            </a:r>
            <a:endParaRPr i="0" sz="3518" u="none" cap="none" strike="noStrike">
              <a:solidFill>
                <a:srgbClr val="FCFCFC"/>
              </a:solidFill>
              <a:latin typeface="Rethink Sans"/>
              <a:ea typeface="Rethink Sans"/>
              <a:cs typeface="Rethink Sans"/>
              <a:sym typeface="Rethink Sans"/>
            </a:endParaRPr>
          </a:p>
        </p:txBody>
      </p:sp>
      <p:pic>
        <p:nvPicPr>
          <p:cNvPr id="153" name="Google Shape;153;p41"/>
          <p:cNvPicPr preferRelativeResize="0"/>
          <p:nvPr/>
        </p:nvPicPr>
        <p:blipFill>
          <a:blip r:embed="rId5">
            <a:alphaModFix/>
          </a:blip>
          <a:stretch>
            <a:fillRect/>
          </a:stretch>
        </p:blipFill>
        <p:spPr>
          <a:xfrm rot="-1799999">
            <a:off x="7148088" y="-5328449"/>
            <a:ext cx="10710399" cy="107156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158" name="Shape 158"/>
        <p:cNvGrpSpPr/>
        <p:nvPr/>
      </p:nvGrpSpPr>
      <p:grpSpPr>
        <a:xfrm>
          <a:off x="0" y="0"/>
          <a:ext cx="0" cy="0"/>
          <a:chOff x="0" y="0"/>
          <a:chExt cx="0" cy="0"/>
        </a:xfrm>
      </p:grpSpPr>
      <p:pic>
        <p:nvPicPr>
          <p:cNvPr id="159" name="Google Shape;159;p42"/>
          <p:cNvPicPr preferRelativeResize="0"/>
          <p:nvPr/>
        </p:nvPicPr>
        <p:blipFill>
          <a:blip r:embed="rId3">
            <a:alphaModFix/>
          </a:blip>
          <a:stretch>
            <a:fillRect/>
          </a:stretch>
        </p:blipFill>
        <p:spPr>
          <a:xfrm>
            <a:off x="5253300" y="3930275"/>
            <a:ext cx="12078226" cy="12084127"/>
          </a:xfrm>
          <a:prstGeom prst="rect">
            <a:avLst/>
          </a:prstGeom>
          <a:noFill/>
          <a:ln>
            <a:noFill/>
          </a:ln>
        </p:spPr>
      </p:pic>
      <p:sp>
        <p:nvSpPr>
          <p:cNvPr id="160" name="Google Shape;160;p42"/>
          <p:cNvSpPr/>
          <p:nvPr/>
        </p:nvSpPr>
        <p:spPr>
          <a:xfrm>
            <a:off x="793790" y="766492"/>
            <a:ext cx="4961700" cy="62010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FEFEFE"/>
              </a:buClr>
              <a:buSzPts val="3900"/>
              <a:buFont typeface="Funnel Display"/>
              <a:buNone/>
            </a:pPr>
            <a:r>
              <a:rPr b="0" i="0" lang="en-US" sz="3900" u="none" cap="none" strike="noStrike">
                <a:solidFill>
                  <a:srgbClr val="FEFEFE"/>
                </a:solidFill>
                <a:latin typeface="Funnel Display"/>
                <a:ea typeface="Funnel Display"/>
                <a:cs typeface="Funnel Display"/>
                <a:sym typeface="Funnel Display"/>
              </a:rPr>
              <a:t>Who We </a:t>
            </a:r>
            <a:r>
              <a:rPr b="0" i="0" lang="en-US" sz="3900" u="none" cap="none" strike="noStrike">
                <a:solidFill>
                  <a:srgbClr val="D56EED"/>
                </a:solidFill>
                <a:latin typeface="Funnel Display"/>
                <a:ea typeface="Funnel Display"/>
                <a:cs typeface="Funnel Display"/>
                <a:sym typeface="Funnel Display"/>
              </a:rPr>
              <a:t>Are</a:t>
            </a:r>
            <a:endParaRPr b="0" i="0" sz="3900" u="none" cap="none" strike="noStrike">
              <a:solidFill>
                <a:srgbClr val="D56EED"/>
              </a:solidFill>
            </a:endParaRPr>
          </a:p>
        </p:txBody>
      </p:sp>
      <p:sp>
        <p:nvSpPr>
          <p:cNvPr id="161" name="Google Shape;161;p42"/>
          <p:cNvSpPr/>
          <p:nvPr/>
        </p:nvSpPr>
        <p:spPr>
          <a:xfrm>
            <a:off x="793800" y="1783400"/>
            <a:ext cx="13042800" cy="2026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EFEFE"/>
              </a:buClr>
              <a:buSzPts val="1550"/>
              <a:buFont typeface="Rethink Sans"/>
              <a:buNone/>
            </a:pPr>
            <a:r>
              <a:rPr b="0" i="0" lang="en-US" sz="1800" u="none" cap="none" strike="noStrike">
                <a:solidFill>
                  <a:srgbClr val="61BDBA"/>
                </a:solidFill>
                <a:latin typeface="Rethink Sans"/>
                <a:ea typeface="Rethink Sans"/>
                <a:cs typeface="Rethink Sans"/>
                <a:sym typeface="Rethink Sans"/>
              </a:rPr>
              <a:t>TBS Digital Labs,</a:t>
            </a:r>
            <a:r>
              <a:rPr b="0" i="0" lang="en-US" sz="1800" u="none" cap="none" strike="noStrike">
                <a:solidFill>
                  <a:srgbClr val="FEFEFE"/>
                </a:solidFill>
                <a:latin typeface="Rethink Sans"/>
                <a:ea typeface="Rethink Sans"/>
                <a:cs typeface="Rethink Sans"/>
                <a:sym typeface="Rethink Sans"/>
              </a:rPr>
              <a:t> founded in 2005 and based in the innovation hub of San Francisco, California, is a leading firm dedicated to empowering businesses through comprehensive digital transformation. Our expert team specializes in leveraging cutting-edge technology and strategic insights to build unparalleled digital authority and amplify your market impact.</a:t>
            </a:r>
            <a:r>
              <a:rPr b="0" i="0" lang="en-US" sz="1800" u="none" cap="none" strike="noStrike">
                <a:solidFill>
                  <a:srgbClr val="FEFEFE"/>
                </a:solidFill>
                <a:latin typeface="Rethink Sans"/>
                <a:ea typeface="Rethink Sans"/>
                <a:cs typeface="Rethink Sans"/>
                <a:sym typeface="Rethink Sans"/>
              </a:rPr>
              <a:t> We combine deep technical expertise with a results-driven approach to deliver bespoke solutions that ensure sustainable growth and industry leadership.</a:t>
            </a:r>
            <a:endParaRPr b="0" i="0" sz="1800" u="none" cap="none" strike="noStrike"/>
          </a:p>
        </p:txBody>
      </p:sp>
      <p:sp>
        <p:nvSpPr>
          <p:cNvPr id="162" name="Google Shape;162;p42"/>
          <p:cNvSpPr/>
          <p:nvPr/>
        </p:nvSpPr>
        <p:spPr>
          <a:xfrm>
            <a:off x="8064600" y="6205375"/>
            <a:ext cx="5748900" cy="13185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C77DFF"/>
              </a:buClr>
              <a:buSzPts val="3300"/>
              <a:buFont typeface="Funnel Display"/>
              <a:buNone/>
            </a:pPr>
            <a:r>
              <a:rPr lang="en-US" sz="4800">
                <a:solidFill>
                  <a:srgbClr val="FCFCFC"/>
                </a:solidFill>
                <a:latin typeface="Funnel Display"/>
                <a:ea typeface="Funnel Display"/>
                <a:cs typeface="Funnel Display"/>
                <a:sym typeface="Funnel Display"/>
              </a:rPr>
              <a:t>We Build </a:t>
            </a:r>
            <a:r>
              <a:rPr lang="en-US" sz="4800">
                <a:solidFill>
                  <a:srgbClr val="D56EED"/>
                </a:solidFill>
                <a:latin typeface="Funnel Display"/>
                <a:ea typeface="Funnel Display"/>
                <a:cs typeface="Funnel Display"/>
                <a:sym typeface="Funnel Display"/>
              </a:rPr>
              <a:t>Authority</a:t>
            </a:r>
            <a:r>
              <a:rPr lang="en-US" sz="4800">
                <a:solidFill>
                  <a:srgbClr val="FCFCFC"/>
                </a:solidFill>
                <a:latin typeface="Funnel Display"/>
                <a:ea typeface="Funnel Display"/>
                <a:cs typeface="Funnel Display"/>
                <a:sym typeface="Funnel Display"/>
              </a:rPr>
              <a:t>. We Amplify </a:t>
            </a:r>
            <a:r>
              <a:rPr lang="en-US" sz="4800">
                <a:solidFill>
                  <a:srgbClr val="61BDBA"/>
                </a:solidFill>
                <a:latin typeface="Funnel Display"/>
                <a:ea typeface="Funnel Display"/>
                <a:cs typeface="Funnel Display"/>
                <a:sym typeface="Funnel Display"/>
              </a:rPr>
              <a:t>Impact</a:t>
            </a:r>
            <a:r>
              <a:rPr lang="en-US" sz="4800">
                <a:solidFill>
                  <a:srgbClr val="FCFCFC"/>
                </a:solidFill>
                <a:latin typeface="Funnel Display"/>
                <a:ea typeface="Funnel Display"/>
                <a:cs typeface="Funnel Display"/>
                <a:sym typeface="Funnel Display"/>
              </a:rPr>
              <a:t>.</a:t>
            </a:r>
            <a:endParaRPr b="0" i="0" sz="4800" u="none" cap="none" strike="noStrike">
              <a:solidFill>
                <a:srgbClr val="FCFCFC"/>
              </a:solidFill>
            </a:endParaRPr>
          </a:p>
        </p:txBody>
      </p:sp>
      <p:pic>
        <p:nvPicPr>
          <p:cNvPr id="163" name="Google Shape;163;p42"/>
          <p:cNvPicPr preferRelativeResize="0"/>
          <p:nvPr/>
        </p:nvPicPr>
        <p:blipFill rotWithShape="1">
          <a:blip r:embed="rId4">
            <a:alphaModFix/>
          </a:blip>
          <a:srcRect b="23871" l="19660" r="19660" t="23871"/>
          <a:stretch/>
        </p:blipFill>
        <p:spPr>
          <a:xfrm>
            <a:off x="793800" y="6010050"/>
            <a:ext cx="2620426" cy="1513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168" name="Shape 168"/>
        <p:cNvGrpSpPr/>
        <p:nvPr/>
      </p:nvGrpSpPr>
      <p:grpSpPr>
        <a:xfrm>
          <a:off x="0" y="0"/>
          <a:ext cx="0" cy="0"/>
          <a:chOff x="0" y="0"/>
          <a:chExt cx="0" cy="0"/>
        </a:xfrm>
      </p:grpSpPr>
      <p:sp>
        <p:nvSpPr>
          <p:cNvPr id="169" name="Google Shape;169;p43"/>
          <p:cNvSpPr/>
          <p:nvPr/>
        </p:nvSpPr>
        <p:spPr>
          <a:xfrm>
            <a:off x="497900" y="2720400"/>
            <a:ext cx="4364400" cy="64365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av</a:t>
            </a:r>
            <a:endParaRPr/>
          </a:p>
        </p:txBody>
      </p:sp>
      <p:sp>
        <p:nvSpPr>
          <p:cNvPr id="170" name="Google Shape;170;p43"/>
          <p:cNvSpPr/>
          <p:nvPr/>
        </p:nvSpPr>
        <p:spPr>
          <a:xfrm>
            <a:off x="5133000" y="2720400"/>
            <a:ext cx="4364400" cy="64365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av</a:t>
            </a:r>
            <a:endParaRPr/>
          </a:p>
        </p:txBody>
      </p:sp>
      <p:sp>
        <p:nvSpPr>
          <p:cNvPr id="171" name="Google Shape;171;p43"/>
          <p:cNvSpPr/>
          <p:nvPr/>
        </p:nvSpPr>
        <p:spPr>
          <a:xfrm>
            <a:off x="9812400" y="2720400"/>
            <a:ext cx="4364400" cy="64365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av</a:t>
            </a:r>
            <a:endParaRPr/>
          </a:p>
        </p:txBody>
      </p:sp>
      <p:sp>
        <p:nvSpPr>
          <p:cNvPr id="172" name="Google Shape;172;p43"/>
          <p:cNvSpPr/>
          <p:nvPr/>
        </p:nvSpPr>
        <p:spPr>
          <a:xfrm>
            <a:off x="999775" y="3920250"/>
            <a:ext cx="3660900" cy="6204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b="0" i="0" lang="en-US" sz="2450" u="none" cap="none" strike="noStrike">
                <a:solidFill>
                  <a:srgbClr val="FEFEFE"/>
                </a:solidFill>
                <a:latin typeface="Funnel Display"/>
                <a:ea typeface="Funnel Display"/>
                <a:cs typeface="Funnel Display"/>
                <a:sym typeface="Funnel Display"/>
              </a:rPr>
              <a:t>Digital Authority &amp;</a:t>
            </a:r>
            <a:br>
              <a:rPr lang="en-US" sz="2450">
                <a:solidFill>
                  <a:srgbClr val="FEFEFE"/>
                </a:solidFill>
                <a:latin typeface="Funnel Display"/>
                <a:ea typeface="Funnel Display"/>
                <a:cs typeface="Funnel Display"/>
                <a:sym typeface="Funnel Display"/>
              </a:rPr>
            </a:br>
            <a:r>
              <a:rPr b="0" i="0" lang="en-US" sz="2450" u="none" cap="none" strike="noStrike">
                <a:solidFill>
                  <a:srgbClr val="FEFEFE"/>
                </a:solidFill>
                <a:latin typeface="Funnel Display"/>
                <a:ea typeface="Funnel Display"/>
                <a:cs typeface="Funnel Display"/>
                <a:sym typeface="Funnel Display"/>
              </a:rPr>
              <a:t>Brand Strategy</a:t>
            </a:r>
            <a:endParaRPr b="0" i="0" sz="2450" u="none" cap="none" strike="noStrike"/>
          </a:p>
        </p:txBody>
      </p:sp>
      <p:sp>
        <p:nvSpPr>
          <p:cNvPr id="173" name="Google Shape;173;p43"/>
          <p:cNvSpPr/>
          <p:nvPr/>
        </p:nvSpPr>
        <p:spPr>
          <a:xfrm>
            <a:off x="999775" y="4913250"/>
            <a:ext cx="3331500" cy="1605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EFEFE"/>
              </a:buClr>
              <a:buSzPts val="1550"/>
              <a:buFont typeface="Rethink Sans"/>
              <a:buNone/>
            </a:pPr>
            <a:r>
              <a:rPr b="0" i="0" lang="en-US" sz="1800" u="none" cap="none" strike="noStrike">
                <a:solidFill>
                  <a:srgbClr val="FEFEFE"/>
                </a:solidFill>
                <a:latin typeface="Rethink Sans"/>
                <a:ea typeface="Rethink Sans"/>
                <a:cs typeface="Rethink Sans"/>
                <a:sym typeface="Rethink Sans"/>
              </a:rPr>
              <a:t>At TBS Digital Labs, we specialize in building unshakeable digital authority. We craft strategic narratives and compelling visuals</a:t>
            </a:r>
            <a:r>
              <a:rPr lang="en-US" sz="1800">
                <a:solidFill>
                  <a:srgbClr val="FEFEFE"/>
                </a:solidFill>
                <a:latin typeface="Rethink Sans"/>
                <a:ea typeface="Rethink Sans"/>
                <a:cs typeface="Rethink Sans"/>
                <a:sym typeface="Rethink Sans"/>
              </a:rPr>
              <a:t>.</a:t>
            </a:r>
            <a:endParaRPr b="0" i="0" sz="1800" u="none" cap="none" strike="noStrike"/>
          </a:p>
        </p:txBody>
      </p:sp>
      <p:sp>
        <p:nvSpPr>
          <p:cNvPr id="174" name="Google Shape;174;p43"/>
          <p:cNvSpPr/>
          <p:nvPr/>
        </p:nvSpPr>
        <p:spPr>
          <a:xfrm>
            <a:off x="5581963" y="3920250"/>
            <a:ext cx="3660900" cy="3102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b="0" i="0" lang="en-US" sz="2450" u="none" cap="none" strike="noStrike">
                <a:solidFill>
                  <a:srgbClr val="FEFEFE"/>
                </a:solidFill>
                <a:latin typeface="Funnel Display"/>
                <a:ea typeface="Funnel Display"/>
                <a:cs typeface="Funnel Display"/>
                <a:sym typeface="Funnel Display"/>
              </a:rPr>
              <a:t>Impactful Digital Solutions</a:t>
            </a:r>
            <a:endParaRPr b="0" i="0" sz="2450" u="none" cap="none" strike="noStrike"/>
          </a:p>
        </p:txBody>
      </p:sp>
      <p:sp>
        <p:nvSpPr>
          <p:cNvPr id="175" name="Google Shape;175;p43"/>
          <p:cNvSpPr/>
          <p:nvPr/>
        </p:nvSpPr>
        <p:spPr>
          <a:xfrm>
            <a:off x="5626563" y="4913251"/>
            <a:ext cx="3331500" cy="1605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EFEFE"/>
              </a:buClr>
              <a:buSzPts val="1550"/>
              <a:buFont typeface="Rethink Sans"/>
              <a:buNone/>
            </a:pPr>
            <a:r>
              <a:rPr b="0" i="0" lang="en-US" sz="1800" u="none" cap="none" strike="noStrike">
                <a:solidFill>
                  <a:srgbClr val="FEFEFE"/>
                </a:solidFill>
                <a:latin typeface="Rethink Sans"/>
                <a:ea typeface="Rethink Sans"/>
                <a:cs typeface="Rethink Sans"/>
                <a:sym typeface="Rethink Sans"/>
              </a:rPr>
              <a:t>Leveraging cutting-edge technologies and user-centric design, TBS Digital Labs develops high-performing digital experiences</a:t>
            </a:r>
            <a:r>
              <a:rPr lang="en-US" sz="1800">
                <a:solidFill>
                  <a:srgbClr val="FEFEFE"/>
                </a:solidFill>
                <a:latin typeface="Rethink Sans"/>
                <a:ea typeface="Rethink Sans"/>
                <a:cs typeface="Rethink Sans"/>
                <a:sym typeface="Rethink Sans"/>
              </a:rPr>
              <a:t>.</a:t>
            </a:r>
            <a:endParaRPr b="0" i="0" sz="1800" u="none" cap="none" strike="noStrike"/>
          </a:p>
        </p:txBody>
      </p:sp>
      <p:sp>
        <p:nvSpPr>
          <p:cNvPr id="176" name="Google Shape;176;p43"/>
          <p:cNvSpPr/>
          <p:nvPr/>
        </p:nvSpPr>
        <p:spPr>
          <a:xfrm>
            <a:off x="10164150" y="3920250"/>
            <a:ext cx="3660900" cy="3102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b="0" i="0" lang="en-US" sz="2450" u="none" cap="none" strike="noStrike">
                <a:solidFill>
                  <a:srgbClr val="FEFEFE"/>
                </a:solidFill>
                <a:latin typeface="Funnel Display"/>
                <a:ea typeface="Funnel Display"/>
                <a:cs typeface="Funnel Display"/>
                <a:sym typeface="Funnel Display"/>
              </a:rPr>
              <a:t>Amplified Marketing</a:t>
            </a:r>
            <a:br>
              <a:rPr lang="en-US" sz="2450">
                <a:solidFill>
                  <a:srgbClr val="FEFEFE"/>
                </a:solidFill>
                <a:latin typeface="Funnel Display"/>
                <a:ea typeface="Funnel Display"/>
                <a:cs typeface="Funnel Display"/>
                <a:sym typeface="Funnel Display"/>
              </a:rPr>
            </a:br>
            <a:r>
              <a:rPr b="0" i="0" lang="en-US" sz="2450" u="none" cap="none" strike="noStrike">
                <a:solidFill>
                  <a:srgbClr val="FEFEFE"/>
                </a:solidFill>
                <a:latin typeface="Funnel Display"/>
                <a:ea typeface="Funnel Display"/>
                <a:cs typeface="Funnel Display"/>
                <a:sym typeface="Funnel Display"/>
              </a:rPr>
              <a:t>&amp; Outreach</a:t>
            </a:r>
            <a:endParaRPr b="0" i="0" sz="2450" u="none" cap="none" strike="noStrike"/>
          </a:p>
        </p:txBody>
      </p:sp>
      <p:sp>
        <p:nvSpPr>
          <p:cNvPr id="177" name="Google Shape;177;p43"/>
          <p:cNvSpPr/>
          <p:nvPr/>
        </p:nvSpPr>
        <p:spPr>
          <a:xfrm>
            <a:off x="10253326" y="4913251"/>
            <a:ext cx="3331500" cy="1605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EFEFE"/>
              </a:buClr>
              <a:buSzPts val="1550"/>
              <a:buFont typeface="Rethink Sans"/>
              <a:buNone/>
            </a:pPr>
            <a:r>
              <a:rPr b="0" i="0" lang="en-US" sz="1800" u="none" cap="none" strike="noStrike">
                <a:solidFill>
                  <a:srgbClr val="FEFEFE"/>
                </a:solidFill>
                <a:latin typeface="Rethink Sans"/>
                <a:ea typeface="Rethink Sans"/>
                <a:cs typeface="Rethink Sans"/>
                <a:sym typeface="Rethink Sans"/>
              </a:rPr>
              <a:t>We design and execute data-driven marketing strategies that amplify your message and achieve measurable business goals.</a:t>
            </a:r>
            <a:endParaRPr b="0" i="0" sz="1800" u="none" cap="none" strike="noStrike"/>
          </a:p>
        </p:txBody>
      </p:sp>
      <p:sp>
        <p:nvSpPr>
          <p:cNvPr id="178" name="Google Shape;178;p43"/>
          <p:cNvSpPr/>
          <p:nvPr/>
        </p:nvSpPr>
        <p:spPr>
          <a:xfrm>
            <a:off x="793790" y="766492"/>
            <a:ext cx="4961700" cy="6201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What We </a:t>
            </a:r>
            <a:r>
              <a:rPr lang="en-US" sz="3900">
                <a:solidFill>
                  <a:srgbClr val="61BDBA"/>
                </a:solidFill>
                <a:latin typeface="Funnel Display"/>
                <a:ea typeface="Funnel Display"/>
                <a:cs typeface="Funnel Display"/>
                <a:sym typeface="Funnel Display"/>
              </a:rPr>
              <a:t>Do</a:t>
            </a:r>
            <a:endParaRPr b="0" i="0" sz="3900" u="none" cap="none" strike="noStrike">
              <a:solidFill>
                <a:srgbClr val="61BDBA"/>
              </a:solidFill>
            </a:endParaRPr>
          </a:p>
        </p:txBody>
      </p:sp>
      <p:pic>
        <p:nvPicPr>
          <p:cNvPr id="179" name="Google Shape;179;p43"/>
          <p:cNvPicPr preferRelativeResize="0"/>
          <p:nvPr/>
        </p:nvPicPr>
        <p:blipFill>
          <a:blip r:embed="rId3">
            <a:alphaModFix/>
          </a:blip>
          <a:stretch>
            <a:fillRect/>
          </a:stretch>
        </p:blipFill>
        <p:spPr>
          <a:xfrm>
            <a:off x="999776" y="3204174"/>
            <a:ext cx="425800" cy="418325"/>
          </a:xfrm>
          <a:prstGeom prst="rect">
            <a:avLst/>
          </a:prstGeom>
          <a:noFill/>
          <a:ln>
            <a:noFill/>
          </a:ln>
        </p:spPr>
      </p:pic>
      <p:pic>
        <p:nvPicPr>
          <p:cNvPr id="180" name="Google Shape;180;p43"/>
          <p:cNvPicPr preferRelativeResize="0"/>
          <p:nvPr/>
        </p:nvPicPr>
        <p:blipFill>
          <a:blip r:embed="rId4">
            <a:alphaModFix/>
          </a:blip>
          <a:stretch>
            <a:fillRect/>
          </a:stretch>
        </p:blipFill>
        <p:spPr>
          <a:xfrm>
            <a:off x="10164162" y="3194050"/>
            <a:ext cx="462075" cy="438575"/>
          </a:xfrm>
          <a:prstGeom prst="rect">
            <a:avLst/>
          </a:prstGeom>
          <a:noFill/>
          <a:ln>
            <a:noFill/>
          </a:ln>
        </p:spPr>
      </p:pic>
      <p:pic>
        <p:nvPicPr>
          <p:cNvPr id="181" name="Google Shape;181;p43"/>
          <p:cNvPicPr preferRelativeResize="0"/>
          <p:nvPr/>
        </p:nvPicPr>
        <p:blipFill>
          <a:blip r:embed="rId5">
            <a:alphaModFix/>
          </a:blip>
          <a:stretch>
            <a:fillRect/>
          </a:stretch>
        </p:blipFill>
        <p:spPr>
          <a:xfrm>
            <a:off x="5581963" y="3186937"/>
            <a:ext cx="494124" cy="452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4"/>
          <p:cNvSpPr/>
          <p:nvPr/>
        </p:nvSpPr>
        <p:spPr>
          <a:xfrm>
            <a:off x="1443983" y="2793025"/>
            <a:ext cx="47967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Authority Building Strategy</a:t>
            </a:r>
            <a:endParaRPr b="0" i="0" sz="2450" u="none" cap="none" strike="noStrike"/>
          </a:p>
        </p:txBody>
      </p:sp>
      <p:sp>
        <p:nvSpPr>
          <p:cNvPr id="188" name="Google Shape;188;p44"/>
          <p:cNvSpPr/>
          <p:nvPr/>
        </p:nvSpPr>
        <p:spPr>
          <a:xfrm>
            <a:off x="985250" y="3440668"/>
            <a:ext cx="5623200" cy="151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500"/>
              </a:spcBef>
              <a:spcAft>
                <a:spcPts val="500"/>
              </a:spcAft>
              <a:buNone/>
            </a:pPr>
            <a:r>
              <a:rPr lang="en-US" sz="1800">
                <a:solidFill>
                  <a:srgbClr val="FEFEFE"/>
                </a:solidFill>
                <a:latin typeface="Rethink Sans"/>
                <a:ea typeface="Rethink Sans"/>
                <a:cs typeface="Rethink Sans"/>
                <a:sym typeface="Rethink Sans"/>
              </a:rPr>
              <a:t>Comprehensive analysis of your current digital footprint to identify authority gaps</a:t>
            </a:r>
            <a:endParaRPr sz="1800">
              <a:solidFill>
                <a:srgbClr val="FEFEFE"/>
              </a:solidFill>
              <a:latin typeface="Rethink Sans"/>
              <a:ea typeface="Rethink Sans"/>
              <a:cs typeface="Rethink Sans"/>
              <a:sym typeface="Rethink Sans"/>
            </a:endParaRPr>
          </a:p>
        </p:txBody>
      </p:sp>
      <p:sp>
        <p:nvSpPr>
          <p:cNvPr id="189" name="Google Shape;189;p44"/>
          <p:cNvSpPr/>
          <p:nvPr/>
        </p:nvSpPr>
        <p:spPr>
          <a:xfrm>
            <a:off x="7956976" y="2793025"/>
            <a:ext cx="56232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Digital Transformation &amp; Experience</a:t>
            </a:r>
            <a:endParaRPr b="0" i="0" sz="2450" u="none" cap="none" strike="noStrike"/>
          </a:p>
        </p:txBody>
      </p:sp>
      <p:sp>
        <p:nvSpPr>
          <p:cNvPr id="190" name="Google Shape;190;p44"/>
          <p:cNvSpPr/>
          <p:nvPr/>
        </p:nvSpPr>
        <p:spPr>
          <a:xfrm>
            <a:off x="7498273" y="3440650"/>
            <a:ext cx="5623200" cy="151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500"/>
              </a:spcBef>
              <a:spcAft>
                <a:spcPts val="500"/>
              </a:spcAft>
              <a:buNone/>
            </a:pPr>
            <a:r>
              <a:rPr lang="en-US" sz="1800">
                <a:solidFill>
                  <a:srgbClr val="FEFEFE"/>
                </a:solidFill>
                <a:latin typeface="Rethink Sans"/>
                <a:ea typeface="Rethink Sans"/>
                <a:cs typeface="Rethink Sans"/>
                <a:sym typeface="Rethink Sans"/>
              </a:rPr>
              <a:t>Building scalable, high-performance websites and digital solutions tailored to your goals.</a:t>
            </a:r>
            <a:endParaRPr sz="1800">
              <a:solidFill>
                <a:srgbClr val="FEFEFE"/>
              </a:solidFill>
              <a:latin typeface="Rethink Sans"/>
              <a:ea typeface="Rethink Sans"/>
              <a:cs typeface="Rethink Sans"/>
              <a:sym typeface="Rethink Sans"/>
            </a:endParaRPr>
          </a:p>
        </p:txBody>
      </p:sp>
      <p:sp>
        <p:nvSpPr>
          <p:cNvPr id="191" name="Google Shape;191;p44"/>
          <p:cNvSpPr/>
          <p:nvPr/>
        </p:nvSpPr>
        <p:spPr>
          <a:xfrm>
            <a:off x="1443974" y="5157400"/>
            <a:ext cx="56232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Content Amplification &amp; Engagement</a:t>
            </a:r>
            <a:endParaRPr b="0" i="0" sz="2450" u="none" cap="none" strike="noStrike"/>
          </a:p>
        </p:txBody>
      </p:sp>
      <p:sp>
        <p:nvSpPr>
          <p:cNvPr id="192" name="Google Shape;192;p44"/>
          <p:cNvSpPr/>
          <p:nvPr/>
        </p:nvSpPr>
        <p:spPr>
          <a:xfrm>
            <a:off x="985250" y="5842763"/>
            <a:ext cx="5623200" cy="151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500"/>
              </a:spcBef>
              <a:spcAft>
                <a:spcPts val="500"/>
              </a:spcAft>
              <a:buNone/>
            </a:pPr>
            <a:r>
              <a:rPr lang="en-US" sz="1800">
                <a:solidFill>
                  <a:srgbClr val="FEFEFE"/>
                </a:solidFill>
                <a:latin typeface="Rethink Sans"/>
                <a:ea typeface="Rethink Sans"/>
                <a:cs typeface="Rethink Sans"/>
                <a:sym typeface="Rethink Sans"/>
              </a:rPr>
              <a:t>Producing high-value content (articles, videos, podcasts) that establishes expertise and engages your audience.</a:t>
            </a:r>
            <a:endParaRPr sz="1800">
              <a:solidFill>
                <a:srgbClr val="FEFEFE"/>
              </a:solidFill>
              <a:latin typeface="Rethink Sans"/>
              <a:ea typeface="Rethink Sans"/>
              <a:cs typeface="Rethink Sans"/>
              <a:sym typeface="Rethink Sans"/>
            </a:endParaRPr>
          </a:p>
        </p:txBody>
      </p:sp>
      <p:sp>
        <p:nvSpPr>
          <p:cNvPr id="193" name="Google Shape;193;p44"/>
          <p:cNvSpPr/>
          <p:nvPr/>
        </p:nvSpPr>
        <p:spPr>
          <a:xfrm>
            <a:off x="7956976" y="5157400"/>
            <a:ext cx="56232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Performance Analytics &amp; Optimization</a:t>
            </a:r>
            <a:endParaRPr b="0" i="0" sz="2450" u="none" cap="none" strike="noStrike"/>
          </a:p>
        </p:txBody>
      </p:sp>
      <p:sp>
        <p:nvSpPr>
          <p:cNvPr id="194" name="Google Shape;194;p44"/>
          <p:cNvSpPr/>
          <p:nvPr/>
        </p:nvSpPr>
        <p:spPr>
          <a:xfrm>
            <a:off x="7498273" y="5842763"/>
            <a:ext cx="5623200" cy="151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500"/>
              </a:spcBef>
              <a:spcAft>
                <a:spcPts val="500"/>
              </a:spcAft>
              <a:buNone/>
            </a:pPr>
            <a:r>
              <a:rPr lang="en-US" sz="1800">
                <a:solidFill>
                  <a:srgbClr val="FEFEFE"/>
                </a:solidFill>
                <a:latin typeface="Rethink Sans"/>
                <a:ea typeface="Rethink Sans"/>
                <a:cs typeface="Rethink Sans"/>
                <a:sym typeface="Rethink Sans"/>
              </a:rPr>
              <a:t>Leveraging advanced analytics to understand user behavior and measure the effectiveness of your digital initiatives.</a:t>
            </a:r>
            <a:endParaRPr sz="1800">
              <a:solidFill>
                <a:srgbClr val="FEFEFE"/>
              </a:solidFill>
              <a:latin typeface="Rethink Sans"/>
              <a:ea typeface="Rethink Sans"/>
              <a:cs typeface="Rethink Sans"/>
              <a:sym typeface="Rethink Sans"/>
            </a:endParaRPr>
          </a:p>
        </p:txBody>
      </p:sp>
      <p:sp>
        <p:nvSpPr>
          <p:cNvPr id="195" name="Google Shape;195;p44"/>
          <p:cNvSpPr/>
          <p:nvPr/>
        </p:nvSpPr>
        <p:spPr>
          <a:xfrm>
            <a:off x="793805" y="766500"/>
            <a:ext cx="7198800" cy="6201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Our Core Service </a:t>
            </a:r>
            <a:r>
              <a:rPr lang="en-US" sz="3900">
                <a:solidFill>
                  <a:srgbClr val="61BDBA"/>
                </a:solidFill>
                <a:latin typeface="Funnel Display"/>
                <a:ea typeface="Funnel Display"/>
                <a:cs typeface="Funnel Display"/>
                <a:sym typeface="Funnel Display"/>
              </a:rPr>
              <a:t>Pillars</a:t>
            </a:r>
            <a:endParaRPr b="0" i="0" sz="3900" u="none" cap="none" strike="noStrike">
              <a:solidFill>
                <a:srgbClr val="61BDBA"/>
              </a:solidFill>
            </a:endParaRPr>
          </a:p>
        </p:txBody>
      </p:sp>
      <p:pic>
        <p:nvPicPr>
          <p:cNvPr id="196" name="Google Shape;196;p44"/>
          <p:cNvPicPr preferRelativeResize="0"/>
          <p:nvPr/>
        </p:nvPicPr>
        <p:blipFill>
          <a:blip r:embed="rId3">
            <a:alphaModFix/>
          </a:blip>
          <a:stretch>
            <a:fillRect/>
          </a:stretch>
        </p:blipFill>
        <p:spPr>
          <a:xfrm>
            <a:off x="985250" y="2816962"/>
            <a:ext cx="264900" cy="264900"/>
          </a:xfrm>
          <a:prstGeom prst="rect">
            <a:avLst/>
          </a:prstGeom>
          <a:noFill/>
          <a:ln>
            <a:noFill/>
          </a:ln>
        </p:spPr>
      </p:pic>
      <p:pic>
        <p:nvPicPr>
          <p:cNvPr id="197" name="Google Shape;197;p44"/>
          <p:cNvPicPr preferRelativeResize="0"/>
          <p:nvPr/>
        </p:nvPicPr>
        <p:blipFill>
          <a:blip r:embed="rId3">
            <a:alphaModFix/>
          </a:blip>
          <a:stretch>
            <a:fillRect/>
          </a:stretch>
        </p:blipFill>
        <p:spPr>
          <a:xfrm>
            <a:off x="7498275" y="2816962"/>
            <a:ext cx="264900" cy="264900"/>
          </a:xfrm>
          <a:prstGeom prst="rect">
            <a:avLst/>
          </a:prstGeom>
          <a:noFill/>
          <a:ln>
            <a:noFill/>
          </a:ln>
        </p:spPr>
      </p:pic>
      <p:pic>
        <p:nvPicPr>
          <p:cNvPr id="198" name="Google Shape;198;p44"/>
          <p:cNvPicPr preferRelativeResize="0"/>
          <p:nvPr/>
        </p:nvPicPr>
        <p:blipFill>
          <a:blip r:embed="rId3">
            <a:alphaModFix/>
          </a:blip>
          <a:stretch>
            <a:fillRect/>
          </a:stretch>
        </p:blipFill>
        <p:spPr>
          <a:xfrm>
            <a:off x="7498275" y="5156662"/>
            <a:ext cx="264900" cy="264900"/>
          </a:xfrm>
          <a:prstGeom prst="rect">
            <a:avLst/>
          </a:prstGeom>
          <a:noFill/>
          <a:ln>
            <a:noFill/>
          </a:ln>
        </p:spPr>
      </p:pic>
      <p:pic>
        <p:nvPicPr>
          <p:cNvPr id="199" name="Google Shape;199;p44"/>
          <p:cNvPicPr preferRelativeResize="0"/>
          <p:nvPr/>
        </p:nvPicPr>
        <p:blipFill>
          <a:blip r:embed="rId3">
            <a:alphaModFix/>
          </a:blip>
          <a:stretch>
            <a:fillRect/>
          </a:stretch>
        </p:blipFill>
        <p:spPr>
          <a:xfrm>
            <a:off x="985250" y="5156662"/>
            <a:ext cx="264900" cy="264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04" name="Shape 204"/>
        <p:cNvGrpSpPr/>
        <p:nvPr/>
      </p:nvGrpSpPr>
      <p:grpSpPr>
        <a:xfrm>
          <a:off x="0" y="0"/>
          <a:ext cx="0" cy="0"/>
          <a:chOff x="0" y="0"/>
          <a:chExt cx="0" cy="0"/>
        </a:xfrm>
      </p:grpSpPr>
      <p:pic>
        <p:nvPicPr>
          <p:cNvPr id="205" name="Google Shape;205;p45"/>
          <p:cNvPicPr preferRelativeResize="0"/>
          <p:nvPr/>
        </p:nvPicPr>
        <p:blipFill>
          <a:blip r:embed="rId3">
            <a:alphaModFix/>
          </a:blip>
          <a:stretch>
            <a:fillRect/>
          </a:stretch>
        </p:blipFill>
        <p:spPr>
          <a:xfrm>
            <a:off x="-2578026" y="-2775489"/>
            <a:ext cx="9351100" cy="9355674"/>
          </a:xfrm>
          <a:prstGeom prst="rect">
            <a:avLst/>
          </a:prstGeom>
          <a:noFill/>
          <a:ln>
            <a:noFill/>
          </a:ln>
        </p:spPr>
      </p:pic>
      <p:sp>
        <p:nvSpPr>
          <p:cNvPr id="206" name="Google Shape;206;p45"/>
          <p:cNvSpPr/>
          <p:nvPr/>
        </p:nvSpPr>
        <p:spPr>
          <a:xfrm>
            <a:off x="7143760" y="2402925"/>
            <a:ext cx="65016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Authority Building Strategy</a:t>
            </a:r>
            <a:endParaRPr b="0" i="0" sz="2450" u="none" cap="none" strike="noStrike"/>
          </a:p>
        </p:txBody>
      </p:sp>
      <p:sp>
        <p:nvSpPr>
          <p:cNvPr id="207" name="Google Shape;207;p45"/>
          <p:cNvSpPr/>
          <p:nvPr/>
        </p:nvSpPr>
        <p:spPr>
          <a:xfrm>
            <a:off x="7143750" y="3135625"/>
            <a:ext cx="6501600" cy="14568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500"/>
              </a:spcBef>
              <a:spcAft>
                <a:spcPts val="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Digital Presence Audits: </a:t>
            </a:r>
            <a:r>
              <a:rPr lang="en-US" sz="1800">
                <a:solidFill>
                  <a:srgbClr val="FEFEFE"/>
                </a:solidFill>
                <a:latin typeface="Rethink Sans"/>
                <a:ea typeface="Rethink Sans"/>
                <a:cs typeface="Rethink Sans"/>
                <a:sym typeface="Rethink Sans"/>
              </a:rPr>
              <a:t>Comprehensive analysis of your current digital footprint to identify authority gaps.</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500"/>
              </a:spcBef>
              <a:spcAft>
                <a:spcPts val="50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Thought Leadership Frameworks: </a:t>
            </a:r>
            <a:r>
              <a:rPr lang="en-US" sz="1800">
                <a:solidFill>
                  <a:srgbClr val="FEFEFE"/>
                </a:solidFill>
                <a:latin typeface="Rethink Sans"/>
                <a:ea typeface="Rethink Sans"/>
                <a:cs typeface="Rethink Sans"/>
                <a:sym typeface="Rethink Sans"/>
              </a:rPr>
              <a:t>Developing strategies to position you as an industry expert through content.</a:t>
            </a:r>
            <a:endParaRPr sz="1800">
              <a:solidFill>
                <a:srgbClr val="FEFEFE"/>
              </a:solidFill>
              <a:latin typeface="Rethink Sans"/>
              <a:ea typeface="Rethink Sans"/>
              <a:cs typeface="Rethink Sans"/>
              <a:sym typeface="Rethink Sans"/>
            </a:endParaRPr>
          </a:p>
        </p:txBody>
      </p:sp>
      <p:sp>
        <p:nvSpPr>
          <p:cNvPr id="208" name="Google Shape;208;p45"/>
          <p:cNvSpPr/>
          <p:nvPr/>
        </p:nvSpPr>
        <p:spPr>
          <a:xfrm>
            <a:off x="7143755" y="5246400"/>
            <a:ext cx="65016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Content Amplification &amp; Engagement</a:t>
            </a:r>
            <a:endParaRPr b="0" i="0" sz="2450" u="none" cap="none" strike="noStrike"/>
          </a:p>
        </p:txBody>
      </p:sp>
      <p:sp>
        <p:nvSpPr>
          <p:cNvPr id="209" name="Google Shape;209;p45"/>
          <p:cNvSpPr/>
          <p:nvPr/>
        </p:nvSpPr>
        <p:spPr>
          <a:xfrm>
            <a:off x="7143750" y="5979000"/>
            <a:ext cx="6501600" cy="14568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500"/>
              </a:spcBef>
              <a:spcAft>
                <a:spcPts val="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Strategic Content Creation: </a:t>
            </a:r>
            <a:r>
              <a:rPr lang="en-US" sz="1800">
                <a:solidFill>
                  <a:srgbClr val="FEFEFE"/>
                </a:solidFill>
                <a:latin typeface="Rethink Sans"/>
                <a:ea typeface="Rethink Sans"/>
                <a:cs typeface="Rethink Sans"/>
                <a:sym typeface="Rethink Sans"/>
              </a:rPr>
              <a:t>Producing high-value content (articles, videos, podcasts) that establishes expertise.</a:t>
            </a:r>
            <a:endParaRPr b="1" sz="1800">
              <a:solidFill>
                <a:srgbClr val="FEFEFE"/>
              </a:solidFill>
              <a:latin typeface="Rethink Sans"/>
              <a:ea typeface="Rethink Sans"/>
              <a:cs typeface="Rethink Sans"/>
              <a:sym typeface="Rethink Sans"/>
            </a:endParaRPr>
          </a:p>
          <a:p>
            <a:pPr indent="-342900" lvl="0" marL="457200" marR="0" rtl="0" algn="l">
              <a:lnSpc>
                <a:spcPct val="130000"/>
              </a:lnSpc>
              <a:spcBef>
                <a:spcPts val="500"/>
              </a:spcBef>
              <a:spcAft>
                <a:spcPts val="50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Multi-Channel Distribution: </a:t>
            </a:r>
            <a:r>
              <a:rPr lang="en-US" sz="1800">
                <a:solidFill>
                  <a:srgbClr val="FEFEFE"/>
                </a:solidFill>
                <a:latin typeface="Rethink Sans"/>
                <a:ea typeface="Rethink Sans"/>
                <a:cs typeface="Rethink Sans"/>
                <a:sym typeface="Rethink Sans"/>
              </a:rPr>
              <a:t>Maximizing reach and impact across relevant digital platforms and social media.</a:t>
            </a:r>
            <a:endParaRPr sz="1800">
              <a:solidFill>
                <a:srgbClr val="FEFEFE"/>
              </a:solidFill>
              <a:latin typeface="Rethink Sans"/>
              <a:ea typeface="Rethink Sans"/>
              <a:cs typeface="Rethink Sans"/>
              <a:sym typeface="Rethink Sans"/>
            </a:endParaRPr>
          </a:p>
        </p:txBody>
      </p:sp>
      <p:sp>
        <p:nvSpPr>
          <p:cNvPr id="210" name="Google Shape;210;p45"/>
          <p:cNvSpPr/>
          <p:nvPr/>
        </p:nvSpPr>
        <p:spPr>
          <a:xfrm>
            <a:off x="793800" y="6503100"/>
            <a:ext cx="3279000" cy="9327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Our Core</a:t>
            </a:r>
            <a:endParaRPr sz="3900">
              <a:solidFill>
                <a:srgbClr val="FEFEFE"/>
              </a:solidFill>
              <a:latin typeface="Funnel Display"/>
              <a:ea typeface="Funnel Display"/>
              <a:cs typeface="Funnel Display"/>
              <a:sym typeface="Funnel Display"/>
            </a:endParaRPr>
          </a:p>
          <a:p>
            <a:pPr indent="0" lvl="0" marL="0" marR="0" rtl="0" algn="l">
              <a:lnSpc>
                <a:spcPct val="85000"/>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Service </a:t>
            </a:r>
            <a:r>
              <a:rPr lang="en-US" sz="3900">
                <a:solidFill>
                  <a:srgbClr val="61BDBA"/>
                </a:solidFill>
                <a:latin typeface="Funnel Display"/>
                <a:ea typeface="Funnel Display"/>
                <a:cs typeface="Funnel Display"/>
                <a:sym typeface="Funnel Display"/>
              </a:rPr>
              <a:t>Pillars</a:t>
            </a:r>
            <a:endParaRPr b="0" i="0" sz="3900" u="none" cap="none" strike="noStrike">
              <a:solidFill>
                <a:srgbClr val="61BDB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15" name="Shape 215"/>
        <p:cNvGrpSpPr/>
        <p:nvPr/>
      </p:nvGrpSpPr>
      <p:grpSpPr>
        <a:xfrm>
          <a:off x="0" y="0"/>
          <a:ext cx="0" cy="0"/>
          <a:chOff x="0" y="0"/>
          <a:chExt cx="0" cy="0"/>
        </a:xfrm>
      </p:grpSpPr>
      <p:sp>
        <p:nvSpPr>
          <p:cNvPr id="216" name="Google Shape;216;p46"/>
          <p:cNvSpPr/>
          <p:nvPr/>
        </p:nvSpPr>
        <p:spPr>
          <a:xfrm>
            <a:off x="7143651" y="2402925"/>
            <a:ext cx="65016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Digital Transformation &amp; Experience</a:t>
            </a:r>
            <a:endParaRPr b="0" i="0" sz="2450" u="none" cap="none" strike="noStrike"/>
          </a:p>
        </p:txBody>
      </p:sp>
      <p:sp>
        <p:nvSpPr>
          <p:cNvPr id="217" name="Google Shape;217;p46"/>
          <p:cNvSpPr/>
          <p:nvPr/>
        </p:nvSpPr>
        <p:spPr>
          <a:xfrm>
            <a:off x="7143650" y="3173100"/>
            <a:ext cx="6501600" cy="14937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500"/>
              </a:spcBef>
              <a:spcAft>
                <a:spcPts val="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Custom Platform Development: </a:t>
            </a:r>
            <a:r>
              <a:rPr lang="en-US" sz="1800">
                <a:solidFill>
                  <a:srgbClr val="FEFEFE"/>
                </a:solidFill>
                <a:latin typeface="Rethink Sans"/>
                <a:ea typeface="Rethink Sans"/>
                <a:cs typeface="Rethink Sans"/>
                <a:sym typeface="Rethink Sans"/>
              </a:rPr>
              <a:t>Building scalable, high-performance websites and digital solutions.</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500"/>
              </a:spcBef>
              <a:spcAft>
                <a:spcPts val="50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User-Centric Design (UX/UI): </a:t>
            </a:r>
            <a:r>
              <a:rPr lang="en-US" sz="1800">
                <a:solidFill>
                  <a:srgbClr val="FEFEFE"/>
                </a:solidFill>
                <a:latin typeface="Rethink Sans"/>
                <a:ea typeface="Rethink Sans"/>
                <a:cs typeface="Rethink Sans"/>
                <a:sym typeface="Rethink Sans"/>
              </a:rPr>
              <a:t>Creating intuitive, engaging, and accessible digital experiences that drive action.</a:t>
            </a:r>
            <a:endParaRPr sz="1800">
              <a:solidFill>
                <a:srgbClr val="FEFEFE"/>
              </a:solidFill>
              <a:latin typeface="Rethink Sans"/>
              <a:ea typeface="Rethink Sans"/>
              <a:cs typeface="Rethink Sans"/>
              <a:sym typeface="Rethink Sans"/>
            </a:endParaRPr>
          </a:p>
        </p:txBody>
      </p:sp>
      <p:pic>
        <p:nvPicPr>
          <p:cNvPr id="218" name="Google Shape;218;p46"/>
          <p:cNvPicPr preferRelativeResize="0"/>
          <p:nvPr/>
        </p:nvPicPr>
        <p:blipFill>
          <a:blip r:embed="rId3">
            <a:alphaModFix/>
          </a:blip>
          <a:stretch>
            <a:fillRect/>
          </a:stretch>
        </p:blipFill>
        <p:spPr>
          <a:xfrm>
            <a:off x="-2578026" y="-2775489"/>
            <a:ext cx="9351100" cy="9355674"/>
          </a:xfrm>
          <a:prstGeom prst="rect">
            <a:avLst/>
          </a:prstGeom>
          <a:noFill/>
          <a:ln>
            <a:noFill/>
          </a:ln>
        </p:spPr>
      </p:pic>
      <p:sp>
        <p:nvSpPr>
          <p:cNvPr id="219" name="Google Shape;219;p46"/>
          <p:cNvSpPr/>
          <p:nvPr/>
        </p:nvSpPr>
        <p:spPr>
          <a:xfrm>
            <a:off x="7143651" y="5103972"/>
            <a:ext cx="6501600" cy="263400"/>
          </a:xfrm>
          <a:prstGeom prst="rect">
            <a:avLst/>
          </a:prstGeom>
          <a:noFill/>
          <a:ln>
            <a:noFill/>
          </a:ln>
        </p:spPr>
        <p:txBody>
          <a:bodyPr anchorCtr="0" anchor="ctr" bIns="0" lIns="0" spcFirstLastPara="1" rIns="0" wrap="square" tIns="0">
            <a:noAutofit/>
          </a:bodyPr>
          <a:lstStyle/>
          <a:p>
            <a:pPr indent="0" lvl="0" marL="0" marR="0" rtl="0" algn="l">
              <a:lnSpc>
                <a:spcPct val="124242"/>
              </a:lnSpc>
              <a:spcBef>
                <a:spcPts val="0"/>
              </a:spcBef>
              <a:spcAft>
                <a:spcPts val="0"/>
              </a:spcAft>
              <a:buClr>
                <a:srgbClr val="FEFEFE"/>
              </a:buClr>
              <a:buSzPts val="1650"/>
              <a:buFont typeface="Funnel Display"/>
              <a:buNone/>
            </a:pPr>
            <a:r>
              <a:rPr b="0" i="0" lang="en-US" sz="2450" u="none" cap="none" strike="noStrike">
                <a:solidFill>
                  <a:srgbClr val="FEFEFE"/>
                </a:solidFill>
                <a:latin typeface="Funnel Display"/>
                <a:ea typeface="Funnel Display"/>
                <a:cs typeface="Funnel Display"/>
                <a:sym typeface="Funnel Display"/>
              </a:rPr>
              <a:t>Performance Analytics &amp; Optimization</a:t>
            </a:r>
            <a:endParaRPr b="0" i="0" sz="2450" u="none" cap="none" strike="noStrike"/>
          </a:p>
        </p:txBody>
      </p:sp>
      <p:sp>
        <p:nvSpPr>
          <p:cNvPr id="220" name="Google Shape;220;p46"/>
          <p:cNvSpPr/>
          <p:nvPr/>
        </p:nvSpPr>
        <p:spPr>
          <a:xfrm>
            <a:off x="7143650" y="5872575"/>
            <a:ext cx="6501600" cy="14937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500"/>
              </a:spcBef>
              <a:spcAft>
                <a:spcPts val="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Data-Driven Insights: </a:t>
            </a:r>
            <a:r>
              <a:rPr lang="en-US" sz="1800">
                <a:solidFill>
                  <a:srgbClr val="FEFEFE"/>
                </a:solidFill>
                <a:latin typeface="Rethink Sans"/>
                <a:ea typeface="Rethink Sans"/>
                <a:cs typeface="Rethink Sans"/>
                <a:sym typeface="Rethink Sans"/>
              </a:rPr>
              <a:t>Leveraging advanced analytics to understand user behavior and measurement.</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500"/>
              </a:spcBef>
              <a:spcAft>
                <a:spcPts val="500"/>
              </a:spcAft>
              <a:buClr>
                <a:srgbClr val="FEFEFE"/>
              </a:buClr>
              <a:buSzPts val="1800"/>
              <a:buFont typeface="Rethink Sans"/>
              <a:buChar char="●"/>
            </a:pPr>
            <a:r>
              <a:rPr b="1" lang="en-US" sz="1800">
                <a:solidFill>
                  <a:srgbClr val="FEFEFE"/>
                </a:solidFill>
                <a:latin typeface="Rethink Sans"/>
                <a:ea typeface="Rethink Sans"/>
                <a:cs typeface="Rethink Sans"/>
                <a:sym typeface="Rethink Sans"/>
              </a:rPr>
              <a:t>Conversion Rate Optimization (CRO): </a:t>
            </a:r>
            <a:r>
              <a:rPr lang="en-US" sz="1800">
                <a:solidFill>
                  <a:srgbClr val="FEFEFE"/>
                </a:solidFill>
                <a:latin typeface="Rethink Sans"/>
                <a:ea typeface="Rethink Sans"/>
                <a:cs typeface="Rethink Sans"/>
                <a:sym typeface="Rethink Sans"/>
              </a:rPr>
              <a:t>Implementing A/B testing and iterative improvements.</a:t>
            </a:r>
            <a:endParaRPr sz="1800">
              <a:solidFill>
                <a:srgbClr val="FEFEFE"/>
              </a:solidFill>
              <a:latin typeface="Rethink Sans"/>
              <a:ea typeface="Rethink Sans"/>
              <a:cs typeface="Rethink Sans"/>
              <a:sym typeface="Rethink Sans"/>
            </a:endParaRPr>
          </a:p>
        </p:txBody>
      </p:sp>
      <p:sp>
        <p:nvSpPr>
          <p:cNvPr id="221" name="Google Shape;221;p46"/>
          <p:cNvSpPr/>
          <p:nvPr/>
        </p:nvSpPr>
        <p:spPr>
          <a:xfrm>
            <a:off x="793800" y="6503100"/>
            <a:ext cx="3279000" cy="9327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Our Core</a:t>
            </a:r>
            <a:endParaRPr sz="3900">
              <a:solidFill>
                <a:srgbClr val="FEFEFE"/>
              </a:solidFill>
              <a:latin typeface="Funnel Display"/>
              <a:ea typeface="Funnel Display"/>
              <a:cs typeface="Funnel Display"/>
              <a:sym typeface="Funnel Display"/>
            </a:endParaRPr>
          </a:p>
          <a:p>
            <a:pPr indent="0" lvl="0" marL="0" marR="0" rtl="0" algn="l">
              <a:lnSpc>
                <a:spcPct val="85000"/>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Service </a:t>
            </a:r>
            <a:r>
              <a:rPr lang="en-US" sz="3900">
                <a:solidFill>
                  <a:srgbClr val="D56EED"/>
                </a:solidFill>
                <a:latin typeface="Funnel Display"/>
                <a:ea typeface="Funnel Display"/>
                <a:cs typeface="Funnel Display"/>
                <a:sym typeface="Funnel Display"/>
              </a:rPr>
              <a:t>Pillars</a:t>
            </a:r>
            <a:endParaRPr b="0" i="0" sz="3900" u="none" cap="none" strike="noStrike">
              <a:solidFill>
                <a:srgbClr val="D56EED"/>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26" name="Shape 226"/>
        <p:cNvGrpSpPr/>
        <p:nvPr/>
      </p:nvGrpSpPr>
      <p:grpSpPr>
        <a:xfrm>
          <a:off x="0" y="0"/>
          <a:ext cx="0" cy="0"/>
          <a:chOff x="0" y="0"/>
          <a:chExt cx="0" cy="0"/>
        </a:xfrm>
      </p:grpSpPr>
      <p:sp>
        <p:nvSpPr>
          <p:cNvPr id="227" name="Google Shape;227;p47"/>
          <p:cNvSpPr/>
          <p:nvPr/>
        </p:nvSpPr>
        <p:spPr>
          <a:xfrm>
            <a:off x="-57850" y="1819950"/>
            <a:ext cx="7507800" cy="3109500"/>
          </a:xfrm>
          <a:prstGeom prst="rect">
            <a:avLst/>
          </a:prstGeom>
          <a:no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av</a:t>
            </a:r>
            <a:endParaRPr/>
          </a:p>
        </p:txBody>
      </p:sp>
      <p:sp>
        <p:nvSpPr>
          <p:cNvPr id="228" name="Google Shape;228;p47"/>
          <p:cNvSpPr/>
          <p:nvPr/>
        </p:nvSpPr>
        <p:spPr>
          <a:xfrm>
            <a:off x="727697" y="645200"/>
            <a:ext cx="75078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b="0" i="0" lang="en-US" sz="3900" u="none" cap="none" strike="noStrike">
                <a:solidFill>
                  <a:srgbClr val="FEFEFE"/>
                </a:solidFill>
                <a:latin typeface="Funnel Display"/>
                <a:ea typeface="Funnel Display"/>
                <a:cs typeface="Funnel Display"/>
                <a:sym typeface="Funnel Display"/>
              </a:rPr>
              <a:t>Deep Dive: </a:t>
            </a:r>
            <a:r>
              <a:rPr b="0" i="0" lang="en-US" sz="3900" u="none" cap="none" strike="noStrike">
                <a:solidFill>
                  <a:srgbClr val="61BDBA"/>
                </a:solidFill>
                <a:latin typeface="Funnel Display"/>
                <a:ea typeface="Funnel Display"/>
                <a:cs typeface="Funnel Display"/>
                <a:sym typeface="Funnel Display"/>
              </a:rPr>
              <a:t>Brand Strategy</a:t>
            </a:r>
            <a:endParaRPr b="0" i="0" sz="3900" u="none" cap="none" strike="noStrike">
              <a:solidFill>
                <a:srgbClr val="61BDBA"/>
              </a:solidFill>
            </a:endParaRPr>
          </a:p>
        </p:txBody>
      </p:sp>
      <p:sp>
        <p:nvSpPr>
          <p:cNvPr id="229" name="Google Shape;229;p47"/>
          <p:cNvSpPr/>
          <p:nvPr/>
        </p:nvSpPr>
        <p:spPr>
          <a:xfrm>
            <a:off x="727700" y="2493300"/>
            <a:ext cx="6283200" cy="1762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1" i="0" lang="en-US" sz="1800" u="none" cap="none" strike="noStrike">
                <a:solidFill>
                  <a:srgbClr val="61BDBA"/>
                </a:solidFill>
                <a:latin typeface="Rethink Sans"/>
                <a:ea typeface="Rethink Sans"/>
                <a:cs typeface="Rethink Sans"/>
                <a:sym typeface="Rethink Sans"/>
              </a:rPr>
              <a:t>At TBS Digital Labs, </a:t>
            </a:r>
            <a:r>
              <a:rPr b="0" i="0" lang="en-US" sz="1800" u="none" cap="none" strike="noStrike">
                <a:solidFill>
                  <a:srgbClr val="FEFEFE"/>
                </a:solidFill>
                <a:latin typeface="Rethink Sans"/>
                <a:ea typeface="Rethink Sans"/>
                <a:cs typeface="Rethink Sans"/>
                <a:sym typeface="Rethink Sans"/>
              </a:rPr>
              <a:t>our Brand Strategy service is the cornerstone of building digital authority and driving sustainable growth</a:t>
            </a:r>
            <a:r>
              <a:rPr b="0" i="0" lang="en-US" sz="1800" u="none" cap="none" strike="noStrike">
                <a:solidFill>
                  <a:srgbClr val="FEFEFE"/>
                </a:solidFill>
                <a:latin typeface="Rethink Sans"/>
                <a:ea typeface="Rethink Sans"/>
                <a:cs typeface="Rethink Sans"/>
                <a:sym typeface="Rethink Sans"/>
              </a:rPr>
              <a:t>. We delve deep into market analysis, competitive landscapes, and target audience psychology to forge a distinctive and compelling brand identity</a:t>
            </a:r>
            <a:endParaRPr b="0" i="0" sz="1800" u="none" cap="none" strike="noStrike"/>
          </a:p>
        </p:txBody>
      </p:sp>
      <p:sp>
        <p:nvSpPr>
          <p:cNvPr id="230" name="Google Shape;230;p47"/>
          <p:cNvSpPr/>
          <p:nvPr/>
        </p:nvSpPr>
        <p:spPr>
          <a:xfrm>
            <a:off x="727710" y="5254443"/>
            <a:ext cx="2729100" cy="3411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EFEFE"/>
              </a:buClr>
              <a:buSzPts val="2100"/>
              <a:buFont typeface="Funnel Display"/>
              <a:buNone/>
            </a:pPr>
            <a:r>
              <a:rPr b="0" i="0" lang="en-US" sz="2450" u="none" cap="none" strike="noStrike">
                <a:solidFill>
                  <a:srgbClr val="FEFEFE"/>
                </a:solidFill>
                <a:latin typeface="Funnel Display"/>
                <a:ea typeface="Funnel Display"/>
                <a:cs typeface="Funnel Display"/>
                <a:sym typeface="Funnel Display"/>
              </a:rPr>
              <a:t>Outcomes</a:t>
            </a:r>
            <a:endParaRPr b="0" i="0" sz="2450" u="none" cap="none" strike="noStrike"/>
          </a:p>
        </p:txBody>
      </p:sp>
      <p:sp>
        <p:nvSpPr>
          <p:cNvPr id="231" name="Google Shape;231;p47"/>
          <p:cNvSpPr/>
          <p:nvPr/>
        </p:nvSpPr>
        <p:spPr>
          <a:xfrm>
            <a:off x="727700" y="5920550"/>
            <a:ext cx="6283200" cy="15885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1200"/>
              </a:spcBef>
              <a:spcAft>
                <a:spcPts val="0"/>
              </a:spcAft>
              <a:buNone/>
            </a:pPr>
            <a:r>
              <a:rPr lang="en-US" sz="1800">
                <a:solidFill>
                  <a:srgbClr val="FEFEFE"/>
                </a:solidFill>
                <a:latin typeface="Rethink Sans"/>
                <a:ea typeface="Rethink Sans"/>
                <a:cs typeface="Rethink Sans"/>
                <a:sym typeface="Rethink Sans"/>
              </a:rPr>
              <a:t>A clearly defined and differentiated brand narrative that captures digital audience attention</a:t>
            </a:r>
            <a:r>
              <a:rPr lang="en-US" sz="1800">
                <a:solidFill>
                  <a:srgbClr val="FEFEFE"/>
                </a:solidFill>
                <a:latin typeface="Rethink Sans"/>
                <a:ea typeface="Rethink Sans"/>
                <a:cs typeface="Rethink Sans"/>
                <a:sym typeface="Rethink Sans"/>
              </a:rPr>
              <a:t>.</a:t>
            </a:r>
            <a:endParaRPr sz="1800">
              <a:solidFill>
                <a:srgbClr val="FEFEFE"/>
              </a:solidFill>
              <a:latin typeface="Rethink Sans"/>
              <a:ea typeface="Rethink Sans"/>
              <a:cs typeface="Rethink Sans"/>
              <a:sym typeface="Rethink Sans"/>
            </a:endParaRPr>
          </a:p>
          <a:p>
            <a:pPr indent="0" lvl="0" marL="0" rtl="0" algn="l">
              <a:lnSpc>
                <a:spcPct val="130000"/>
              </a:lnSpc>
              <a:spcBef>
                <a:spcPts val="1200"/>
              </a:spcBef>
              <a:spcAft>
                <a:spcPts val="1200"/>
              </a:spcAft>
              <a:buNone/>
            </a:pPr>
            <a:r>
              <a:rPr lang="en-US" sz="1800">
                <a:solidFill>
                  <a:srgbClr val="FEFEFE"/>
                </a:solidFill>
                <a:latin typeface="Rethink Sans"/>
                <a:ea typeface="Rethink Sans"/>
                <a:cs typeface="Rethink Sans"/>
                <a:sym typeface="Rethink Sans"/>
              </a:rPr>
              <a:t>Enhanced brand recognition and recall, leading to increased digital market share and authority.</a:t>
            </a:r>
            <a:endParaRPr sz="1800">
              <a:solidFill>
                <a:srgbClr val="FEFEFE"/>
              </a:solidFill>
              <a:latin typeface="Rethink Sans"/>
              <a:ea typeface="Rethink Sans"/>
              <a:cs typeface="Rethink Sans"/>
              <a:sym typeface="Rethink Sans"/>
            </a:endParaRPr>
          </a:p>
        </p:txBody>
      </p:sp>
      <p:sp>
        <p:nvSpPr>
          <p:cNvPr id="232" name="Google Shape;232;p47"/>
          <p:cNvSpPr/>
          <p:nvPr/>
        </p:nvSpPr>
        <p:spPr>
          <a:xfrm>
            <a:off x="8225671" y="2493292"/>
            <a:ext cx="2729100" cy="3411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FEFEFE"/>
              </a:buClr>
              <a:buSzPts val="2100"/>
              <a:buFont typeface="Funnel Display"/>
              <a:buNone/>
            </a:pPr>
            <a:r>
              <a:rPr b="0" i="0" lang="en-US" sz="2450" u="none" cap="none" strike="noStrike">
                <a:solidFill>
                  <a:srgbClr val="FEFEFE"/>
                </a:solidFill>
                <a:latin typeface="Funnel Display"/>
                <a:ea typeface="Funnel Display"/>
                <a:cs typeface="Funnel Display"/>
                <a:sym typeface="Funnel Display"/>
              </a:rPr>
              <a:t>Inclusions</a:t>
            </a:r>
            <a:endParaRPr b="0" i="0" sz="2450" u="none" cap="none" strike="noStrike">
              <a:solidFill>
                <a:srgbClr val="FEFEFE"/>
              </a:solidFill>
            </a:endParaRPr>
          </a:p>
        </p:txBody>
      </p:sp>
      <p:sp>
        <p:nvSpPr>
          <p:cNvPr id="233" name="Google Shape;233;p47"/>
          <p:cNvSpPr/>
          <p:nvPr/>
        </p:nvSpPr>
        <p:spPr>
          <a:xfrm>
            <a:off x="8816925" y="3437676"/>
            <a:ext cx="5093400" cy="1054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1" i="0" lang="en-US" sz="1800" u="none" cap="none" strike="noStrike">
                <a:solidFill>
                  <a:srgbClr val="FEFEFE"/>
                </a:solidFill>
                <a:latin typeface="Rethink Sans"/>
                <a:ea typeface="Rethink Sans"/>
                <a:cs typeface="Rethink Sans"/>
                <a:sym typeface="Rethink Sans"/>
              </a:rPr>
              <a:t>Comprehensive Brand Audit:</a:t>
            </a:r>
            <a:r>
              <a:rPr b="0" i="0" lang="en-US" sz="1800" u="none" cap="none" strike="noStrike">
                <a:solidFill>
                  <a:srgbClr val="FEFEFE"/>
                </a:solidFill>
                <a:latin typeface="Rethink Sans"/>
                <a:ea typeface="Rethink Sans"/>
                <a:cs typeface="Rethink Sans"/>
                <a:sym typeface="Rethink Sans"/>
              </a:rPr>
              <a:t> In-depth analysis of existing digital assets, online market perception, and competitor strategies</a:t>
            </a:r>
            <a:r>
              <a:rPr lang="en-US" sz="1800">
                <a:solidFill>
                  <a:srgbClr val="FEFEFE"/>
                </a:solidFill>
                <a:latin typeface="Rethink Sans"/>
                <a:ea typeface="Rethink Sans"/>
                <a:cs typeface="Rethink Sans"/>
                <a:sym typeface="Rethink Sans"/>
              </a:rPr>
              <a:t>.</a:t>
            </a:r>
            <a:endParaRPr b="0" i="0" sz="1800" u="none" cap="none" strike="noStrike">
              <a:solidFill>
                <a:srgbClr val="FEFEFE"/>
              </a:solidFill>
            </a:endParaRPr>
          </a:p>
        </p:txBody>
      </p:sp>
      <p:sp>
        <p:nvSpPr>
          <p:cNvPr id="234" name="Google Shape;234;p47"/>
          <p:cNvSpPr/>
          <p:nvPr/>
        </p:nvSpPr>
        <p:spPr>
          <a:xfrm>
            <a:off x="8816925" y="4946111"/>
            <a:ext cx="5093400" cy="1054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1" i="0" lang="en-US" sz="1800" u="none" cap="none" strike="noStrike">
                <a:solidFill>
                  <a:srgbClr val="FEFEFE"/>
                </a:solidFill>
                <a:latin typeface="Rethink Sans"/>
                <a:ea typeface="Rethink Sans"/>
                <a:cs typeface="Rethink Sans"/>
                <a:sym typeface="Rethink Sans"/>
              </a:rPr>
              <a:t>Core Messaging &amp; Values:</a:t>
            </a:r>
            <a:r>
              <a:rPr b="0" i="0" lang="en-US" sz="1800" u="none" cap="none" strike="noStrike">
                <a:solidFill>
                  <a:srgbClr val="FEFEFE"/>
                </a:solidFill>
                <a:latin typeface="Rethink Sans"/>
                <a:ea typeface="Rethink Sans"/>
                <a:cs typeface="Rethink Sans"/>
                <a:sym typeface="Rethink Sans"/>
              </a:rPr>
              <a:t> Development of your brand's unique digital voice, mission, vision, and core values that resonate with your target</a:t>
            </a:r>
            <a:r>
              <a:rPr lang="en-US" sz="1800">
                <a:solidFill>
                  <a:srgbClr val="FEFEFE"/>
                </a:solidFill>
                <a:latin typeface="Rethink Sans"/>
                <a:ea typeface="Rethink Sans"/>
                <a:cs typeface="Rethink Sans"/>
                <a:sym typeface="Rethink Sans"/>
              </a:rPr>
              <a:t>.</a:t>
            </a:r>
            <a:endParaRPr b="0" i="0" sz="1800" u="none" cap="none" strike="noStrike">
              <a:solidFill>
                <a:srgbClr val="FEFEFE"/>
              </a:solidFill>
            </a:endParaRPr>
          </a:p>
        </p:txBody>
      </p:sp>
      <p:sp>
        <p:nvSpPr>
          <p:cNvPr id="235" name="Google Shape;235;p47"/>
          <p:cNvSpPr/>
          <p:nvPr/>
        </p:nvSpPr>
        <p:spPr>
          <a:xfrm>
            <a:off x="8816925" y="6454551"/>
            <a:ext cx="5093400" cy="1054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1" i="0" lang="en-US" sz="1800" u="none" cap="none" strike="noStrike">
                <a:solidFill>
                  <a:srgbClr val="FEFEFE"/>
                </a:solidFill>
                <a:latin typeface="Rethink Sans"/>
                <a:ea typeface="Rethink Sans"/>
                <a:cs typeface="Rethink Sans"/>
                <a:sym typeface="Rethink Sans"/>
              </a:rPr>
              <a:t>Target Audience Personas:</a:t>
            </a:r>
            <a:r>
              <a:rPr b="0" i="0" lang="en-US" sz="1800" u="none" cap="none" strike="noStrike">
                <a:solidFill>
                  <a:srgbClr val="FEFEFE"/>
                </a:solidFill>
                <a:latin typeface="Rethink Sans"/>
                <a:ea typeface="Rethink Sans"/>
                <a:cs typeface="Rethink Sans"/>
                <a:sym typeface="Rethink Sans"/>
              </a:rPr>
              <a:t> Creation of detailed customer profiles based on demographic, psychographic, and behavioral data</a:t>
            </a:r>
            <a:r>
              <a:rPr lang="en-US" sz="1800">
                <a:solidFill>
                  <a:srgbClr val="FEFEFE"/>
                </a:solidFill>
                <a:latin typeface="Rethink Sans"/>
                <a:ea typeface="Rethink Sans"/>
                <a:cs typeface="Rethink Sans"/>
                <a:sym typeface="Rethink Sans"/>
              </a:rPr>
              <a:t>.</a:t>
            </a:r>
            <a:endParaRPr b="0" i="0" sz="1800" u="none" cap="none" strike="noStrike">
              <a:solidFill>
                <a:srgbClr val="FEFEFE"/>
              </a:solidFill>
            </a:endParaRPr>
          </a:p>
        </p:txBody>
      </p:sp>
      <p:pic>
        <p:nvPicPr>
          <p:cNvPr id="236" name="Google Shape;236;p47"/>
          <p:cNvPicPr preferRelativeResize="0"/>
          <p:nvPr/>
        </p:nvPicPr>
        <p:blipFill>
          <a:blip r:embed="rId3">
            <a:alphaModFix/>
          </a:blip>
          <a:stretch>
            <a:fillRect/>
          </a:stretch>
        </p:blipFill>
        <p:spPr>
          <a:xfrm>
            <a:off x="8225675" y="3488714"/>
            <a:ext cx="264900" cy="264900"/>
          </a:xfrm>
          <a:prstGeom prst="rect">
            <a:avLst/>
          </a:prstGeom>
          <a:noFill/>
          <a:ln>
            <a:noFill/>
          </a:ln>
        </p:spPr>
      </p:pic>
      <p:pic>
        <p:nvPicPr>
          <p:cNvPr id="237" name="Google Shape;237;p47"/>
          <p:cNvPicPr preferRelativeResize="0"/>
          <p:nvPr/>
        </p:nvPicPr>
        <p:blipFill>
          <a:blip r:embed="rId3">
            <a:alphaModFix/>
          </a:blip>
          <a:stretch>
            <a:fillRect/>
          </a:stretch>
        </p:blipFill>
        <p:spPr>
          <a:xfrm>
            <a:off x="8225675" y="5014148"/>
            <a:ext cx="264900" cy="264900"/>
          </a:xfrm>
          <a:prstGeom prst="rect">
            <a:avLst/>
          </a:prstGeom>
          <a:noFill/>
          <a:ln>
            <a:noFill/>
          </a:ln>
        </p:spPr>
      </p:pic>
      <p:pic>
        <p:nvPicPr>
          <p:cNvPr id="238" name="Google Shape;238;p47"/>
          <p:cNvPicPr preferRelativeResize="0"/>
          <p:nvPr/>
        </p:nvPicPr>
        <p:blipFill>
          <a:blip r:embed="rId3">
            <a:alphaModFix/>
          </a:blip>
          <a:stretch>
            <a:fillRect/>
          </a:stretch>
        </p:blipFill>
        <p:spPr>
          <a:xfrm>
            <a:off x="8225675" y="6505577"/>
            <a:ext cx="264900" cy="264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43" name="Shape 243"/>
        <p:cNvGrpSpPr/>
        <p:nvPr/>
      </p:nvGrpSpPr>
      <p:grpSpPr>
        <a:xfrm>
          <a:off x="0" y="0"/>
          <a:ext cx="0" cy="0"/>
          <a:chOff x="0" y="0"/>
          <a:chExt cx="0" cy="0"/>
        </a:xfrm>
      </p:grpSpPr>
      <p:sp>
        <p:nvSpPr>
          <p:cNvPr id="244" name="Google Shape;244;p48"/>
          <p:cNvSpPr/>
          <p:nvPr/>
        </p:nvSpPr>
        <p:spPr>
          <a:xfrm>
            <a:off x="497900" y="2058075"/>
            <a:ext cx="4364400" cy="70989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5" name="Google Shape;245;p48"/>
          <p:cNvSpPr/>
          <p:nvPr/>
        </p:nvSpPr>
        <p:spPr>
          <a:xfrm>
            <a:off x="5133000" y="2058075"/>
            <a:ext cx="4364400" cy="70989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6" name="Google Shape;246;p48"/>
          <p:cNvSpPr/>
          <p:nvPr/>
        </p:nvSpPr>
        <p:spPr>
          <a:xfrm>
            <a:off x="9768100" y="2058075"/>
            <a:ext cx="4364400" cy="70989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247" name="Google Shape;247;p48"/>
          <p:cNvSpPr/>
          <p:nvPr/>
        </p:nvSpPr>
        <p:spPr>
          <a:xfrm>
            <a:off x="729627" y="792250"/>
            <a:ext cx="6159000" cy="5700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b="0" i="0" lang="en-US" sz="3900" u="none" cap="none" strike="noStrike">
                <a:solidFill>
                  <a:srgbClr val="FEFEFE"/>
                </a:solidFill>
                <a:latin typeface="Funnel Display"/>
                <a:ea typeface="Funnel Display"/>
                <a:cs typeface="Funnel Display"/>
                <a:sym typeface="Funnel Display"/>
              </a:rPr>
              <a:t>Flexible Delivery </a:t>
            </a:r>
            <a:r>
              <a:rPr b="0" i="0" lang="en-US" sz="3900" u="none" cap="none" strike="noStrike">
                <a:solidFill>
                  <a:srgbClr val="D56EED"/>
                </a:solidFill>
                <a:latin typeface="Funnel Display"/>
                <a:ea typeface="Funnel Display"/>
                <a:cs typeface="Funnel Display"/>
                <a:sym typeface="Funnel Display"/>
              </a:rPr>
              <a:t>Models</a:t>
            </a:r>
            <a:endParaRPr b="0" i="0" sz="3900" u="none" cap="none" strike="noStrike">
              <a:solidFill>
                <a:srgbClr val="D56EED"/>
              </a:solidFill>
            </a:endParaRPr>
          </a:p>
        </p:txBody>
      </p:sp>
      <p:sp>
        <p:nvSpPr>
          <p:cNvPr id="248" name="Google Shape;248;p48"/>
          <p:cNvSpPr/>
          <p:nvPr/>
        </p:nvSpPr>
        <p:spPr>
          <a:xfrm>
            <a:off x="919657" y="2394213"/>
            <a:ext cx="3702300" cy="2850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FFFFFF"/>
              </a:buClr>
              <a:buSzPts val="1750"/>
              <a:buFont typeface="Funnel Display"/>
              <a:buNone/>
            </a:pPr>
            <a:r>
              <a:rPr b="0" i="0" lang="en-US" sz="2450" u="none" cap="none" strike="noStrike">
                <a:solidFill>
                  <a:srgbClr val="FFFFFF"/>
                </a:solidFill>
                <a:latin typeface="Funnel Display"/>
                <a:ea typeface="Funnel Display"/>
                <a:cs typeface="Funnel Display"/>
                <a:sym typeface="Funnel Display"/>
              </a:rPr>
              <a:t>Retainer Model</a:t>
            </a:r>
            <a:endParaRPr b="0" i="0" sz="2450" u="none" cap="none" strike="noStrike"/>
          </a:p>
        </p:txBody>
      </p:sp>
      <p:sp>
        <p:nvSpPr>
          <p:cNvPr id="249" name="Google Shape;249;p48"/>
          <p:cNvSpPr/>
          <p:nvPr/>
        </p:nvSpPr>
        <p:spPr>
          <a:xfrm>
            <a:off x="919650" y="3009545"/>
            <a:ext cx="3702300" cy="766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Rethink Sans"/>
              <a:buNone/>
            </a:pPr>
            <a:r>
              <a:rPr b="0" i="0" lang="en-US" sz="1800" u="none" cap="none" strike="noStrike">
                <a:solidFill>
                  <a:srgbClr val="FFFFFF"/>
                </a:solidFill>
                <a:latin typeface="Rethink Sans"/>
                <a:ea typeface="Rethink Sans"/>
                <a:cs typeface="Rethink Sans"/>
                <a:sym typeface="Rethink Sans"/>
              </a:rPr>
              <a:t>Ideal for clients seeking ongoing, digital strategy and support</a:t>
            </a:r>
            <a:r>
              <a:rPr lang="en-US" sz="1800">
                <a:solidFill>
                  <a:srgbClr val="FFFFFF"/>
                </a:solidFill>
                <a:latin typeface="Rethink Sans"/>
                <a:ea typeface="Rethink Sans"/>
                <a:cs typeface="Rethink Sans"/>
                <a:sym typeface="Rethink Sans"/>
              </a:rPr>
              <a:t>.</a:t>
            </a:r>
            <a:endParaRPr b="0" i="0" sz="1800" u="none" cap="none" strike="noStrike"/>
          </a:p>
        </p:txBody>
      </p:sp>
      <p:sp>
        <p:nvSpPr>
          <p:cNvPr id="250" name="Google Shape;250;p48"/>
          <p:cNvSpPr/>
          <p:nvPr/>
        </p:nvSpPr>
        <p:spPr>
          <a:xfrm>
            <a:off x="919650" y="4469175"/>
            <a:ext cx="3702300" cy="2487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1000"/>
              </a:spcBef>
              <a:spcAft>
                <a:spcPts val="0"/>
              </a:spcAft>
              <a:buNone/>
            </a:pPr>
            <a:r>
              <a:rPr b="1" i="0" lang="en-US" sz="1800" u="none" cap="none" strike="noStrike">
                <a:solidFill>
                  <a:srgbClr val="FFFFFF"/>
                </a:solidFill>
                <a:latin typeface="Rethink Sans"/>
                <a:ea typeface="Rethink Sans"/>
                <a:cs typeface="Rethink Sans"/>
                <a:sym typeface="Rethink Sans"/>
              </a:rPr>
              <a:t>Duration: </a:t>
            </a:r>
            <a:r>
              <a:rPr b="0" i="0" lang="en-US" sz="1800" u="none" cap="none" strike="noStrike">
                <a:solidFill>
                  <a:srgbClr val="FFFFFF"/>
                </a:solidFill>
                <a:latin typeface="Rethink Sans"/>
                <a:ea typeface="Rethink Sans"/>
                <a:cs typeface="Rethink Sans"/>
                <a:sym typeface="Rethink Sans"/>
              </a:rPr>
              <a:t>Typical</a:t>
            </a:r>
            <a:r>
              <a:rPr b="0" i="0" lang="en-US" sz="1800" u="none" cap="none" strike="noStrike">
                <a:solidFill>
                  <a:srgbClr val="FFFFFF"/>
                </a:solidFill>
                <a:latin typeface="Rethink Sans"/>
                <a:ea typeface="Rethink Sans"/>
                <a:cs typeface="Rethink Sans"/>
                <a:sym typeface="Rethink Sans"/>
              </a:rPr>
              <a:t>ly 6-12 month</a:t>
            </a:r>
            <a:r>
              <a:rPr b="0" i="0" lang="en-US" sz="1800" u="none" cap="none" strike="noStrike">
                <a:solidFill>
                  <a:srgbClr val="FFFFFF"/>
                </a:solidFill>
                <a:latin typeface="Rethink Sans"/>
                <a:ea typeface="Rethink Sans"/>
                <a:cs typeface="Rethink Sans"/>
                <a:sym typeface="Rethink Sans"/>
              </a:rPr>
              <a:t>s, customizable</a:t>
            </a:r>
            <a:endParaRPr b="0" i="0" sz="1800" u="none" cap="none" strike="noStrike">
              <a:solidFill>
                <a:srgbClr val="FFFFFF"/>
              </a:solidFill>
              <a:latin typeface="Rethink Sans"/>
              <a:ea typeface="Rethink Sans"/>
              <a:cs typeface="Rethink Sans"/>
              <a:sym typeface="Rethink Sans"/>
            </a:endParaRPr>
          </a:p>
          <a:p>
            <a:pPr indent="0" lvl="0" marL="0" rtl="0" algn="l">
              <a:lnSpc>
                <a:spcPct val="130000"/>
              </a:lnSpc>
              <a:spcBef>
                <a:spcPts val="1000"/>
              </a:spcBef>
              <a:spcAft>
                <a:spcPts val="0"/>
              </a:spcAft>
              <a:buNone/>
            </a:pPr>
            <a:r>
              <a:rPr b="1" lang="en-US" sz="1800">
                <a:solidFill>
                  <a:schemeClr val="lt1"/>
                </a:solidFill>
                <a:latin typeface="Rethink Sans"/>
                <a:ea typeface="Rethink Sans"/>
                <a:cs typeface="Rethink Sans"/>
                <a:sym typeface="Rethink Sans"/>
              </a:rPr>
              <a:t>Scope: </a:t>
            </a:r>
            <a:r>
              <a:rPr lang="en-US" sz="1800">
                <a:solidFill>
                  <a:schemeClr val="lt1"/>
                </a:solidFill>
                <a:latin typeface="Rethink Sans"/>
                <a:ea typeface="Rethink Sans"/>
                <a:cs typeface="Rethink Sans"/>
                <a:sym typeface="Rethink Sans"/>
              </a:rPr>
              <a:t>Ongoing strategic digital initiatives, platform development, integration, and optimization.</a:t>
            </a:r>
            <a:endParaRPr sz="1800">
              <a:solidFill>
                <a:schemeClr val="dk1"/>
              </a:solidFill>
            </a:endParaRPr>
          </a:p>
          <a:p>
            <a:pPr indent="0" lvl="0" marL="0" rtl="0" algn="l">
              <a:lnSpc>
                <a:spcPct val="130000"/>
              </a:lnSpc>
              <a:spcBef>
                <a:spcPts val="1000"/>
              </a:spcBef>
              <a:spcAft>
                <a:spcPts val="0"/>
              </a:spcAft>
              <a:buNone/>
            </a:pPr>
            <a:r>
              <a:rPr b="1" lang="en-US" sz="1800">
                <a:solidFill>
                  <a:schemeClr val="lt1"/>
                </a:solidFill>
                <a:latin typeface="Rethink Sans"/>
                <a:ea typeface="Rethink Sans"/>
                <a:cs typeface="Rethink Sans"/>
                <a:sym typeface="Rethink Sans"/>
              </a:rPr>
              <a:t>Best for: </a:t>
            </a:r>
            <a:r>
              <a:rPr lang="en-US" sz="1800">
                <a:solidFill>
                  <a:schemeClr val="lt1"/>
                </a:solidFill>
                <a:latin typeface="Rethink Sans"/>
                <a:ea typeface="Rethink Sans"/>
                <a:cs typeface="Rethink Sans"/>
                <a:sym typeface="Rethink Sans"/>
              </a:rPr>
              <a:t>Companies requiring continuous digital partnership.</a:t>
            </a:r>
            <a:endParaRPr sz="1800">
              <a:solidFill>
                <a:schemeClr val="dk1"/>
              </a:solidFill>
            </a:endParaRPr>
          </a:p>
          <a:p>
            <a:pPr indent="0" lvl="0" marL="0" rtl="0" algn="l">
              <a:lnSpc>
                <a:spcPct val="130000"/>
              </a:lnSpc>
              <a:spcBef>
                <a:spcPts val="1000"/>
              </a:spcBef>
              <a:spcAft>
                <a:spcPts val="1000"/>
              </a:spcAft>
              <a:buNone/>
            </a:pPr>
            <a:r>
              <a:t/>
            </a:r>
            <a:endParaRPr sz="1800">
              <a:solidFill>
                <a:schemeClr val="dk1"/>
              </a:solidFill>
            </a:endParaRPr>
          </a:p>
        </p:txBody>
      </p:sp>
      <p:sp>
        <p:nvSpPr>
          <p:cNvPr id="251" name="Google Shape;251;p48"/>
          <p:cNvSpPr/>
          <p:nvPr/>
        </p:nvSpPr>
        <p:spPr>
          <a:xfrm>
            <a:off x="5532998" y="2394213"/>
            <a:ext cx="3702300" cy="2850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FFFFFF"/>
              </a:buClr>
              <a:buSzPts val="1750"/>
              <a:buFont typeface="Funnel Display"/>
              <a:buNone/>
            </a:pPr>
            <a:r>
              <a:rPr lang="en-US" sz="2450">
                <a:solidFill>
                  <a:srgbClr val="FFFFFF"/>
                </a:solidFill>
                <a:latin typeface="Funnel Display"/>
                <a:ea typeface="Funnel Display"/>
                <a:cs typeface="Funnel Display"/>
                <a:sym typeface="Funnel Display"/>
              </a:rPr>
              <a:t>Project-Based</a:t>
            </a:r>
            <a:endParaRPr b="0" i="0" sz="2450" u="none" cap="none" strike="noStrike"/>
          </a:p>
        </p:txBody>
      </p:sp>
      <p:sp>
        <p:nvSpPr>
          <p:cNvPr id="252" name="Google Shape;252;p48"/>
          <p:cNvSpPr/>
          <p:nvPr/>
        </p:nvSpPr>
        <p:spPr>
          <a:xfrm>
            <a:off x="5532991" y="3009545"/>
            <a:ext cx="3702300" cy="766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Rethink Sans"/>
              <a:buNone/>
            </a:pPr>
            <a:r>
              <a:rPr lang="en-US" sz="1800">
                <a:solidFill>
                  <a:srgbClr val="FFFFFF"/>
                </a:solidFill>
                <a:latin typeface="Rethink Sans"/>
                <a:ea typeface="Rethink Sans"/>
                <a:cs typeface="Rethink Sans"/>
                <a:sym typeface="Rethink Sans"/>
              </a:rPr>
              <a:t>Designed for clients with distinct, digital transformation needs.</a:t>
            </a:r>
            <a:endParaRPr b="0" i="0" sz="1800" u="none" cap="none" strike="noStrike"/>
          </a:p>
        </p:txBody>
      </p:sp>
      <p:sp>
        <p:nvSpPr>
          <p:cNvPr id="253" name="Google Shape;253;p48"/>
          <p:cNvSpPr/>
          <p:nvPr/>
        </p:nvSpPr>
        <p:spPr>
          <a:xfrm>
            <a:off x="5521200" y="4469175"/>
            <a:ext cx="3702300" cy="24876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1000"/>
              </a:spcBef>
              <a:spcAft>
                <a:spcPts val="0"/>
              </a:spcAft>
              <a:buNone/>
            </a:pPr>
            <a:r>
              <a:rPr b="1" lang="en-US" sz="1800">
                <a:solidFill>
                  <a:srgbClr val="FFFFFF"/>
                </a:solidFill>
                <a:latin typeface="Rethink Sans"/>
                <a:ea typeface="Rethink Sans"/>
                <a:cs typeface="Rethink Sans"/>
                <a:sym typeface="Rethink Sans"/>
              </a:rPr>
              <a:t>Duration:</a:t>
            </a:r>
            <a:r>
              <a:rPr lang="en-US" sz="1800">
                <a:solidFill>
                  <a:srgbClr val="FFFFFF"/>
                </a:solidFill>
                <a:latin typeface="Rethink Sans"/>
                <a:ea typeface="Rethink Sans"/>
                <a:cs typeface="Rethink Sans"/>
                <a:sym typeface="Rethink Sans"/>
              </a:rPr>
              <a:t> Ranges from 2-6 months, depending on project </a:t>
            </a:r>
            <a:r>
              <a:rPr lang="en-US" sz="1800">
                <a:solidFill>
                  <a:srgbClr val="FFFFFF"/>
                </a:solidFill>
                <a:latin typeface="Rethink Sans"/>
                <a:ea typeface="Rethink Sans"/>
                <a:cs typeface="Rethink Sans"/>
                <a:sym typeface="Rethink Sans"/>
              </a:rPr>
              <a:t>complexity</a:t>
            </a:r>
            <a:endParaRPr sz="1800">
              <a:solidFill>
                <a:srgbClr val="FFFFFF"/>
              </a:solidFill>
              <a:latin typeface="Rethink Sans"/>
              <a:ea typeface="Rethink Sans"/>
              <a:cs typeface="Rethink Sans"/>
              <a:sym typeface="Rethink Sans"/>
            </a:endParaRPr>
          </a:p>
          <a:p>
            <a:pPr indent="0" lvl="0" marL="0" rtl="0" algn="l">
              <a:lnSpc>
                <a:spcPct val="130000"/>
              </a:lnSpc>
              <a:spcBef>
                <a:spcPts val="1000"/>
              </a:spcBef>
              <a:spcAft>
                <a:spcPts val="0"/>
              </a:spcAft>
              <a:buNone/>
            </a:pPr>
            <a:r>
              <a:rPr b="1" lang="en-US" sz="1800">
                <a:solidFill>
                  <a:srgbClr val="FFFFFF"/>
                </a:solidFill>
                <a:latin typeface="Rethink Sans"/>
                <a:ea typeface="Rethink Sans"/>
                <a:cs typeface="Rethink Sans"/>
                <a:sym typeface="Rethink Sans"/>
              </a:rPr>
              <a:t>Scope: </a:t>
            </a:r>
            <a:r>
              <a:rPr lang="en-US" sz="1800">
                <a:solidFill>
                  <a:srgbClr val="FFFFFF"/>
                </a:solidFill>
                <a:latin typeface="Rethink Sans"/>
                <a:ea typeface="Rethink Sans"/>
                <a:cs typeface="Rethink Sans"/>
                <a:sym typeface="Rethink Sans"/>
              </a:rPr>
              <a:t>Clearly defined deliverables like digital architecture, and custom software development.</a:t>
            </a:r>
            <a:endParaRPr sz="1800">
              <a:solidFill>
                <a:srgbClr val="FFFFFF"/>
              </a:solidFill>
              <a:latin typeface="Rethink Sans"/>
              <a:ea typeface="Rethink Sans"/>
              <a:cs typeface="Rethink Sans"/>
              <a:sym typeface="Rethink Sans"/>
            </a:endParaRPr>
          </a:p>
          <a:p>
            <a:pPr indent="0" lvl="0" marL="0" rtl="0" algn="l">
              <a:lnSpc>
                <a:spcPct val="130000"/>
              </a:lnSpc>
              <a:spcBef>
                <a:spcPts val="1000"/>
              </a:spcBef>
              <a:spcAft>
                <a:spcPts val="1000"/>
              </a:spcAft>
              <a:buNone/>
            </a:pPr>
            <a:r>
              <a:rPr b="1" lang="en-US" sz="1800">
                <a:solidFill>
                  <a:srgbClr val="FFFFFF"/>
                </a:solidFill>
                <a:latin typeface="Rethink Sans"/>
                <a:ea typeface="Rethink Sans"/>
                <a:cs typeface="Rethink Sans"/>
                <a:sym typeface="Rethink Sans"/>
              </a:rPr>
              <a:t>Best for: </a:t>
            </a:r>
            <a:r>
              <a:rPr lang="en-US" sz="1800">
                <a:solidFill>
                  <a:srgbClr val="FFFFFF"/>
                </a:solidFill>
                <a:latin typeface="Rethink Sans"/>
                <a:ea typeface="Rethink Sans"/>
                <a:cs typeface="Rethink Sans"/>
                <a:sym typeface="Rethink Sans"/>
              </a:rPr>
              <a:t>Businesses with clear, one-time project goals.</a:t>
            </a:r>
            <a:endParaRPr sz="1800">
              <a:solidFill>
                <a:schemeClr val="dk1"/>
              </a:solidFill>
            </a:endParaRPr>
          </a:p>
        </p:txBody>
      </p:sp>
      <p:sp>
        <p:nvSpPr>
          <p:cNvPr id="254" name="Google Shape;254;p48"/>
          <p:cNvSpPr/>
          <p:nvPr/>
        </p:nvSpPr>
        <p:spPr>
          <a:xfrm>
            <a:off x="10146339" y="2394206"/>
            <a:ext cx="2280300" cy="2850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FFFFFF"/>
              </a:buClr>
              <a:buSzPts val="1750"/>
              <a:buFont typeface="Funnel Display"/>
              <a:buNone/>
            </a:pPr>
            <a:r>
              <a:rPr lang="en-US" sz="2450">
                <a:solidFill>
                  <a:srgbClr val="FFFFFF"/>
                </a:solidFill>
                <a:latin typeface="Funnel Display"/>
                <a:ea typeface="Funnel Display"/>
                <a:cs typeface="Funnel Display"/>
                <a:sym typeface="Funnel Display"/>
              </a:rPr>
              <a:t>Sprint Model</a:t>
            </a:r>
            <a:endParaRPr b="0" i="0" sz="2450" u="none" cap="none" strike="noStrike"/>
          </a:p>
        </p:txBody>
      </p:sp>
      <p:sp>
        <p:nvSpPr>
          <p:cNvPr id="255" name="Google Shape;255;p48"/>
          <p:cNvSpPr/>
          <p:nvPr/>
        </p:nvSpPr>
        <p:spPr>
          <a:xfrm>
            <a:off x="10122750" y="3009545"/>
            <a:ext cx="3702300" cy="766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Rethink Sans"/>
              <a:buNone/>
            </a:pPr>
            <a:r>
              <a:rPr lang="en-US" sz="1800">
                <a:solidFill>
                  <a:srgbClr val="FFFFFF"/>
                </a:solidFill>
                <a:latin typeface="Rethink Sans"/>
                <a:ea typeface="Rethink Sans"/>
                <a:cs typeface="Rethink Sans"/>
                <a:sym typeface="Rethink Sans"/>
              </a:rPr>
              <a:t>A highly agile approach for rapid development &amp; digital execution.</a:t>
            </a:r>
            <a:endParaRPr b="0" i="0" sz="1800" u="none" cap="none" strike="noStrike"/>
          </a:p>
        </p:txBody>
      </p:sp>
      <p:sp>
        <p:nvSpPr>
          <p:cNvPr id="256" name="Google Shape;256;p48"/>
          <p:cNvSpPr/>
          <p:nvPr/>
        </p:nvSpPr>
        <p:spPr>
          <a:xfrm>
            <a:off x="10122750" y="4469175"/>
            <a:ext cx="3702300" cy="24876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1000"/>
              </a:spcBef>
              <a:spcAft>
                <a:spcPts val="0"/>
              </a:spcAft>
              <a:buNone/>
            </a:pPr>
            <a:r>
              <a:rPr b="1" lang="en-US" sz="1800">
                <a:solidFill>
                  <a:srgbClr val="FFFFFF"/>
                </a:solidFill>
                <a:latin typeface="Rethink Sans"/>
                <a:ea typeface="Rethink Sans"/>
                <a:cs typeface="Rethink Sans"/>
                <a:sym typeface="Rethink Sans"/>
              </a:rPr>
              <a:t>Duration: </a:t>
            </a:r>
            <a:r>
              <a:rPr lang="en-US" sz="1800">
                <a:solidFill>
                  <a:srgbClr val="FFFFFF"/>
                </a:solidFill>
                <a:latin typeface="Rethink Sans"/>
                <a:ea typeface="Rethink Sans"/>
                <a:cs typeface="Rethink Sans"/>
                <a:sym typeface="Rethink Sans"/>
              </a:rPr>
              <a:t>Standard 2-week cycles, scalable as needed</a:t>
            </a:r>
            <a:endParaRPr sz="1800">
              <a:solidFill>
                <a:srgbClr val="FFFFFF"/>
              </a:solidFill>
              <a:latin typeface="Rethink Sans"/>
              <a:ea typeface="Rethink Sans"/>
              <a:cs typeface="Rethink Sans"/>
              <a:sym typeface="Rethink Sans"/>
            </a:endParaRPr>
          </a:p>
          <a:p>
            <a:pPr indent="0" lvl="0" marL="0" rtl="0" algn="l">
              <a:lnSpc>
                <a:spcPct val="130000"/>
              </a:lnSpc>
              <a:spcBef>
                <a:spcPts val="1000"/>
              </a:spcBef>
              <a:spcAft>
                <a:spcPts val="0"/>
              </a:spcAft>
              <a:buNone/>
            </a:pPr>
            <a:r>
              <a:rPr b="1" lang="en-US" sz="1800">
                <a:solidFill>
                  <a:srgbClr val="FFFFFF"/>
                </a:solidFill>
                <a:latin typeface="Rethink Sans"/>
                <a:ea typeface="Rethink Sans"/>
                <a:cs typeface="Rethink Sans"/>
                <a:sym typeface="Rethink Sans"/>
              </a:rPr>
              <a:t>Scope: </a:t>
            </a:r>
            <a:r>
              <a:rPr lang="en-US" sz="1800">
                <a:solidFill>
                  <a:srgbClr val="FFFFFF"/>
                </a:solidFill>
                <a:latin typeface="Rethink Sans"/>
                <a:ea typeface="Rethink Sans"/>
                <a:cs typeface="Rethink Sans"/>
                <a:sym typeface="Rethink Sans"/>
              </a:rPr>
              <a:t>Focused tasks, A/B test variations, rapid prototyping, or micro-service development.</a:t>
            </a:r>
            <a:endParaRPr sz="1800">
              <a:solidFill>
                <a:srgbClr val="FFFFFF"/>
              </a:solidFill>
              <a:latin typeface="Rethink Sans"/>
              <a:ea typeface="Rethink Sans"/>
              <a:cs typeface="Rethink Sans"/>
              <a:sym typeface="Rethink Sans"/>
            </a:endParaRPr>
          </a:p>
          <a:p>
            <a:pPr indent="0" lvl="0" marL="0" rtl="0" algn="l">
              <a:lnSpc>
                <a:spcPct val="130000"/>
              </a:lnSpc>
              <a:spcBef>
                <a:spcPts val="1000"/>
              </a:spcBef>
              <a:spcAft>
                <a:spcPts val="1000"/>
              </a:spcAft>
              <a:buNone/>
            </a:pPr>
            <a:r>
              <a:rPr b="1" lang="en-US" sz="1800">
                <a:solidFill>
                  <a:srgbClr val="FFFFFF"/>
                </a:solidFill>
                <a:latin typeface="Rethink Sans"/>
                <a:ea typeface="Rethink Sans"/>
                <a:cs typeface="Rethink Sans"/>
                <a:sym typeface="Rethink Sans"/>
              </a:rPr>
              <a:t>Best for: </a:t>
            </a:r>
            <a:r>
              <a:rPr lang="en-US" sz="1800">
                <a:solidFill>
                  <a:srgbClr val="FFFFFF"/>
                </a:solidFill>
                <a:latin typeface="Rethink Sans"/>
                <a:ea typeface="Rethink Sans"/>
                <a:cs typeface="Rethink Sans"/>
                <a:sym typeface="Rethink Sans"/>
              </a:rPr>
              <a:t>Teams needing fast, focused digital sprints.</a:t>
            </a:r>
            <a:endParaRPr sz="1800">
              <a:solidFill>
                <a:schemeClr val="dk1"/>
              </a:solidFill>
            </a:endParaRPr>
          </a:p>
        </p:txBody>
      </p:sp>
      <p:cxnSp>
        <p:nvCxnSpPr>
          <p:cNvPr id="257" name="Google Shape;257;p48"/>
          <p:cNvCxnSpPr/>
          <p:nvPr/>
        </p:nvCxnSpPr>
        <p:spPr>
          <a:xfrm>
            <a:off x="919650" y="4055325"/>
            <a:ext cx="3553800" cy="0"/>
          </a:xfrm>
          <a:prstGeom prst="straightConnector1">
            <a:avLst/>
          </a:prstGeom>
          <a:noFill/>
          <a:ln cap="flat" cmpd="sng" w="9525">
            <a:solidFill>
              <a:schemeClr val="lt1"/>
            </a:solidFill>
            <a:prstDash val="solid"/>
            <a:round/>
            <a:headEnd len="med" w="med" type="none"/>
            <a:tailEnd len="med" w="med" type="none"/>
          </a:ln>
        </p:spPr>
      </p:cxnSp>
      <p:cxnSp>
        <p:nvCxnSpPr>
          <p:cNvPr id="258" name="Google Shape;258;p48"/>
          <p:cNvCxnSpPr/>
          <p:nvPr/>
        </p:nvCxnSpPr>
        <p:spPr>
          <a:xfrm>
            <a:off x="5538300" y="4055325"/>
            <a:ext cx="3553800" cy="0"/>
          </a:xfrm>
          <a:prstGeom prst="straightConnector1">
            <a:avLst/>
          </a:prstGeom>
          <a:noFill/>
          <a:ln cap="flat" cmpd="sng" w="9525">
            <a:solidFill>
              <a:schemeClr val="lt1"/>
            </a:solidFill>
            <a:prstDash val="solid"/>
            <a:round/>
            <a:headEnd len="med" w="med" type="none"/>
            <a:tailEnd len="med" w="med" type="none"/>
          </a:ln>
        </p:spPr>
      </p:cxnSp>
      <p:cxnSp>
        <p:nvCxnSpPr>
          <p:cNvPr id="259" name="Google Shape;259;p48"/>
          <p:cNvCxnSpPr/>
          <p:nvPr/>
        </p:nvCxnSpPr>
        <p:spPr>
          <a:xfrm>
            <a:off x="10197000" y="4055325"/>
            <a:ext cx="3553800" cy="0"/>
          </a:xfrm>
          <a:prstGeom prst="straightConnector1">
            <a:avLst/>
          </a:prstGeom>
          <a:noFill/>
          <a:ln cap="flat" cmpd="sng" w="9525">
            <a:solidFill>
              <a:schemeClr val="lt1"/>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64" name="Shape 264"/>
        <p:cNvGrpSpPr/>
        <p:nvPr/>
      </p:nvGrpSpPr>
      <p:grpSpPr>
        <a:xfrm>
          <a:off x="0" y="0"/>
          <a:ext cx="0" cy="0"/>
          <a:chOff x="0" y="0"/>
          <a:chExt cx="0" cy="0"/>
        </a:xfrm>
      </p:grpSpPr>
      <p:sp>
        <p:nvSpPr>
          <p:cNvPr id="265" name="Google Shape;265;p49"/>
          <p:cNvSpPr/>
          <p:nvPr/>
        </p:nvSpPr>
        <p:spPr>
          <a:xfrm>
            <a:off x="1144865" y="4248100"/>
            <a:ext cx="60216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b="0" i="0" lang="en-US" sz="2450" u="none" cap="none" strike="noStrike">
                <a:solidFill>
                  <a:srgbClr val="FEFEFE"/>
                </a:solidFill>
                <a:latin typeface="Funnel Display"/>
                <a:ea typeface="Funnel Display"/>
                <a:cs typeface="Funnel Display"/>
                <a:sym typeface="Funnel Display"/>
              </a:rPr>
              <a:t>Data-Driven Strategy</a:t>
            </a:r>
            <a:endParaRPr b="0" i="0" sz="2450" u="none" cap="none" strike="noStrike"/>
          </a:p>
        </p:txBody>
      </p:sp>
      <p:sp>
        <p:nvSpPr>
          <p:cNvPr id="266" name="Google Shape;266;p49"/>
          <p:cNvSpPr/>
          <p:nvPr/>
        </p:nvSpPr>
        <p:spPr>
          <a:xfrm>
            <a:off x="805350" y="4866125"/>
            <a:ext cx="6021600" cy="793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0" i="0" lang="en-US" sz="1800" u="none" cap="none" strike="noStrike">
                <a:solidFill>
                  <a:srgbClr val="FEFEFE"/>
                </a:solidFill>
                <a:latin typeface="Rethink Sans"/>
                <a:ea typeface="Rethink Sans"/>
                <a:cs typeface="Rethink Sans"/>
                <a:sym typeface="Rethink Sans"/>
              </a:rPr>
              <a:t>Harnessing advanced analytics platforms and AI/ML tools to extract actionable insights, inform </a:t>
            </a:r>
            <a:r>
              <a:rPr lang="en-US" sz="1800">
                <a:solidFill>
                  <a:srgbClr val="FEFEFE"/>
                </a:solidFill>
                <a:latin typeface="Rethink Sans"/>
                <a:ea typeface="Rethink Sans"/>
                <a:cs typeface="Rethink Sans"/>
                <a:sym typeface="Rethink Sans"/>
              </a:rPr>
              <a:t>strategy.</a:t>
            </a:r>
            <a:endParaRPr b="0" i="0" sz="1800" u="none" cap="none" strike="noStrike"/>
          </a:p>
        </p:txBody>
      </p:sp>
      <p:sp>
        <p:nvSpPr>
          <p:cNvPr id="267" name="Google Shape;267;p49"/>
          <p:cNvSpPr/>
          <p:nvPr/>
        </p:nvSpPr>
        <p:spPr>
          <a:xfrm>
            <a:off x="8107433" y="4248100"/>
            <a:ext cx="60219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b="0" i="0" lang="en-US" sz="2450" u="none" cap="none" strike="noStrike">
                <a:solidFill>
                  <a:srgbClr val="FEFEFE"/>
                </a:solidFill>
                <a:latin typeface="Funnel Display"/>
                <a:ea typeface="Funnel Display"/>
                <a:cs typeface="Funnel Display"/>
                <a:sym typeface="Funnel Display"/>
              </a:rPr>
              <a:t>Full-Stack Development</a:t>
            </a:r>
            <a:endParaRPr b="0" i="0" sz="2450" u="none" cap="none" strike="noStrike"/>
          </a:p>
        </p:txBody>
      </p:sp>
      <p:sp>
        <p:nvSpPr>
          <p:cNvPr id="268" name="Google Shape;268;p49"/>
          <p:cNvSpPr/>
          <p:nvPr/>
        </p:nvSpPr>
        <p:spPr>
          <a:xfrm>
            <a:off x="7767916" y="4866125"/>
            <a:ext cx="6021900" cy="793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0" i="0" lang="en-US" sz="1800" u="none" cap="none" strike="noStrike">
                <a:solidFill>
                  <a:srgbClr val="FEFEFE"/>
                </a:solidFill>
                <a:latin typeface="Rethink Sans"/>
                <a:ea typeface="Rethink Sans"/>
                <a:cs typeface="Rethink Sans"/>
                <a:sym typeface="Rethink Sans"/>
              </a:rPr>
              <a:t>Leveraging cutting-edge web frameworks (React, Vue.js), robust back-end</a:t>
            </a:r>
            <a:r>
              <a:rPr b="0" i="0" lang="en-US" sz="1800" u="none" cap="none" strike="noStrike">
                <a:solidFill>
                  <a:srgbClr val="FEFEFE"/>
                </a:solidFill>
                <a:latin typeface="Rethink Sans"/>
                <a:ea typeface="Rethink Sans"/>
                <a:cs typeface="Rethink Sans"/>
                <a:sym typeface="Rethink Sans"/>
              </a:rPr>
              <a:t> </a:t>
            </a:r>
            <a:r>
              <a:rPr b="0" i="0" lang="en-US" sz="1800" u="none" cap="none" strike="noStrike">
                <a:solidFill>
                  <a:srgbClr val="FEFEFE"/>
                </a:solidFill>
                <a:latin typeface="Rethink Sans"/>
                <a:ea typeface="Rethink Sans"/>
                <a:cs typeface="Rethink Sans"/>
                <a:sym typeface="Rethink Sans"/>
              </a:rPr>
              <a:t>solutions (Node.js, Python)</a:t>
            </a:r>
            <a:r>
              <a:rPr lang="en-US" sz="1800">
                <a:solidFill>
                  <a:srgbClr val="FEFEFE"/>
                </a:solidFill>
                <a:latin typeface="Rethink Sans"/>
                <a:ea typeface="Rethink Sans"/>
                <a:cs typeface="Rethink Sans"/>
                <a:sym typeface="Rethink Sans"/>
              </a:rPr>
              <a:t>.</a:t>
            </a:r>
            <a:endParaRPr b="0" i="0" sz="1800" u="none" cap="none" strike="noStrike"/>
          </a:p>
        </p:txBody>
      </p:sp>
      <p:sp>
        <p:nvSpPr>
          <p:cNvPr id="269" name="Google Shape;269;p49"/>
          <p:cNvSpPr/>
          <p:nvPr/>
        </p:nvSpPr>
        <p:spPr>
          <a:xfrm>
            <a:off x="1144850" y="6164998"/>
            <a:ext cx="60216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b="0" i="0" lang="en-US" sz="2450" u="none" cap="none" strike="noStrike">
                <a:solidFill>
                  <a:srgbClr val="FEFEFE"/>
                </a:solidFill>
                <a:latin typeface="Funnel Display"/>
                <a:ea typeface="Funnel Display"/>
                <a:cs typeface="Funnel Display"/>
                <a:sym typeface="Funnel Display"/>
              </a:rPr>
              <a:t>Digital Marketing &amp; Analytics</a:t>
            </a:r>
            <a:endParaRPr b="0" i="0" sz="2450" u="none" cap="none" strike="noStrike"/>
          </a:p>
        </p:txBody>
      </p:sp>
      <p:sp>
        <p:nvSpPr>
          <p:cNvPr id="270" name="Google Shape;270;p49"/>
          <p:cNvSpPr/>
          <p:nvPr/>
        </p:nvSpPr>
        <p:spPr>
          <a:xfrm>
            <a:off x="805350" y="6783026"/>
            <a:ext cx="6021600" cy="793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0" i="0" lang="en-US" sz="1800" u="none" cap="none" strike="noStrike">
                <a:solidFill>
                  <a:srgbClr val="FEFEFE"/>
                </a:solidFill>
                <a:latin typeface="Rethink Sans"/>
                <a:ea typeface="Rethink Sans"/>
                <a:cs typeface="Rethink Sans"/>
                <a:sym typeface="Rethink Sans"/>
              </a:rPr>
              <a:t>Utilizing comprehensive marketing automation suites (HubSpot, Salesforce Marketing Cloud)</a:t>
            </a:r>
            <a:r>
              <a:rPr lang="en-US" sz="1800">
                <a:solidFill>
                  <a:srgbClr val="FEFEFE"/>
                </a:solidFill>
                <a:latin typeface="Rethink Sans"/>
                <a:ea typeface="Rethink Sans"/>
                <a:cs typeface="Rethink Sans"/>
                <a:sym typeface="Rethink Sans"/>
              </a:rPr>
              <a:t>.</a:t>
            </a:r>
            <a:endParaRPr b="0" i="0" sz="1800" u="none" cap="none" strike="noStrike"/>
          </a:p>
        </p:txBody>
      </p:sp>
      <p:sp>
        <p:nvSpPr>
          <p:cNvPr id="271" name="Google Shape;271;p49"/>
          <p:cNvSpPr/>
          <p:nvPr/>
        </p:nvSpPr>
        <p:spPr>
          <a:xfrm>
            <a:off x="8107431" y="6164998"/>
            <a:ext cx="60219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b="0" i="0" lang="en-US" sz="2450" u="none" cap="none" strike="noStrike">
                <a:solidFill>
                  <a:srgbClr val="FEFEFE"/>
                </a:solidFill>
                <a:latin typeface="Funnel Display"/>
                <a:ea typeface="Funnel Display"/>
                <a:cs typeface="Funnel Display"/>
                <a:sym typeface="Funnel Display"/>
              </a:rPr>
              <a:t>Cloud Infrastructure &amp; AI</a:t>
            </a:r>
            <a:endParaRPr b="0" i="0" sz="2450" u="none" cap="none" strike="noStrike"/>
          </a:p>
        </p:txBody>
      </p:sp>
      <p:sp>
        <p:nvSpPr>
          <p:cNvPr id="272" name="Google Shape;272;p49"/>
          <p:cNvSpPr/>
          <p:nvPr/>
        </p:nvSpPr>
        <p:spPr>
          <a:xfrm>
            <a:off x="7767916" y="6783024"/>
            <a:ext cx="6021900" cy="793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b="0" i="0" lang="en-US" sz="1800" u="none" cap="none" strike="noStrike">
                <a:solidFill>
                  <a:srgbClr val="FEFEFE"/>
                </a:solidFill>
                <a:latin typeface="Rethink Sans"/>
                <a:ea typeface="Rethink Sans"/>
                <a:cs typeface="Rethink Sans"/>
                <a:sym typeface="Rethink Sans"/>
              </a:rPr>
              <a:t>Building resilient and high-performance solutions on leading cloud providers (AWS, Google Cloud, Azure)</a:t>
            </a:r>
            <a:r>
              <a:rPr lang="en-US" sz="1800">
                <a:solidFill>
                  <a:srgbClr val="FEFEFE"/>
                </a:solidFill>
                <a:latin typeface="Rethink Sans"/>
                <a:ea typeface="Rethink Sans"/>
                <a:cs typeface="Rethink Sans"/>
                <a:sym typeface="Rethink Sans"/>
              </a:rPr>
              <a:t>.</a:t>
            </a:r>
            <a:endParaRPr b="0" i="0" sz="1800" u="none" cap="none" strike="noStrike"/>
          </a:p>
        </p:txBody>
      </p:sp>
      <p:sp>
        <p:nvSpPr>
          <p:cNvPr id="273" name="Google Shape;273;p49"/>
          <p:cNvSpPr/>
          <p:nvPr/>
        </p:nvSpPr>
        <p:spPr>
          <a:xfrm>
            <a:off x="0" y="0"/>
            <a:ext cx="14630400" cy="346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49"/>
          <p:cNvSpPr/>
          <p:nvPr/>
        </p:nvSpPr>
        <p:spPr>
          <a:xfrm>
            <a:off x="0" y="0"/>
            <a:ext cx="14630400" cy="3469800"/>
          </a:xfrm>
          <a:prstGeom prst="rect">
            <a:avLst/>
          </a:prstGeom>
          <a:solidFill>
            <a:srgbClr val="000000">
              <a:alpha val="3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49"/>
          <p:cNvSpPr/>
          <p:nvPr/>
        </p:nvSpPr>
        <p:spPr>
          <a:xfrm>
            <a:off x="793805" y="2350200"/>
            <a:ext cx="7653900" cy="6201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Our Core Technologies &amp; Tools</a:t>
            </a:r>
            <a:endParaRPr b="0" i="0" sz="3900" u="none" cap="none" strike="noStrike"/>
          </a:p>
        </p:txBody>
      </p:sp>
      <p:pic>
        <p:nvPicPr>
          <p:cNvPr id="276" name="Google Shape;276;p49"/>
          <p:cNvPicPr preferRelativeResize="0"/>
          <p:nvPr/>
        </p:nvPicPr>
        <p:blipFill>
          <a:blip r:embed="rId3">
            <a:alphaModFix/>
          </a:blip>
          <a:stretch>
            <a:fillRect/>
          </a:stretch>
        </p:blipFill>
        <p:spPr>
          <a:xfrm>
            <a:off x="805350" y="4319987"/>
            <a:ext cx="190625" cy="190625"/>
          </a:xfrm>
          <a:prstGeom prst="rect">
            <a:avLst/>
          </a:prstGeom>
          <a:noFill/>
          <a:ln>
            <a:noFill/>
          </a:ln>
        </p:spPr>
      </p:pic>
      <p:pic>
        <p:nvPicPr>
          <p:cNvPr id="277" name="Google Shape;277;p49"/>
          <p:cNvPicPr preferRelativeResize="0"/>
          <p:nvPr/>
        </p:nvPicPr>
        <p:blipFill>
          <a:blip r:embed="rId3">
            <a:alphaModFix/>
          </a:blip>
          <a:stretch>
            <a:fillRect/>
          </a:stretch>
        </p:blipFill>
        <p:spPr>
          <a:xfrm>
            <a:off x="805350" y="6231350"/>
            <a:ext cx="190625" cy="190625"/>
          </a:xfrm>
          <a:prstGeom prst="rect">
            <a:avLst/>
          </a:prstGeom>
          <a:noFill/>
          <a:ln>
            <a:noFill/>
          </a:ln>
        </p:spPr>
      </p:pic>
      <p:pic>
        <p:nvPicPr>
          <p:cNvPr id="278" name="Google Shape;278;p49"/>
          <p:cNvPicPr preferRelativeResize="0"/>
          <p:nvPr/>
        </p:nvPicPr>
        <p:blipFill>
          <a:blip r:embed="rId3">
            <a:alphaModFix/>
          </a:blip>
          <a:stretch>
            <a:fillRect/>
          </a:stretch>
        </p:blipFill>
        <p:spPr>
          <a:xfrm>
            <a:off x="7767925" y="4319987"/>
            <a:ext cx="190625" cy="190625"/>
          </a:xfrm>
          <a:prstGeom prst="rect">
            <a:avLst/>
          </a:prstGeom>
          <a:noFill/>
          <a:ln>
            <a:noFill/>
          </a:ln>
        </p:spPr>
      </p:pic>
      <p:pic>
        <p:nvPicPr>
          <p:cNvPr id="279" name="Google Shape;279;p49"/>
          <p:cNvPicPr preferRelativeResize="0"/>
          <p:nvPr/>
        </p:nvPicPr>
        <p:blipFill>
          <a:blip r:embed="rId3">
            <a:alphaModFix/>
          </a:blip>
          <a:stretch>
            <a:fillRect/>
          </a:stretch>
        </p:blipFill>
        <p:spPr>
          <a:xfrm>
            <a:off x="7767925" y="6231350"/>
            <a:ext cx="190625" cy="190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84" name="Shape 284"/>
        <p:cNvGrpSpPr/>
        <p:nvPr/>
      </p:nvGrpSpPr>
      <p:grpSpPr>
        <a:xfrm>
          <a:off x="0" y="0"/>
          <a:ext cx="0" cy="0"/>
          <a:chOff x="0" y="0"/>
          <a:chExt cx="0" cy="0"/>
        </a:xfrm>
      </p:grpSpPr>
      <p:sp>
        <p:nvSpPr>
          <p:cNvPr id="285" name="Google Shape;285;p50"/>
          <p:cNvSpPr/>
          <p:nvPr/>
        </p:nvSpPr>
        <p:spPr>
          <a:xfrm>
            <a:off x="1316175" y="2024375"/>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b="0" i="0" lang="en-US" sz="2450" u="none" cap="none" strike="noStrike">
                <a:solidFill>
                  <a:srgbClr val="FEFEFE"/>
                </a:solidFill>
                <a:latin typeface="Funnel Display"/>
                <a:ea typeface="Funnel Display"/>
                <a:cs typeface="Funnel Display"/>
                <a:sym typeface="Funnel Display"/>
              </a:rPr>
              <a:t>Problem</a:t>
            </a:r>
            <a:endParaRPr b="0" i="0" sz="2450" u="none" cap="none" strike="noStrike"/>
          </a:p>
        </p:txBody>
      </p:sp>
      <p:sp>
        <p:nvSpPr>
          <p:cNvPr id="286" name="Google Shape;286;p50"/>
          <p:cNvSpPr/>
          <p:nvPr/>
        </p:nvSpPr>
        <p:spPr>
          <a:xfrm>
            <a:off x="1316175" y="2693627"/>
            <a:ext cx="12520500" cy="827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0" i="0" lang="en-US" sz="1800" u="none" cap="none" strike="noStrike">
                <a:solidFill>
                  <a:srgbClr val="FEFEFE"/>
                </a:solidFill>
                <a:latin typeface="Rethink Sans"/>
                <a:ea typeface="Rethink Sans"/>
                <a:cs typeface="Rethink Sans"/>
                <a:sym typeface="Rethink Sans"/>
              </a:rPr>
              <a:t>When TBS Digital Labs began collaborating with "StyleHub", a national fashion retailer, their in-store customer engagement was plummeting. Shoppers were bypassing physical stores for online alternative</a:t>
            </a:r>
            <a:r>
              <a:rPr lang="en-US" sz="1800">
                <a:solidFill>
                  <a:srgbClr val="FEFEFE"/>
                </a:solidFill>
                <a:latin typeface="Rethink Sans"/>
                <a:ea typeface="Rethink Sans"/>
                <a:cs typeface="Rethink Sans"/>
                <a:sym typeface="Rethink Sans"/>
              </a:rPr>
              <a:t>s.</a:t>
            </a:r>
            <a:endParaRPr b="0" i="0" sz="1800" u="none" cap="none" strike="noStrike"/>
          </a:p>
        </p:txBody>
      </p:sp>
      <p:sp>
        <p:nvSpPr>
          <p:cNvPr id="287" name="Google Shape;287;p50"/>
          <p:cNvSpPr/>
          <p:nvPr/>
        </p:nvSpPr>
        <p:spPr>
          <a:xfrm>
            <a:off x="1316175" y="3903182"/>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b="0" i="0" lang="en-US" sz="2450" u="none" cap="none" strike="noStrike">
                <a:solidFill>
                  <a:srgbClr val="FEFEFE"/>
                </a:solidFill>
                <a:latin typeface="Funnel Display"/>
                <a:ea typeface="Funnel Display"/>
                <a:cs typeface="Funnel Display"/>
                <a:sym typeface="Funnel Display"/>
              </a:rPr>
              <a:t>Solution</a:t>
            </a:r>
            <a:endParaRPr b="0" i="0" sz="2450" u="none" cap="none" strike="noStrike"/>
          </a:p>
        </p:txBody>
      </p:sp>
      <p:sp>
        <p:nvSpPr>
          <p:cNvPr id="288" name="Google Shape;288;p50"/>
          <p:cNvSpPr/>
          <p:nvPr/>
        </p:nvSpPr>
        <p:spPr>
          <a:xfrm>
            <a:off x="1316175" y="4572445"/>
            <a:ext cx="12520500" cy="827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0" i="0" lang="en-US" sz="1800" u="none" cap="none" strike="noStrike">
                <a:solidFill>
                  <a:srgbClr val="FEFEFE"/>
                </a:solidFill>
                <a:latin typeface="Rethink Sans"/>
                <a:ea typeface="Rethink Sans"/>
                <a:cs typeface="Rethink Sans"/>
                <a:sym typeface="Rethink Sans"/>
              </a:rPr>
              <a:t>TBS Digital Labs, a leading digital transformation agency founded in 2015, developed an integrated digital experience to amplify StyleHub's market impact. </a:t>
            </a:r>
            <a:r>
              <a:rPr b="0" i="0" lang="en-US" sz="1800" u="none" cap="none" strike="noStrike">
                <a:solidFill>
                  <a:srgbClr val="FEFEFE"/>
                </a:solidFill>
                <a:latin typeface="Rethink Sans"/>
                <a:ea typeface="Rethink Sans"/>
                <a:cs typeface="Rethink Sans"/>
                <a:sym typeface="Rethink Sans"/>
              </a:rPr>
              <a:t>Our team implemented interactive touchscreen kiosks</a:t>
            </a:r>
            <a:r>
              <a:rPr lang="en-US" sz="1800">
                <a:solidFill>
                  <a:srgbClr val="FEFEFE"/>
                </a:solidFill>
                <a:latin typeface="Rethink Sans"/>
                <a:ea typeface="Rethink Sans"/>
                <a:cs typeface="Rethink Sans"/>
                <a:sym typeface="Rethink Sans"/>
              </a:rPr>
              <a:t> that are</a:t>
            </a:r>
            <a:r>
              <a:rPr b="0" i="0" lang="en-US" sz="1800" u="none" cap="none" strike="noStrike">
                <a:solidFill>
                  <a:srgbClr val="FEFEFE"/>
                </a:solidFill>
                <a:latin typeface="Rethink Sans"/>
                <a:ea typeface="Rethink Sans"/>
                <a:cs typeface="Rethink Sans"/>
                <a:sym typeface="Rethink Sans"/>
              </a:rPr>
              <a:t> AI-powered</a:t>
            </a:r>
            <a:r>
              <a:rPr lang="en-US" sz="1800">
                <a:solidFill>
                  <a:srgbClr val="FEFEFE"/>
                </a:solidFill>
                <a:latin typeface="Rethink Sans"/>
                <a:ea typeface="Rethink Sans"/>
                <a:cs typeface="Rethink Sans"/>
                <a:sym typeface="Rethink Sans"/>
              </a:rPr>
              <a:t>.</a:t>
            </a:r>
            <a:endParaRPr b="0" i="0" sz="1800" u="none" cap="none" strike="noStrike"/>
          </a:p>
        </p:txBody>
      </p:sp>
      <p:sp>
        <p:nvSpPr>
          <p:cNvPr id="289" name="Google Shape;289;p50"/>
          <p:cNvSpPr/>
          <p:nvPr/>
        </p:nvSpPr>
        <p:spPr>
          <a:xfrm>
            <a:off x="1316175" y="5781992"/>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b="0" i="0" lang="en-US" sz="2450" u="none" cap="none" strike="noStrike">
                <a:solidFill>
                  <a:srgbClr val="FEFEFE"/>
                </a:solidFill>
                <a:latin typeface="Funnel Display"/>
                <a:ea typeface="Funnel Display"/>
                <a:cs typeface="Funnel Display"/>
                <a:sym typeface="Funnel Display"/>
              </a:rPr>
              <a:t>Results</a:t>
            </a:r>
            <a:endParaRPr b="0" i="0" sz="2450" u="none" cap="none" strike="noStrike"/>
          </a:p>
        </p:txBody>
      </p:sp>
      <p:sp>
        <p:nvSpPr>
          <p:cNvPr id="290" name="Google Shape;290;p50"/>
          <p:cNvSpPr/>
          <p:nvPr/>
        </p:nvSpPr>
        <p:spPr>
          <a:xfrm>
            <a:off x="1316175" y="6451250"/>
            <a:ext cx="12520500" cy="827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0" i="0" lang="en-US" sz="1800" u="none" cap="none" strike="noStrike">
                <a:solidFill>
                  <a:srgbClr val="FEFEFE"/>
                </a:solidFill>
                <a:latin typeface="Rethink Sans"/>
                <a:ea typeface="Rethink Sans"/>
                <a:cs typeface="Rethink Sans"/>
                <a:sym typeface="Rethink Sans"/>
              </a:rPr>
              <a:t>The transformation revitalized StyleHub's physical stores, solidifying their market authority. Within three months of full implementation, StyleHub saw a </a:t>
            </a:r>
            <a:r>
              <a:rPr b="1" i="0" lang="en-US" sz="1800" u="none" cap="none" strike="noStrike">
                <a:solidFill>
                  <a:srgbClr val="FEFEFE"/>
                </a:solidFill>
                <a:latin typeface="Rethink Sans"/>
                <a:ea typeface="Rethink Sans"/>
                <a:cs typeface="Rethink Sans"/>
                <a:sym typeface="Rethink Sans"/>
              </a:rPr>
              <a:t>25% increase in in-store engagement</a:t>
            </a:r>
            <a:r>
              <a:rPr b="0" i="0" lang="en-US" sz="1800" u="none" cap="none" strike="noStrike">
                <a:solidFill>
                  <a:srgbClr val="FEFEFE"/>
                </a:solidFill>
                <a:latin typeface="Rethink Sans"/>
                <a:ea typeface="Rethink Sans"/>
                <a:cs typeface="Rethink Sans"/>
                <a:sym typeface="Rethink Sans"/>
              </a:rPr>
              <a:t>, measured by kiosk interactions and dwell time</a:t>
            </a:r>
            <a:r>
              <a:rPr lang="en-US" sz="1800">
                <a:solidFill>
                  <a:srgbClr val="FEFEFE"/>
                </a:solidFill>
                <a:latin typeface="Rethink Sans"/>
                <a:ea typeface="Rethink Sans"/>
                <a:cs typeface="Rethink Sans"/>
                <a:sym typeface="Rethink Sans"/>
              </a:rPr>
              <a:t>.</a:t>
            </a:r>
            <a:endParaRPr b="0" i="0" sz="1800" u="none" cap="none" strike="noStrike"/>
          </a:p>
        </p:txBody>
      </p:sp>
      <p:sp>
        <p:nvSpPr>
          <p:cNvPr id="291" name="Google Shape;291;p50"/>
          <p:cNvSpPr/>
          <p:nvPr/>
        </p:nvSpPr>
        <p:spPr>
          <a:xfrm>
            <a:off x="727695" y="645200"/>
            <a:ext cx="85089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Case Study: </a:t>
            </a:r>
            <a:r>
              <a:rPr lang="en-US" sz="3900">
                <a:solidFill>
                  <a:srgbClr val="61BDBA"/>
                </a:solidFill>
                <a:latin typeface="Funnel Display"/>
                <a:ea typeface="Funnel Display"/>
                <a:cs typeface="Funnel Display"/>
                <a:sym typeface="Funnel Display"/>
              </a:rPr>
              <a:t>Retail Transformation</a:t>
            </a:r>
            <a:endParaRPr b="0" i="0" sz="3900" u="none" cap="none" strike="noStrike">
              <a:solidFill>
                <a:srgbClr val="61BDBA"/>
              </a:solidFill>
            </a:endParaRPr>
          </a:p>
        </p:txBody>
      </p:sp>
      <p:pic>
        <p:nvPicPr>
          <p:cNvPr id="292" name="Google Shape;292;p50"/>
          <p:cNvPicPr preferRelativeResize="0"/>
          <p:nvPr/>
        </p:nvPicPr>
        <p:blipFill>
          <a:blip r:embed="rId3">
            <a:alphaModFix/>
          </a:blip>
          <a:stretch>
            <a:fillRect/>
          </a:stretch>
        </p:blipFill>
        <p:spPr>
          <a:xfrm>
            <a:off x="805350" y="2119575"/>
            <a:ext cx="264900" cy="264900"/>
          </a:xfrm>
          <a:prstGeom prst="rect">
            <a:avLst/>
          </a:prstGeom>
          <a:noFill/>
          <a:ln>
            <a:noFill/>
          </a:ln>
        </p:spPr>
      </p:pic>
      <p:pic>
        <p:nvPicPr>
          <p:cNvPr id="293" name="Google Shape;293;p50"/>
          <p:cNvPicPr preferRelativeResize="0"/>
          <p:nvPr/>
        </p:nvPicPr>
        <p:blipFill>
          <a:blip r:embed="rId3">
            <a:alphaModFix/>
          </a:blip>
          <a:stretch>
            <a:fillRect/>
          </a:stretch>
        </p:blipFill>
        <p:spPr>
          <a:xfrm>
            <a:off x="805350" y="3998387"/>
            <a:ext cx="264900" cy="264900"/>
          </a:xfrm>
          <a:prstGeom prst="rect">
            <a:avLst/>
          </a:prstGeom>
          <a:noFill/>
          <a:ln>
            <a:noFill/>
          </a:ln>
        </p:spPr>
      </p:pic>
      <p:pic>
        <p:nvPicPr>
          <p:cNvPr id="294" name="Google Shape;294;p50"/>
          <p:cNvPicPr preferRelativeResize="0"/>
          <p:nvPr/>
        </p:nvPicPr>
        <p:blipFill>
          <a:blip r:embed="rId3">
            <a:alphaModFix/>
          </a:blip>
          <a:stretch>
            <a:fillRect/>
          </a:stretch>
        </p:blipFill>
        <p:spPr>
          <a:xfrm>
            <a:off x="805350" y="5877175"/>
            <a:ext cx="264900" cy="26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299" name="Shape 299"/>
        <p:cNvGrpSpPr/>
        <p:nvPr/>
      </p:nvGrpSpPr>
      <p:grpSpPr>
        <a:xfrm>
          <a:off x="0" y="0"/>
          <a:ext cx="0" cy="0"/>
          <a:chOff x="0" y="0"/>
          <a:chExt cx="0" cy="0"/>
        </a:xfrm>
      </p:grpSpPr>
      <p:pic>
        <p:nvPicPr>
          <p:cNvPr id="300" name="Google Shape;300;p51" title="Frame 67.jpg"/>
          <p:cNvPicPr preferRelativeResize="0"/>
          <p:nvPr/>
        </p:nvPicPr>
        <p:blipFill>
          <a:blip r:embed="rId3">
            <a:alphaModFix/>
          </a:blip>
          <a:stretch>
            <a:fillRect/>
          </a:stretch>
        </p:blipFill>
        <p:spPr>
          <a:xfrm>
            <a:off x="0" y="0"/>
            <a:ext cx="14630400" cy="8229600"/>
          </a:xfrm>
          <a:prstGeom prst="rect">
            <a:avLst/>
          </a:prstGeom>
          <a:noFill/>
          <a:ln>
            <a:noFill/>
          </a:ln>
        </p:spPr>
      </p:pic>
      <p:sp>
        <p:nvSpPr>
          <p:cNvPr id="301" name="Google Shape;301;p51"/>
          <p:cNvSpPr/>
          <p:nvPr/>
        </p:nvSpPr>
        <p:spPr>
          <a:xfrm>
            <a:off x="6280200" y="2404925"/>
            <a:ext cx="7122900" cy="18633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EFEFE"/>
              </a:buClr>
              <a:buSzPts val="2800"/>
              <a:buFont typeface="Funnel Display"/>
              <a:buNone/>
            </a:pPr>
            <a:r>
              <a:rPr b="0" i="0" lang="en-US" sz="5600" u="none" cap="none" strike="noStrike">
                <a:solidFill>
                  <a:srgbClr val="FEFEFE"/>
                </a:solidFill>
                <a:latin typeface="Funnel Display"/>
                <a:ea typeface="Funnel Display"/>
                <a:cs typeface="Funnel Display"/>
                <a:sym typeface="Funnel Display"/>
              </a:rPr>
              <a:t>"TBS Digital Labs truly transformed our</a:t>
            </a:r>
            <a:r>
              <a:rPr lang="en-US" sz="5600">
                <a:solidFill>
                  <a:srgbClr val="FEFEFE"/>
                </a:solidFill>
                <a:latin typeface="Funnel Display"/>
                <a:ea typeface="Funnel Display"/>
                <a:cs typeface="Funnel Display"/>
                <a:sym typeface="Funnel Display"/>
              </a:rPr>
              <a:t> </a:t>
            </a:r>
            <a:r>
              <a:rPr b="0" i="0" lang="en-US" sz="5600" u="none" cap="none" strike="noStrike">
                <a:solidFill>
                  <a:srgbClr val="FEFEFE"/>
                </a:solidFill>
                <a:latin typeface="Funnel Display"/>
                <a:ea typeface="Funnel Display"/>
                <a:cs typeface="Funnel Display"/>
                <a:sym typeface="Funnel Display"/>
              </a:rPr>
              <a:t>brand presence.</a:t>
            </a:r>
            <a:endParaRPr b="0" i="0" sz="5600" u="none" cap="none" strike="noStrike"/>
          </a:p>
        </p:txBody>
      </p:sp>
      <p:sp>
        <p:nvSpPr>
          <p:cNvPr id="302" name="Google Shape;302;p51"/>
          <p:cNvSpPr/>
          <p:nvPr/>
        </p:nvSpPr>
        <p:spPr>
          <a:xfrm>
            <a:off x="6820575" y="7232950"/>
            <a:ext cx="6454200" cy="2859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FEFEFE"/>
              </a:buClr>
              <a:buSzPts val="1400"/>
              <a:buFont typeface="Rethink Sans"/>
              <a:buNone/>
            </a:pPr>
            <a:r>
              <a:rPr b="1" i="0" lang="en-US" sz="1800" u="none" cap="none" strike="noStrike">
                <a:solidFill>
                  <a:srgbClr val="FEFEFE"/>
                </a:solidFill>
                <a:latin typeface="Rethink Sans"/>
                <a:ea typeface="Rethink Sans"/>
                <a:cs typeface="Rethink Sans"/>
                <a:sym typeface="Rethink Sans"/>
              </a:rPr>
              <a:t>Sarah Chen</a:t>
            </a:r>
            <a:r>
              <a:rPr b="0" i="0" lang="en-US" sz="1800" u="none" cap="none" strike="noStrike">
                <a:solidFill>
                  <a:srgbClr val="FEFEFE"/>
                </a:solidFill>
                <a:latin typeface="Rethink Sans"/>
                <a:ea typeface="Rethink Sans"/>
                <a:cs typeface="Rethink Sans"/>
                <a:sym typeface="Rethink Sans"/>
              </a:rPr>
              <a:t>, Marketing Director at </a:t>
            </a:r>
            <a:r>
              <a:rPr b="0" i="0" lang="en-US" sz="1800" u="none" cap="none" strike="noStrike">
                <a:solidFill>
                  <a:srgbClr val="7BDCB5"/>
                </a:solidFill>
                <a:latin typeface="Rethink Sans"/>
                <a:ea typeface="Rethink Sans"/>
                <a:cs typeface="Rethink Sans"/>
                <a:sym typeface="Rethink Sans"/>
              </a:rPr>
              <a:t>Aura Innovations</a:t>
            </a:r>
            <a:endParaRPr b="0" i="0" sz="1800" u="none" cap="none" strike="noStrike"/>
          </a:p>
        </p:txBody>
      </p:sp>
      <p:sp>
        <p:nvSpPr>
          <p:cNvPr id="303" name="Google Shape;303;p51"/>
          <p:cNvSpPr/>
          <p:nvPr/>
        </p:nvSpPr>
        <p:spPr>
          <a:xfrm>
            <a:off x="6280200" y="4950837"/>
            <a:ext cx="7556400" cy="1618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EFEFE"/>
              </a:buClr>
              <a:buSzPts val="1400"/>
              <a:buFont typeface="Rethink Sans"/>
              <a:buNone/>
            </a:pPr>
            <a:r>
              <a:rPr lang="en-US" sz="1800">
                <a:solidFill>
                  <a:srgbClr val="FEFEFE"/>
                </a:solidFill>
                <a:latin typeface="Rethink Sans"/>
                <a:ea typeface="Rethink Sans"/>
                <a:cs typeface="Rethink Sans"/>
                <a:sym typeface="Rethink Sans"/>
              </a:rPr>
              <a:t>Their strategic approach and creative execution were unparalleled, leading to a significant uplift in our market engagement and ROI.</a:t>
            </a:r>
            <a:endParaRPr sz="1800">
              <a:solidFill>
                <a:srgbClr val="FEFEFE"/>
              </a:solidFill>
              <a:latin typeface="Rethink Sans"/>
              <a:ea typeface="Rethink Sans"/>
              <a:cs typeface="Rethink Sans"/>
              <a:sym typeface="Rethink Sans"/>
            </a:endParaRPr>
          </a:p>
          <a:p>
            <a:pPr indent="0" lvl="0" marL="0" marR="0" rtl="0" algn="l">
              <a:lnSpc>
                <a:spcPct val="140000"/>
              </a:lnSpc>
              <a:spcBef>
                <a:spcPts val="1600"/>
              </a:spcBef>
              <a:spcAft>
                <a:spcPts val="1600"/>
              </a:spcAft>
              <a:buClr>
                <a:srgbClr val="FEFEFE"/>
              </a:buClr>
              <a:buSzPts val="1400"/>
              <a:buFont typeface="Rethink Sans"/>
              <a:buNone/>
            </a:pPr>
            <a:r>
              <a:rPr b="0" i="0" lang="en-US" sz="1800" u="none" cap="none" strike="noStrike">
                <a:solidFill>
                  <a:srgbClr val="FEFEFE"/>
                </a:solidFill>
                <a:latin typeface="Rethink Sans"/>
                <a:ea typeface="Rethink Sans"/>
                <a:cs typeface="Rethink Sans"/>
                <a:sym typeface="Rethink Sans"/>
              </a:rPr>
              <a:t>TBS Digital Labs' team seamlessly integrated with our marketing department, delivering innovative campaigns</a:t>
            </a:r>
            <a:r>
              <a:rPr lang="en-US" sz="1800">
                <a:solidFill>
                  <a:srgbClr val="FEFEFE"/>
                </a:solidFill>
                <a:latin typeface="Rethink Sans"/>
                <a:ea typeface="Rethink Sans"/>
                <a:cs typeface="Rethink Sans"/>
                <a:sym typeface="Rethink Sans"/>
              </a:rPr>
              <a:t>.</a:t>
            </a:r>
            <a:endParaRPr b="0" i="0" sz="1800" u="none" cap="none" strike="noStrike"/>
          </a:p>
        </p:txBody>
      </p:sp>
      <p:sp>
        <p:nvSpPr>
          <p:cNvPr id="304" name="Google Shape;304;p51"/>
          <p:cNvSpPr/>
          <p:nvPr/>
        </p:nvSpPr>
        <p:spPr>
          <a:xfrm>
            <a:off x="0" y="0"/>
            <a:ext cx="5460300" cy="8251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51"/>
          <p:cNvSpPr/>
          <p:nvPr/>
        </p:nvSpPr>
        <p:spPr>
          <a:xfrm>
            <a:off x="6280195" y="645200"/>
            <a:ext cx="85089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Client </a:t>
            </a:r>
            <a:r>
              <a:rPr lang="en-US" sz="3900">
                <a:solidFill>
                  <a:srgbClr val="D56EED"/>
                </a:solidFill>
                <a:latin typeface="Funnel Display"/>
                <a:ea typeface="Funnel Display"/>
                <a:cs typeface="Funnel Display"/>
                <a:sym typeface="Funnel Display"/>
              </a:rPr>
              <a:t>Testimonials</a:t>
            </a:r>
            <a:endParaRPr b="0" i="0" sz="3900" u="none" cap="none" strike="noStrike">
              <a:solidFill>
                <a:srgbClr val="D56EED"/>
              </a:solidFill>
            </a:endParaRPr>
          </a:p>
        </p:txBody>
      </p:sp>
      <p:pic>
        <p:nvPicPr>
          <p:cNvPr id="306" name="Google Shape;306;p51"/>
          <p:cNvPicPr preferRelativeResize="0"/>
          <p:nvPr/>
        </p:nvPicPr>
        <p:blipFill>
          <a:blip r:embed="rId4">
            <a:alphaModFix/>
          </a:blip>
          <a:stretch>
            <a:fillRect/>
          </a:stretch>
        </p:blipFill>
        <p:spPr>
          <a:xfrm>
            <a:off x="6280188" y="7251961"/>
            <a:ext cx="247863" cy="2478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311" name="Shape 311"/>
        <p:cNvGrpSpPr/>
        <p:nvPr/>
      </p:nvGrpSpPr>
      <p:grpSpPr>
        <a:xfrm>
          <a:off x="0" y="0"/>
          <a:ext cx="0" cy="0"/>
          <a:chOff x="0" y="0"/>
          <a:chExt cx="0" cy="0"/>
        </a:xfrm>
      </p:grpSpPr>
      <p:sp>
        <p:nvSpPr>
          <p:cNvPr id="312" name="Google Shape;312;p52"/>
          <p:cNvSpPr/>
          <p:nvPr/>
        </p:nvSpPr>
        <p:spPr>
          <a:xfrm>
            <a:off x="7868010" y="2381632"/>
            <a:ext cx="6078900" cy="508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1" lang="en-US" sz="1800">
                <a:solidFill>
                  <a:srgbClr val="FEFEFE"/>
                </a:solidFill>
                <a:latin typeface="Rethink Sans"/>
                <a:ea typeface="Rethink Sans"/>
                <a:cs typeface="Rethink Sans"/>
                <a:sym typeface="Rethink Sans"/>
              </a:rPr>
              <a:t>R</a:t>
            </a:r>
            <a:r>
              <a:rPr b="0" i="0" lang="en-US" sz="1800" u="none" cap="none" strike="noStrike">
                <a:solidFill>
                  <a:srgbClr val="FEFEFE"/>
                </a:solidFill>
                <a:latin typeface="Rethink Sans"/>
                <a:ea typeface="Rethink Sans"/>
                <a:cs typeface="Rethink Sans"/>
                <a:sym typeface="Rethink Sans"/>
              </a:rPr>
              <a:t>ecognized as "Leading Digital Transformation Partner" by the Global Innovation Awards for our work</a:t>
            </a:r>
            <a:r>
              <a:rPr lang="en-US" sz="1800">
                <a:solidFill>
                  <a:srgbClr val="FEFEFE"/>
                </a:solidFill>
                <a:latin typeface="Rethink Sans"/>
                <a:ea typeface="Rethink Sans"/>
                <a:cs typeface="Rethink Sans"/>
                <a:sym typeface="Rethink Sans"/>
              </a:rPr>
              <a:t>.</a:t>
            </a:r>
            <a:endParaRPr b="0" i="0" sz="1800" u="none" cap="none" strike="noStrike"/>
          </a:p>
        </p:txBody>
      </p:sp>
      <p:sp>
        <p:nvSpPr>
          <p:cNvPr id="313" name="Google Shape;313;p52"/>
          <p:cNvSpPr/>
          <p:nvPr/>
        </p:nvSpPr>
        <p:spPr>
          <a:xfrm>
            <a:off x="7867954" y="3756669"/>
            <a:ext cx="6078900" cy="508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0" i="0" lang="en-US" sz="1800" u="none" cap="none" strike="noStrike">
                <a:solidFill>
                  <a:srgbClr val="FEFEFE"/>
                </a:solidFill>
                <a:latin typeface="Rethink Sans"/>
                <a:ea typeface="Rethink Sans"/>
                <a:cs typeface="Rethink Sans"/>
                <a:sym typeface="Rethink Sans"/>
              </a:rPr>
              <a:t>Honored as "Top Impact Amplifier" at the Tech Solutions Summit for our pioneering strategies</a:t>
            </a:r>
            <a:r>
              <a:rPr lang="en-US" sz="1800">
                <a:solidFill>
                  <a:srgbClr val="FEFEFE"/>
                </a:solidFill>
                <a:latin typeface="Rethink Sans"/>
                <a:ea typeface="Rethink Sans"/>
                <a:cs typeface="Rethink Sans"/>
                <a:sym typeface="Rethink Sans"/>
              </a:rPr>
              <a:t>.</a:t>
            </a:r>
            <a:endParaRPr b="0" i="0" sz="1800" u="none" cap="none" strike="noStrike"/>
          </a:p>
        </p:txBody>
      </p:sp>
      <p:sp>
        <p:nvSpPr>
          <p:cNvPr id="314" name="Google Shape;314;p52"/>
          <p:cNvSpPr/>
          <p:nvPr/>
        </p:nvSpPr>
        <p:spPr>
          <a:xfrm>
            <a:off x="7868023" y="5184682"/>
            <a:ext cx="6078900" cy="508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0" i="0" lang="en-US" sz="1800" u="none" cap="none" strike="noStrike">
                <a:solidFill>
                  <a:srgbClr val="FEFEFE"/>
                </a:solidFill>
                <a:latin typeface="Rethink Sans"/>
                <a:ea typeface="Rethink Sans"/>
                <a:cs typeface="Rethink Sans"/>
                <a:sym typeface="Rethink Sans"/>
              </a:rPr>
              <a:t>Achieved "Excellence in Enterprise Solutions" certification from the Digital Standards Institute</a:t>
            </a:r>
            <a:r>
              <a:rPr lang="en-US" sz="1800">
                <a:solidFill>
                  <a:srgbClr val="FEFEFE"/>
                </a:solidFill>
                <a:latin typeface="Rethink Sans"/>
                <a:ea typeface="Rethink Sans"/>
                <a:cs typeface="Rethink Sans"/>
                <a:sym typeface="Rethink Sans"/>
              </a:rPr>
              <a:t>.</a:t>
            </a:r>
            <a:endParaRPr b="0" i="0" sz="1800" u="none" cap="none" strike="noStrike"/>
          </a:p>
        </p:txBody>
      </p:sp>
      <p:sp>
        <p:nvSpPr>
          <p:cNvPr id="315" name="Google Shape;315;p52"/>
          <p:cNvSpPr/>
          <p:nvPr/>
        </p:nvSpPr>
        <p:spPr>
          <a:xfrm>
            <a:off x="7867904" y="6665244"/>
            <a:ext cx="6078900" cy="508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b="0" i="0" lang="en-US" sz="1800" u="none" cap="none" strike="noStrike">
                <a:solidFill>
                  <a:srgbClr val="FEFEFE"/>
                </a:solidFill>
                <a:latin typeface="Rethink Sans"/>
                <a:ea typeface="Rethink Sans"/>
                <a:cs typeface="Rethink Sans"/>
                <a:sym typeface="Rethink Sans"/>
              </a:rPr>
              <a:t>Named a "Pioneer in Digital Authority" by industry analysts, reflecting our rapid ascent since our inception.</a:t>
            </a:r>
            <a:endParaRPr b="0" i="0" sz="1800" u="none" cap="none" strike="noStrike"/>
          </a:p>
        </p:txBody>
      </p:sp>
      <p:sp>
        <p:nvSpPr>
          <p:cNvPr id="316" name="Google Shape;316;p52"/>
          <p:cNvSpPr/>
          <p:nvPr/>
        </p:nvSpPr>
        <p:spPr>
          <a:xfrm>
            <a:off x="727695" y="645200"/>
            <a:ext cx="85089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Awards &amp; </a:t>
            </a:r>
            <a:r>
              <a:rPr lang="en-US" sz="3900">
                <a:solidFill>
                  <a:srgbClr val="61BDBA"/>
                </a:solidFill>
                <a:latin typeface="Funnel Display"/>
                <a:ea typeface="Funnel Display"/>
                <a:cs typeface="Funnel Display"/>
                <a:sym typeface="Funnel Display"/>
              </a:rPr>
              <a:t>Certifications</a:t>
            </a:r>
            <a:endParaRPr b="0" i="0" sz="3900" u="none" cap="none" strike="noStrike">
              <a:solidFill>
                <a:srgbClr val="61BDBA"/>
              </a:solidFill>
            </a:endParaRPr>
          </a:p>
        </p:txBody>
      </p:sp>
      <p:sp>
        <p:nvSpPr>
          <p:cNvPr id="317" name="Google Shape;317;p52"/>
          <p:cNvSpPr/>
          <p:nvPr/>
        </p:nvSpPr>
        <p:spPr>
          <a:xfrm>
            <a:off x="7868000" y="1914363"/>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2023</a:t>
            </a:r>
            <a:endParaRPr b="0" i="0" sz="2450" u="none" cap="none" strike="noStrike"/>
          </a:p>
        </p:txBody>
      </p:sp>
      <p:sp>
        <p:nvSpPr>
          <p:cNvPr id="318" name="Google Shape;318;p52"/>
          <p:cNvSpPr/>
          <p:nvPr/>
        </p:nvSpPr>
        <p:spPr>
          <a:xfrm>
            <a:off x="7867963" y="3289400"/>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2022</a:t>
            </a:r>
            <a:endParaRPr b="0" i="0" sz="2450" u="none" cap="none" strike="noStrike"/>
          </a:p>
        </p:txBody>
      </p:sp>
      <p:sp>
        <p:nvSpPr>
          <p:cNvPr id="319" name="Google Shape;319;p52"/>
          <p:cNvSpPr/>
          <p:nvPr/>
        </p:nvSpPr>
        <p:spPr>
          <a:xfrm>
            <a:off x="7868013" y="4684926"/>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2021</a:t>
            </a:r>
            <a:endParaRPr b="0" i="0" sz="2450" u="none" cap="none" strike="noStrike"/>
          </a:p>
        </p:txBody>
      </p:sp>
      <p:sp>
        <p:nvSpPr>
          <p:cNvPr id="320" name="Google Shape;320;p52"/>
          <p:cNvSpPr/>
          <p:nvPr/>
        </p:nvSpPr>
        <p:spPr>
          <a:xfrm>
            <a:off x="7867913" y="6165488"/>
            <a:ext cx="19527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2020</a:t>
            </a:r>
            <a:endParaRPr b="0" i="0" sz="2450" u="none" cap="none" strike="noStrike"/>
          </a:p>
        </p:txBody>
      </p:sp>
      <p:sp>
        <p:nvSpPr>
          <p:cNvPr id="321" name="Google Shape;321;p52"/>
          <p:cNvSpPr/>
          <p:nvPr/>
        </p:nvSpPr>
        <p:spPr>
          <a:xfrm>
            <a:off x="727700" y="1914363"/>
            <a:ext cx="5437500" cy="4674300"/>
          </a:xfrm>
          <a:prstGeom prst="rect">
            <a:avLst/>
          </a:prstGeom>
          <a:noFill/>
          <a:ln>
            <a:noFill/>
          </a:ln>
        </p:spPr>
        <p:txBody>
          <a:bodyPr anchorCtr="0" anchor="t" bIns="0" lIns="0" spcFirstLastPara="1" rIns="0" wrap="square" tIns="0">
            <a:noAutofit/>
          </a:bodyPr>
          <a:lstStyle/>
          <a:p>
            <a:pPr indent="0" lvl="0" marL="0" marR="0" rtl="0" algn="l">
              <a:lnSpc>
                <a:spcPct val="126087"/>
              </a:lnSpc>
              <a:spcBef>
                <a:spcPts val="0"/>
              </a:spcBef>
              <a:spcAft>
                <a:spcPts val="0"/>
              </a:spcAft>
              <a:buClr>
                <a:srgbClr val="C77DFF"/>
              </a:buClr>
              <a:buSzPts val="2300"/>
              <a:buFont typeface="Funnel Display"/>
              <a:buNone/>
            </a:pPr>
            <a:r>
              <a:rPr lang="en-US" sz="2450">
                <a:solidFill>
                  <a:srgbClr val="FCFCFC"/>
                </a:solidFill>
                <a:latin typeface="Funnel Display"/>
                <a:ea typeface="Funnel Display"/>
                <a:cs typeface="Funnel Display"/>
                <a:sym typeface="Funnel Display"/>
              </a:rPr>
              <a:t>These accolades underscore</a:t>
            </a:r>
            <a:br>
              <a:rPr lang="en-US" sz="2450">
                <a:solidFill>
                  <a:srgbClr val="FCFCFC"/>
                </a:solidFill>
                <a:latin typeface="Funnel Display"/>
                <a:ea typeface="Funnel Display"/>
                <a:cs typeface="Funnel Display"/>
                <a:sym typeface="Funnel Display"/>
              </a:rPr>
            </a:br>
            <a:r>
              <a:rPr lang="en-US" sz="2450">
                <a:solidFill>
                  <a:srgbClr val="D56EED"/>
                </a:solidFill>
                <a:latin typeface="Funnel Display"/>
                <a:ea typeface="Funnel Display"/>
                <a:cs typeface="Funnel Display"/>
                <a:sym typeface="Funnel Display"/>
              </a:rPr>
              <a:t>TBS Digital Labs'</a:t>
            </a:r>
            <a:r>
              <a:rPr lang="en-US" sz="2450">
                <a:solidFill>
                  <a:srgbClr val="FCFCFC"/>
                </a:solidFill>
                <a:latin typeface="Funnel Display"/>
                <a:ea typeface="Funnel Display"/>
                <a:cs typeface="Funnel Display"/>
                <a:sym typeface="Funnel Display"/>
              </a:rPr>
              <a:t> unwavering commitment to delivering cutting-edge, impactful solutions that build authority and amplify impact for our clients. We are proud of our team's dedication and innovative spirit, which consistently push the boundaries of digital transformation and strategic design.</a:t>
            </a:r>
            <a:endParaRPr b="0" i="0" sz="2450" u="none" cap="none" strike="noStrike">
              <a:solidFill>
                <a:srgbClr val="D56EED"/>
              </a:solidFill>
            </a:endParaRPr>
          </a:p>
        </p:txBody>
      </p:sp>
      <p:cxnSp>
        <p:nvCxnSpPr>
          <p:cNvPr id="322" name="Google Shape;322;p52"/>
          <p:cNvCxnSpPr>
            <a:stCxn id="323" idx="4"/>
          </p:cNvCxnSpPr>
          <p:nvPr/>
        </p:nvCxnSpPr>
        <p:spPr>
          <a:xfrm>
            <a:off x="7169725" y="2172277"/>
            <a:ext cx="0" cy="5315700"/>
          </a:xfrm>
          <a:prstGeom prst="straightConnector1">
            <a:avLst/>
          </a:prstGeom>
          <a:noFill/>
          <a:ln cap="flat" cmpd="sng" w="9525">
            <a:solidFill>
              <a:srgbClr val="FCFCFC"/>
            </a:solidFill>
            <a:prstDash val="solid"/>
            <a:round/>
            <a:headEnd len="med" w="med" type="none"/>
            <a:tailEnd len="med" w="med" type="none"/>
          </a:ln>
        </p:spPr>
      </p:cxnSp>
      <p:sp>
        <p:nvSpPr>
          <p:cNvPr id="323" name="Google Shape;323;p52"/>
          <p:cNvSpPr/>
          <p:nvPr/>
        </p:nvSpPr>
        <p:spPr>
          <a:xfrm>
            <a:off x="7081825" y="1996477"/>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24" name="Google Shape;324;p52"/>
          <p:cNvSpPr/>
          <p:nvPr/>
        </p:nvSpPr>
        <p:spPr>
          <a:xfrm>
            <a:off x="7081825" y="3396340"/>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25" name="Google Shape;325;p52"/>
          <p:cNvSpPr/>
          <p:nvPr/>
        </p:nvSpPr>
        <p:spPr>
          <a:xfrm>
            <a:off x="7081825" y="4816679"/>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26" name="Google Shape;326;p52"/>
          <p:cNvSpPr/>
          <p:nvPr/>
        </p:nvSpPr>
        <p:spPr>
          <a:xfrm>
            <a:off x="7081825" y="6239754"/>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331" name="Shape 331"/>
        <p:cNvGrpSpPr/>
        <p:nvPr/>
      </p:nvGrpSpPr>
      <p:grpSpPr>
        <a:xfrm>
          <a:off x="0" y="0"/>
          <a:ext cx="0" cy="0"/>
          <a:chOff x="0" y="0"/>
          <a:chExt cx="0" cy="0"/>
        </a:xfrm>
      </p:grpSpPr>
      <p:sp>
        <p:nvSpPr>
          <p:cNvPr id="332" name="Google Shape;332;p53"/>
          <p:cNvSpPr/>
          <p:nvPr/>
        </p:nvSpPr>
        <p:spPr>
          <a:xfrm>
            <a:off x="727700" y="4031614"/>
            <a:ext cx="2811600" cy="228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Funnel Display"/>
              <a:buNone/>
            </a:pPr>
            <a:r>
              <a:rPr b="0" i="0" lang="en-US" sz="1800" u="none" cap="none" strike="noStrike">
                <a:solidFill>
                  <a:srgbClr val="FEFEFE"/>
                </a:solidFill>
                <a:latin typeface="Funnel Display"/>
                <a:ea typeface="Funnel Display"/>
                <a:cs typeface="Funnel Display"/>
                <a:sym typeface="Funnel Display"/>
              </a:rPr>
              <a:t>Digital Transformation Efficiency</a:t>
            </a:r>
            <a:endParaRPr b="0" i="0" sz="1800" u="none" cap="none" strike="noStrike"/>
          </a:p>
        </p:txBody>
      </p:sp>
      <p:sp>
        <p:nvSpPr>
          <p:cNvPr id="333" name="Google Shape;333;p53"/>
          <p:cNvSpPr/>
          <p:nvPr/>
        </p:nvSpPr>
        <p:spPr>
          <a:xfrm>
            <a:off x="727700" y="5069184"/>
            <a:ext cx="2811600" cy="74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EFEFE"/>
              </a:buClr>
              <a:buSzPts val="1150"/>
              <a:buFont typeface="Rethink Sans"/>
              <a:buNone/>
            </a:pPr>
            <a:r>
              <a:rPr b="0" i="1" lang="en-US" u="none" cap="none" strike="noStrike">
                <a:solidFill>
                  <a:srgbClr val="FEFEFE"/>
                </a:solidFill>
                <a:latin typeface="Rethink Sans"/>
                <a:ea typeface="Rethink Sans"/>
                <a:cs typeface="Rethink Sans"/>
                <a:sym typeface="Rethink Sans"/>
              </a:rPr>
              <a:t>Average increase in</a:t>
            </a:r>
            <a:br>
              <a:rPr i="1" lang="en-US">
                <a:solidFill>
                  <a:srgbClr val="FEFEFE"/>
                </a:solidFill>
                <a:latin typeface="Rethink Sans"/>
                <a:ea typeface="Rethink Sans"/>
                <a:cs typeface="Rethink Sans"/>
                <a:sym typeface="Rethink Sans"/>
              </a:rPr>
            </a:br>
            <a:r>
              <a:rPr b="0" i="1" lang="en-US" u="none" cap="none" strike="noStrike">
                <a:solidFill>
                  <a:srgbClr val="FEFEFE"/>
                </a:solidFill>
                <a:latin typeface="Rethink Sans"/>
                <a:ea typeface="Rethink Sans"/>
                <a:cs typeface="Rethink Sans"/>
                <a:sym typeface="Rethink Sans"/>
              </a:rPr>
              <a:t>operational efficienc</a:t>
            </a:r>
            <a:r>
              <a:rPr i="1" lang="en-US">
                <a:solidFill>
                  <a:srgbClr val="FEFEFE"/>
                </a:solidFill>
                <a:latin typeface="Rethink Sans"/>
                <a:ea typeface="Rethink Sans"/>
                <a:cs typeface="Rethink Sans"/>
                <a:sym typeface="Rethink Sans"/>
              </a:rPr>
              <a:t>y</a:t>
            </a:r>
            <a:endParaRPr b="0" i="1" u="none" cap="none" strike="noStrike"/>
          </a:p>
        </p:txBody>
      </p:sp>
      <p:sp>
        <p:nvSpPr>
          <p:cNvPr id="334" name="Google Shape;334;p53"/>
          <p:cNvSpPr/>
          <p:nvPr/>
        </p:nvSpPr>
        <p:spPr>
          <a:xfrm>
            <a:off x="727700" y="6373775"/>
            <a:ext cx="13458600" cy="741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150"/>
              <a:buFont typeface="Rethink Sans"/>
              <a:buNone/>
            </a:pPr>
            <a:r>
              <a:rPr lang="en-US" sz="1800">
                <a:solidFill>
                  <a:srgbClr val="FEFEFE"/>
                </a:solidFill>
                <a:latin typeface="Rethink Sans"/>
                <a:ea typeface="Rethink Sans"/>
                <a:cs typeface="Rethink Sans"/>
                <a:sym typeface="Rethink Sans"/>
              </a:rPr>
              <a:t>These key performance indicators reflect our commitment to delivering impactful digital solutions that build authority and amplify success for our partners. Our strategies are designed not just to innovate, but to perform exceptionally.</a:t>
            </a:r>
            <a:endParaRPr sz="1800">
              <a:solidFill>
                <a:srgbClr val="FEFEFE"/>
              </a:solidFill>
              <a:latin typeface="Rethink Sans"/>
              <a:ea typeface="Rethink Sans"/>
              <a:cs typeface="Rethink Sans"/>
              <a:sym typeface="Rethink Sans"/>
            </a:endParaRPr>
          </a:p>
        </p:txBody>
      </p:sp>
      <p:sp>
        <p:nvSpPr>
          <p:cNvPr id="335" name="Google Shape;335;p53"/>
          <p:cNvSpPr/>
          <p:nvPr/>
        </p:nvSpPr>
        <p:spPr>
          <a:xfrm>
            <a:off x="727695" y="645200"/>
            <a:ext cx="85089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550">
                <a:solidFill>
                  <a:srgbClr val="FEFEFE"/>
                </a:solidFill>
                <a:latin typeface="Funnel Display"/>
                <a:ea typeface="Funnel Display"/>
                <a:cs typeface="Funnel Display"/>
                <a:sym typeface="Funnel Display"/>
              </a:rPr>
              <a:t>Metrics That </a:t>
            </a:r>
            <a:r>
              <a:rPr lang="en-US" sz="3550">
                <a:solidFill>
                  <a:srgbClr val="D56EED"/>
                </a:solidFill>
                <a:latin typeface="Funnel Display"/>
                <a:ea typeface="Funnel Display"/>
                <a:cs typeface="Funnel Display"/>
                <a:sym typeface="Funnel Display"/>
              </a:rPr>
              <a:t>Matter</a:t>
            </a:r>
            <a:endParaRPr b="0" i="0" sz="3550" u="none" cap="none" strike="noStrike">
              <a:solidFill>
                <a:srgbClr val="D56EED"/>
              </a:solidFill>
            </a:endParaRPr>
          </a:p>
        </p:txBody>
      </p:sp>
      <p:sp>
        <p:nvSpPr>
          <p:cNvPr id="336" name="Google Shape;336;p53"/>
          <p:cNvSpPr/>
          <p:nvPr/>
        </p:nvSpPr>
        <p:spPr>
          <a:xfrm>
            <a:off x="727700" y="3265363"/>
            <a:ext cx="2811600" cy="5685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lang="en-US" sz="4800">
                <a:solidFill>
                  <a:srgbClr val="D56EED"/>
                </a:solidFill>
                <a:latin typeface="Funnel Display"/>
                <a:ea typeface="Funnel Display"/>
                <a:cs typeface="Funnel Display"/>
                <a:sym typeface="Funnel Display"/>
              </a:rPr>
              <a:t>35%</a:t>
            </a:r>
            <a:endParaRPr sz="4800">
              <a:solidFill>
                <a:srgbClr val="D56EED"/>
              </a:solidFill>
              <a:latin typeface="Funnel Display"/>
              <a:ea typeface="Funnel Display"/>
              <a:cs typeface="Funnel Display"/>
              <a:sym typeface="Funnel Display"/>
            </a:endParaRPr>
          </a:p>
        </p:txBody>
      </p:sp>
      <p:sp>
        <p:nvSpPr>
          <p:cNvPr id="337" name="Google Shape;337;p53"/>
          <p:cNvSpPr/>
          <p:nvPr/>
        </p:nvSpPr>
        <p:spPr>
          <a:xfrm>
            <a:off x="4105300" y="4031614"/>
            <a:ext cx="2811600" cy="228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Funnel Display"/>
              <a:buNone/>
            </a:pPr>
            <a:r>
              <a:rPr lang="en-US" sz="1800">
                <a:solidFill>
                  <a:srgbClr val="FEFEFE"/>
                </a:solidFill>
                <a:latin typeface="Funnel Display"/>
                <a:ea typeface="Funnel Display"/>
                <a:cs typeface="Funnel Display"/>
                <a:sym typeface="Funnel Display"/>
              </a:rPr>
              <a:t>Authority</a:t>
            </a:r>
            <a:br>
              <a:rPr lang="en-US" sz="1800">
                <a:solidFill>
                  <a:srgbClr val="FEFEFE"/>
                </a:solidFill>
                <a:latin typeface="Funnel Display"/>
                <a:ea typeface="Funnel Display"/>
                <a:cs typeface="Funnel Display"/>
                <a:sym typeface="Funnel Display"/>
              </a:rPr>
            </a:br>
            <a:r>
              <a:rPr lang="en-US" sz="1800">
                <a:solidFill>
                  <a:srgbClr val="FEFEFE"/>
                </a:solidFill>
                <a:latin typeface="Funnel Display"/>
                <a:ea typeface="Funnel Display"/>
                <a:cs typeface="Funnel Display"/>
                <a:sym typeface="Funnel Display"/>
              </a:rPr>
              <a:t>Amplification Index</a:t>
            </a:r>
            <a:endParaRPr b="0" i="0" sz="1800" u="none" cap="none" strike="noStrike"/>
          </a:p>
        </p:txBody>
      </p:sp>
      <p:sp>
        <p:nvSpPr>
          <p:cNvPr id="338" name="Google Shape;338;p53"/>
          <p:cNvSpPr/>
          <p:nvPr/>
        </p:nvSpPr>
        <p:spPr>
          <a:xfrm>
            <a:off x="4105300" y="5069184"/>
            <a:ext cx="2811600" cy="74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EFEFE"/>
              </a:buClr>
              <a:buSzPts val="1150"/>
              <a:buFont typeface="Rethink Sans"/>
              <a:buNone/>
            </a:pPr>
            <a:r>
              <a:rPr i="1" lang="en-US">
                <a:solidFill>
                  <a:srgbClr val="FEFEFE"/>
                </a:solidFill>
                <a:latin typeface="Rethink Sans"/>
                <a:ea typeface="Rethink Sans"/>
                <a:cs typeface="Rethink Sans"/>
                <a:sym typeface="Rethink Sans"/>
              </a:rPr>
              <a:t>Measurable uplift in our clients' industry authority</a:t>
            </a:r>
            <a:endParaRPr i="1">
              <a:solidFill>
                <a:srgbClr val="FEFEFE"/>
              </a:solidFill>
              <a:latin typeface="Rethink Sans"/>
              <a:ea typeface="Rethink Sans"/>
              <a:cs typeface="Rethink Sans"/>
              <a:sym typeface="Rethink Sans"/>
            </a:endParaRPr>
          </a:p>
        </p:txBody>
      </p:sp>
      <p:sp>
        <p:nvSpPr>
          <p:cNvPr id="339" name="Google Shape;339;p53"/>
          <p:cNvSpPr/>
          <p:nvPr/>
        </p:nvSpPr>
        <p:spPr>
          <a:xfrm>
            <a:off x="4105300" y="3265363"/>
            <a:ext cx="2811600" cy="5685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lang="en-US" sz="4800">
                <a:solidFill>
                  <a:srgbClr val="61BDBA"/>
                </a:solidFill>
                <a:latin typeface="Funnel Display"/>
                <a:ea typeface="Funnel Display"/>
                <a:cs typeface="Funnel Display"/>
                <a:sym typeface="Funnel Display"/>
              </a:rPr>
              <a:t>145%</a:t>
            </a:r>
            <a:endParaRPr sz="4800">
              <a:solidFill>
                <a:srgbClr val="61BDBA"/>
              </a:solidFill>
              <a:latin typeface="Funnel Display"/>
              <a:ea typeface="Funnel Display"/>
              <a:cs typeface="Funnel Display"/>
              <a:sym typeface="Funnel Display"/>
            </a:endParaRPr>
          </a:p>
        </p:txBody>
      </p:sp>
      <p:sp>
        <p:nvSpPr>
          <p:cNvPr id="340" name="Google Shape;340;p53"/>
          <p:cNvSpPr/>
          <p:nvPr/>
        </p:nvSpPr>
        <p:spPr>
          <a:xfrm>
            <a:off x="7482900" y="4031614"/>
            <a:ext cx="2811600" cy="228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Funnel Display"/>
              <a:buNone/>
            </a:pPr>
            <a:r>
              <a:rPr lang="en-US" sz="1800">
                <a:solidFill>
                  <a:srgbClr val="FEFEFE"/>
                </a:solidFill>
                <a:latin typeface="Funnel Display"/>
                <a:ea typeface="Funnel Display"/>
                <a:cs typeface="Funnel Display"/>
                <a:sym typeface="Funnel Display"/>
              </a:rPr>
              <a:t>Organic Reach</a:t>
            </a:r>
            <a:br>
              <a:rPr lang="en-US" sz="1800">
                <a:solidFill>
                  <a:srgbClr val="FEFEFE"/>
                </a:solidFill>
                <a:latin typeface="Funnel Display"/>
                <a:ea typeface="Funnel Display"/>
                <a:cs typeface="Funnel Display"/>
                <a:sym typeface="Funnel Display"/>
              </a:rPr>
            </a:br>
            <a:r>
              <a:rPr lang="en-US" sz="1800">
                <a:solidFill>
                  <a:srgbClr val="FEFEFE"/>
                </a:solidFill>
                <a:latin typeface="Funnel Display"/>
                <a:ea typeface="Funnel Display"/>
                <a:cs typeface="Funnel Display"/>
                <a:sym typeface="Funnel Display"/>
              </a:rPr>
              <a:t>for Impact</a:t>
            </a:r>
            <a:endParaRPr sz="1800">
              <a:solidFill>
                <a:srgbClr val="FEFEFE"/>
              </a:solidFill>
              <a:latin typeface="Funnel Display"/>
              <a:ea typeface="Funnel Display"/>
              <a:cs typeface="Funnel Display"/>
              <a:sym typeface="Funnel Display"/>
            </a:endParaRPr>
          </a:p>
        </p:txBody>
      </p:sp>
      <p:sp>
        <p:nvSpPr>
          <p:cNvPr id="341" name="Google Shape;341;p53"/>
          <p:cNvSpPr/>
          <p:nvPr/>
        </p:nvSpPr>
        <p:spPr>
          <a:xfrm>
            <a:off x="7482900" y="5069184"/>
            <a:ext cx="2811600" cy="74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EFEFE"/>
              </a:buClr>
              <a:buSzPts val="1150"/>
              <a:buFont typeface="Rethink Sans"/>
              <a:buNone/>
            </a:pPr>
            <a:r>
              <a:rPr i="1" lang="en-US">
                <a:solidFill>
                  <a:srgbClr val="FEFEFE"/>
                </a:solidFill>
                <a:latin typeface="Rethink Sans"/>
                <a:ea typeface="Rethink Sans"/>
                <a:cs typeface="Rethink Sans"/>
                <a:sym typeface="Rethink Sans"/>
              </a:rPr>
              <a:t>Total organic impressions</a:t>
            </a:r>
            <a:br>
              <a:rPr i="1" lang="en-US">
                <a:solidFill>
                  <a:srgbClr val="FEFEFE"/>
                </a:solidFill>
                <a:latin typeface="Rethink Sans"/>
                <a:ea typeface="Rethink Sans"/>
                <a:cs typeface="Rethink Sans"/>
                <a:sym typeface="Rethink Sans"/>
              </a:rPr>
            </a:br>
            <a:r>
              <a:rPr i="1" lang="en-US">
                <a:solidFill>
                  <a:srgbClr val="FEFEFE"/>
                </a:solidFill>
                <a:latin typeface="Rethink Sans"/>
                <a:ea typeface="Rethink Sans"/>
                <a:cs typeface="Rethink Sans"/>
                <a:sym typeface="Rethink Sans"/>
              </a:rPr>
              <a:t>across our key clients</a:t>
            </a:r>
            <a:endParaRPr i="1">
              <a:solidFill>
                <a:srgbClr val="FEFEFE"/>
              </a:solidFill>
              <a:latin typeface="Rethink Sans"/>
              <a:ea typeface="Rethink Sans"/>
              <a:cs typeface="Rethink Sans"/>
              <a:sym typeface="Rethink Sans"/>
            </a:endParaRPr>
          </a:p>
        </p:txBody>
      </p:sp>
      <p:sp>
        <p:nvSpPr>
          <p:cNvPr id="342" name="Google Shape;342;p53"/>
          <p:cNvSpPr/>
          <p:nvPr/>
        </p:nvSpPr>
        <p:spPr>
          <a:xfrm>
            <a:off x="7482900" y="3265363"/>
            <a:ext cx="2811600" cy="5685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lang="en-US" sz="4800">
                <a:solidFill>
                  <a:srgbClr val="D56EED"/>
                </a:solidFill>
                <a:latin typeface="Funnel Display"/>
                <a:ea typeface="Funnel Display"/>
                <a:cs typeface="Funnel Display"/>
                <a:sym typeface="Funnel Display"/>
              </a:rPr>
              <a:t>3.2M</a:t>
            </a:r>
            <a:endParaRPr sz="4800">
              <a:solidFill>
                <a:srgbClr val="D56EED"/>
              </a:solidFill>
              <a:latin typeface="Funnel Display"/>
              <a:ea typeface="Funnel Display"/>
              <a:cs typeface="Funnel Display"/>
              <a:sym typeface="Funnel Display"/>
            </a:endParaRPr>
          </a:p>
        </p:txBody>
      </p:sp>
      <p:sp>
        <p:nvSpPr>
          <p:cNvPr id="343" name="Google Shape;343;p53"/>
          <p:cNvSpPr/>
          <p:nvPr/>
        </p:nvSpPr>
        <p:spPr>
          <a:xfrm>
            <a:off x="10860500" y="4031614"/>
            <a:ext cx="2811600" cy="228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Funnel Display"/>
              <a:buNone/>
            </a:pPr>
            <a:r>
              <a:rPr lang="en-US" sz="1800">
                <a:solidFill>
                  <a:srgbClr val="FEFEFE"/>
                </a:solidFill>
                <a:latin typeface="Funnel Display"/>
                <a:ea typeface="Funnel Display"/>
                <a:cs typeface="Funnel Display"/>
                <a:sym typeface="Funnel Display"/>
              </a:rPr>
              <a:t>Client Success Partnership Score</a:t>
            </a:r>
            <a:endParaRPr sz="1800">
              <a:solidFill>
                <a:srgbClr val="FEFEFE"/>
              </a:solidFill>
              <a:latin typeface="Funnel Display"/>
              <a:ea typeface="Funnel Display"/>
              <a:cs typeface="Funnel Display"/>
              <a:sym typeface="Funnel Display"/>
            </a:endParaRPr>
          </a:p>
        </p:txBody>
      </p:sp>
      <p:sp>
        <p:nvSpPr>
          <p:cNvPr id="344" name="Google Shape;344;p53"/>
          <p:cNvSpPr/>
          <p:nvPr/>
        </p:nvSpPr>
        <p:spPr>
          <a:xfrm>
            <a:off x="10860500" y="5069184"/>
            <a:ext cx="2811600" cy="7413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EFEFE"/>
              </a:buClr>
              <a:buSzPts val="1150"/>
              <a:buFont typeface="Rethink Sans"/>
              <a:buNone/>
            </a:pPr>
            <a:r>
              <a:rPr i="1" lang="en-US">
                <a:solidFill>
                  <a:srgbClr val="FEFEFE"/>
                </a:solidFill>
                <a:latin typeface="Rethink Sans"/>
                <a:ea typeface="Rethink Sans"/>
                <a:cs typeface="Rethink Sans"/>
                <a:sym typeface="Rethink Sans"/>
              </a:rPr>
              <a:t>Average client satisfaction</a:t>
            </a:r>
            <a:endParaRPr i="1">
              <a:solidFill>
                <a:srgbClr val="FEFEFE"/>
              </a:solidFill>
              <a:latin typeface="Rethink Sans"/>
              <a:ea typeface="Rethink Sans"/>
              <a:cs typeface="Rethink Sans"/>
              <a:sym typeface="Rethink Sans"/>
            </a:endParaRPr>
          </a:p>
          <a:p>
            <a:pPr indent="0" lvl="0" marL="0" marR="0" rtl="0" algn="l">
              <a:lnSpc>
                <a:spcPct val="115000"/>
              </a:lnSpc>
              <a:spcBef>
                <a:spcPts val="0"/>
              </a:spcBef>
              <a:spcAft>
                <a:spcPts val="0"/>
              </a:spcAft>
              <a:buClr>
                <a:srgbClr val="FEFEFE"/>
              </a:buClr>
              <a:buSzPts val="1150"/>
              <a:buFont typeface="Rethink Sans"/>
              <a:buNone/>
            </a:pPr>
            <a:r>
              <a:rPr i="1" lang="en-US">
                <a:solidFill>
                  <a:srgbClr val="FEFEFE"/>
                </a:solidFill>
                <a:latin typeface="Rethink Sans"/>
                <a:ea typeface="Rethink Sans"/>
                <a:cs typeface="Rethink Sans"/>
                <a:sym typeface="Rethink Sans"/>
              </a:rPr>
              <a:t>rating out of 5.0</a:t>
            </a:r>
            <a:endParaRPr i="1">
              <a:solidFill>
                <a:srgbClr val="FEFEFE"/>
              </a:solidFill>
              <a:latin typeface="Rethink Sans"/>
              <a:ea typeface="Rethink Sans"/>
              <a:cs typeface="Rethink Sans"/>
              <a:sym typeface="Rethink Sans"/>
            </a:endParaRPr>
          </a:p>
        </p:txBody>
      </p:sp>
      <p:sp>
        <p:nvSpPr>
          <p:cNvPr id="345" name="Google Shape;345;p53"/>
          <p:cNvSpPr/>
          <p:nvPr/>
        </p:nvSpPr>
        <p:spPr>
          <a:xfrm>
            <a:off x="10860500" y="3265363"/>
            <a:ext cx="2811600" cy="568500"/>
          </a:xfrm>
          <a:prstGeom prst="rect">
            <a:avLst/>
          </a:prstGeom>
          <a:noFill/>
          <a:ln>
            <a:noFill/>
          </a:ln>
        </p:spPr>
        <p:txBody>
          <a:bodyPr anchorCtr="0" anchor="ctr" bIns="0" lIns="0" spcFirstLastPara="1" rIns="0" wrap="square" tIns="0">
            <a:noAutofit/>
          </a:bodyPr>
          <a:lstStyle/>
          <a:p>
            <a:pPr indent="0" lvl="0" marL="0" marR="0" rtl="0" algn="l">
              <a:lnSpc>
                <a:spcPct val="85000"/>
              </a:lnSpc>
              <a:spcBef>
                <a:spcPts val="0"/>
              </a:spcBef>
              <a:spcAft>
                <a:spcPts val="0"/>
              </a:spcAft>
              <a:buClr>
                <a:srgbClr val="FEFEFE"/>
              </a:buClr>
              <a:buSzPts val="1950"/>
              <a:buFont typeface="Funnel Display"/>
              <a:buNone/>
            </a:pPr>
            <a:r>
              <a:rPr lang="en-US" sz="4800">
                <a:solidFill>
                  <a:srgbClr val="61BDBA"/>
                </a:solidFill>
                <a:latin typeface="Funnel Display"/>
                <a:ea typeface="Funnel Display"/>
                <a:cs typeface="Funnel Display"/>
                <a:sym typeface="Funnel Display"/>
              </a:rPr>
              <a:t>4.8</a:t>
            </a:r>
            <a:endParaRPr sz="4800">
              <a:solidFill>
                <a:srgbClr val="61BDBA"/>
              </a:solidFill>
              <a:latin typeface="Funnel Display"/>
              <a:ea typeface="Funnel Display"/>
              <a:cs typeface="Funnel Display"/>
              <a:sym typeface="Funnel Display"/>
            </a:endParaRPr>
          </a:p>
        </p:txBody>
      </p:sp>
      <p:cxnSp>
        <p:nvCxnSpPr>
          <p:cNvPr id="346" name="Google Shape;346;p53"/>
          <p:cNvCxnSpPr/>
          <p:nvPr/>
        </p:nvCxnSpPr>
        <p:spPr>
          <a:xfrm>
            <a:off x="3652650" y="2968075"/>
            <a:ext cx="0" cy="2905800"/>
          </a:xfrm>
          <a:prstGeom prst="straightConnector1">
            <a:avLst/>
          </a:prstGeom>
          <a:noFill/>
          <a:ln cap="flat" cmpd="sng" w="9525">
            <a:solidFill>
              <a:srgbClr val="FCFCFC"/>
            </a:solidFill>
            <a:prstDash val="solid"/>
            <a:round/>
            <a:headEnd len="med" w="med" type="none"/>
            <a:tailEnd len="med" w="med" type="none"/>
          </a:ln>
        </p:spPr>
      </p:cxnSp>
      <p:cxnSp>
        <p:nvCxnSpPr>
          <p:cNvPr id="347" name="Google Shape;347;p53"/>
          <p:cNvCxnSpPr/>
          <p:nvPr/>
        </p:nvCxnSpPr>
        <p:spPr>
          <a:xfrm>
            <a:off x="7003400" y="2968075"/>
            <a:ext cx="0" cy="2905800"/>
          </a:xfrm>
          <a:prstGeom prst="straightConnector1">
            <a:avLst/>
          </a:prstGeom>
          <a:noFill/>
          <a:ln cap="flat" cmpd="sng" w="9525">
            <a:solidFill>
              <a:srgbClr val="FCFCFC"/>
            </a:solidFill>
            <a:prstDash val="solid"/>
            <a:round/>
            <a:headEnd len="med" w="med" type="none"/>
            <a:tailEnd len="med" w="med" type="none"/>
          </a:ln>
        </p:spPr>
      </p:cxnSp>
      <p:cxnSp>
        <p:nvCxnSpPr>
          <p:cNvPr id="348" name="Google Shape;348;p53"/>
          <p:cNvCxnSpPr/>
          <p:nvPr/>
        </p:nvCxnSpPr>
        <p:spPr>
          <a:xfrm>
            <a:off x="10388225" y="2968075"/>
            <a:ext cx="0" cy="2905800"/>
          </a:xfrm>
          <a:prstGeom prst="straightConnector1">
            <a:avLst/>
          </a:prstGeom>
          <a:noFill/>
          <a:ln cap="flat" cmpd="sng" w="9525">
            <a:solidFill>
              <a:srgbClr val="FCFCFC"/>
            </a:solidFill>
            <a:prstDash val="solid"/>
            <a:round/>
            <a:headEnd len="med" w="med" type="none"/>
            <a:tailEnd len="med" w="med" type="none"/>
          </a:ln>
        </p:spPr>
      </p:cxnSp>
      <p:sp>
        <p:nvSpPr>
          <p:cNvPr id="349" name="Google Shape;349;p53"/>
          <p:cNvSpPr txBox="1"/>
          <p:nvPr/>
        </p:nvSpPr>
        <p:spPr>
          <a:xfrm>
            <a:off x="642650" y="1991325"/>
            <a:ext cx="9252600" cy="5619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en-US" sz="2450">
                <a:solidFill>
                  <a:schemeClr val="lt1"/>
                </a:solidFill>
                <a:latin typeface="Rethink Sans"/>
                <a:ea typeface="Rethink Sans"/>
                <a:cs typeface="Rethink Sans"/>
                <a:sym typeface="Rethink Sans"/>
              </a:rPr>
              <a:t>At TBS Digital Labs, </a:t>
            </a:r>
            <a:r>
              <a:rPr lang="en-US" sz="2450">
                <a:solidFill>
                  <a:schemeClr val="lt1"/>
                </a:solidFill>
                <a:latin typeface="Rethink Sans"/>
                <a:ea typeface="Rethink Sans"/>
                <a:cs typeface="Rethink Sans"/>
                <a:sym typeface="Rethink Sans"/>
              </a:rPr>
              <a:t>we believe in tangible results:</a:t>
            </a:r>
            <a:endParaRPr sz="245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354" name="Shape 354"/>
        <p:cNvGrpSpPr/>
        <p:nvPr/>
      </p:nvGrpSpPr>
      <p:grpSpPr>
        <a:xfrm>
          <a:off x="0" y="0"/>
          <a:ext cx="0" cy="0"/>
          <a:chOff x="0" y="0"/>
          <a:chExt cx="0" cy="0"/>
        </a:xfrm>
      </p:grpSpPr>
      <p:sp>
        <p:nvSpPr>
          <p:cNvPr id="355" name="Google Shape;355;p54"/>
          <p:cNvSpPr/>
          <p:nvPr/>
        </p:nvSpPr>
        <p:spPr>
          <a:xfrm>
            <a:off x="727703" y="645200"/>
            <a:ext cx="131088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EcoCharge Innovations - "Powering the Future"</a:t>
            </a:r>
            <a:endParaRPr sz="3900">
              <a:solidFill>
                <a:srgbClr val="D56EED"/>
              </a:solidFill>
              <a:latin typeface="Funnel Display"/>
              <a:ea typeface="Funnel Display"/>
              <a:cs typeface="Funnel Display"/>
              <a:sym typeface="Funnel Display"/>
            </a:endParaRPr>
          </a:p>
        </p:txBody>
      </p:sp>
      <p:sp>
        <p:nvSpPr>
          <p:cNvPr id="356" name="Google Shape;356;p54"/>
          <p:cNvSpPr/>
          <p:nvPr/>
        </p:nvSpPr>
        <p:spPr>
          <a:xfrm>
            <a:off x="805350" y="6129650"/>
            <a:ext cx="13031100" cy="14904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lang="en-US" sz="1800">
                <a:solidFill>
                  <a:srgbClr val="FEFEFE"/>
                </a:solidFill>
                <a:latin typeface="Rethink Sans"/>
                <a:ea typeface="Rethink Sans"/>
                <a:cs typeface="Rethink Sans"/>
                <a:sym typeface="Rethink Sans"/>
              </a:rPr>
              <a:t>For our launch campaign with EcoCharge Innovations, our core message, "Powering the Future, Sustainably," centers on building consumer trust and highlighting the revolutionary blend of speed, longevity, and environmental responsibility in their new EV battery line. TBS Digital Labs will leverage this message to establish EcoCharge's authority in the rapidly expanding EV market, positioning them as the definitive answer for reliable, green energy solutions.</a:t>
            </a:r>
            <a:endParaRPr sz="1800">
              <a:solidFill>
                <a:srgbClr val="FEFEFE"/>
              </a:solidFill>
              <a:latin typeface="Rethink Sans"/>
              <a:ea typeface="Rethink Sans"/>
              <a:cs typeface="Rethink Sans"/>
              <a:sym typeface="Rethink Sans"/>
            </a:endParaRPr>
          </a:p>
        </p:txBody>
      </p:sp>
      <p:sp>
        <p:nvSpPr>
          <p:cNvPr id="357" name="Google Shape;357;p54"/>
          <p:cNvSpPr/>
          <p:nvPr/>
        </p:nvSpPr>
        <p:spPr>
          <a:xfrm>
            <a:off x="805500" y="1704425"/>
            <a:ext cx="13031100" cy="393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362" name="Shape 362"/>
        <p:cNvGrpSpPr/>
        <p:nvPr/>
      </p:nvGrpSpPr>
      <p:grpSpPr>
        <a:xfrm>
          <a:off x="0" y="0"/>
          <a:ext cx="0" cy="0"/>
          <a:chOff x="0" y="0"/>
          <a:chExt cx="0" cy="0"/>
        </a:xfrm>
      </p:grpSpPr>
      <p:sp>
        <p:nvSpPr>
          <p:cNvPr id="363" name="Google Shape;363;p55"/>
          <p:cNvSpPr/>
          <p:nvPr/>
        </p:nvSpPr>
        <p:spPr>
          <a:xfrm>
            <a:off x="698189" y="4627250"/>
            <a:ext cx="2751300" cy="22122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Initial client deep dive &amp; objective setting</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Comprehensive digital landscape &amp; competitor analysis</a:t>
            </a:r>
            <a:endParaRPr sz="1800">
              <a:solidFill>
                <a:srgbClr val="FEFEFE"/>
              </a:solidFill>
              <a:latin typeface="Rethink Sans"/>
              <a:ea typeface="Rethink Sans"/>
              <a:cs typeface="Rethink Sans"/>
              <a:sym typeface="Rethink Sans"/>
            </a:endParaRPr>
          </a:p>
        </p:txBody>
      </p:sp>
      <p:sp>
        <p:nvSpPr>
          <p:cNvPr id="364" name="Google Shape;364;p55"/>
          <p:cNvSpPr/>
          <p:nvPr/>
        </p:nvSpPr>
        <p:spPr>
          <a:xfrm>
            <a:off x="727703" y="645200"/>
            <a:ext cx="130974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Project </a:t>
            </a:r>
            <a:r>
              <a:rPr lang="en-US" sz="3900">
                <a:solidFill>
                  <a:srgbClr val="61BDBA"/>
                </a:solidFill>
                <a:latin typeface="Funnel Display"/>
                <a:ea typeface="Funnel Display"/>
                <a:cs typeface="Funnel Display"/>
                <a:sym typeface="Funnel Display"/>
              </a:rPr>
              <a:t>Timeline</a:t>
            </a:r>
            <a:endParaRPr b="0" i="0" sz="3900" u="none" cap="none" strike="noStrike">
              <a:solidFill>
                <a:srgbClr val="61BDBA"/>
              </a:solidFill>
            </a:endParaRPr>
          </a:p>
        </p:txBody>
      </p:sp>
      <p:sp>
        <p:nvSpPr>
          <p:cNvPr id="365" name="Google Shape;365;p55"/>
          <p:cNvSpPr/>
          <p:nvPr/>
        </p:nvSpPr>
        <p:spPr>
          <a:xfrm>
            <a:off x="804669" y="3027924"/>
            <a:ext cx="2751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a:solidFill>
                  <a:srgbClr val="FEFEFE"/>
                </a:solidFill>
                <a:latin typeface="Funnel Display"/>
                <a:ea typeface="Funnel Display"/>
                <a:cs typeface="Funnel Display"/>
                <a:sym typeface="Funnel Display"/>
              </a:rPr>
              <a:t>Phase 1 | Weeks 1-2</a:t>
            </a:r>
            <a:endParaRPr>
              <a:solidFill>
                <a:srgbClr val="FEFEFE"/>
              </a:solidFill>
              <a:latin typeface="Funnel Display"/>
              <a:ea typeface="Funnel Display"/>
              <a:cs typeface="Funnel Display"/>
              <a:sym typeface="Funnel Display"/>
            </a:endParaRPr>
          </a:p>
        </p:txBody>
      </p:sp>
      <p:cxnSp>
        <p:nvCxnSpPr>
          <p:cNvPr id="366" name="Google Shape;366;p55"/>
          <p:cNvCxnSpPr/>
          <p:nvPr/>
        </p:nvCxnSpPr>
        <p:spPr>
          <a:xfrm rot="10800000">
            <a:off x="125" y="2645500"/>
            <a:ext cx="13750500" cy="0"/>
          </a:xfrm>
          <a:prstGeom prst="straightConnector1">
            <a:avLst/>
          </a:prstGeom>
          <a:noFill/>
          <a:ln cap="flat" cmpd="sng" w="9525">
            <a:solidFill>
              <a:srgbClr val="FCFCFC"/>
            </a:solidFill>
            <a:prstDash val="solid"/>
            <a:round/>
            <a:headEnd len="med" w="med" type="none"/>
            <a:tailEnd len="med" w="med" type="none"/>
          </a:ln>
        </p:spPr>
      </p:cxnSp>
      <p:sp>
        <p:nvSpPr>
          <p:cNvPr id="367" name="Google Shape;367;p55"/>
          <p:cNvSpPr/>
          <p:nvPr/>
        </p:nvSpPr>
        <p:spPr>
          <a:xfrm rot="5400000">
            <a:off x="11073725" y="2557602"/>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68" name="Google Shape;368;p55"/>
          <p:cNvSpPr/>
          <p:nvPr/>
        </p:nvSpPr>
        <p:spPr>
          <a:xfrm rot="5400000">
            <a:off x="7629249" y="2557602"/>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69" name="Google Shape;369;p55"/>
          <p:cNvSpPr/>
          <p:nvPr/>
        </p:nvSpPr>
        <p:spPr>
          <a:xfrm rot="5400000">
            <a:off x="727697" y="2557602"/>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70" name="Google Shape;370;p55"/>
          <p:cNvSpPr/>
          <p:nvPr/>
        </p:nvSpPr>
        <p:spPr>
          <a:xfrm rot="5400000">
            <a:off x="4216961" y="2557602"/>
            <a:ext cx="175800" cy="175800"/>
          </a:xfrm>
          <a:prstGeom prst="ellipse">
            <a:avLst/>
          </a:prstGeom>
          <a:solidFill>
            <a:srgbClr val="FCFCFC"/>
          </a:solidFill>
          <a:ln>
            <a:noFill/>
          </a:ln>
        </p:spPr>
        <p:txBody>
          <a:bodyPr anchorCtr="0" anchor="ctr" bIns="64825" lIns="64825" spcFirstLastPara="1" rIns="64825" wrap="square" tIns="64825">
            <a:noAutofit/>
          </a:bodyPr>
          <a:lstStyle/>
          <a:p>
            <a:pPr indent="0" lvl="0" marL="0" rtl="0" algn="ctr">
              <a:spcBef>
                <a:spcPts val="0"/>
              </a:spcBef>
              <a:spcAft>
                <a:spcPts val="0"/>
              </a:spcAft>
              <a:buNone/>
            </a:pPr>
            <a:r>
              <a:t/>
            </a:r>
            <a:endParaRPr sz="992"/>
          </a:p>
        </p:txBody>
      </p:sp>
      <p:sp>
        <p:nvSpPr>
          <p:cNvPr id="371" name="Google Shape;371;p55"/>
          <p:cNvSpPr/>
          <p:nvPr/>
        </p:nvSpPr>
        <p:spPr>
          <a:xfrm>
            <a:off x="4110472" y="4627250"/>
            <a:ext cx="2751300" cy="22122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Develop core messaging &amp; authority pillars</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Outline digital transformation roadmap</a:t>
            </a:r>
            <a:endParaRPr sz="1800">
              <a:solidFill>
                <a:srgbClr val="FEFEFE"/>
              </a:solidFill>
              <a:latin typeface="Rethink Sans"/>
              <a:ea typeface="Rethink Sans"/>
              <a:cs typeface="Rethink Sans"/>
              <a:sym typeface="Rethink Sans"/>
            </a:endParaRPr>
          </a:p>
        </p:txBody>
      </p:sp>
      <p:sp>
        <p:nvSpPr>
          <p:cNvPr id="372" name="Google Shape;372;p55"/>
          <p:cNvSpPr/>
          <p:nvPr/>
        </p:nvSpPr>
        <p:spPr>
          <a:xfrm>
            <a:off x="7522764" y="4627250"/>
            <a:ext cx="2751300" cy="22122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Design &amp; develop key digital platforms (web, app)</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Produce high-value content (articles, video, interactive)</a:t>
            </a:r>
            <a:endParaRPr sz="1800">
              <a:solidFill>
                <a:srgbClr val="FEFEFE"/>
              </a:solidFill>
              <a:latin typeface="Rethink Sans"/>
              <a:ea typeface="Rethink Sans"/>
              <a:cs typeface="Rethink Sans"/>
              <a:sym typeface="Rethink Sans"/>
            </a:endParaRPr>
          </a:p>
        </p:txBody>
      </p:sp>
      <p:sp>
        <p:nvSpPr>
          <p:cNvPr id="373" name="Google Shape;373;p55"/>
          <p:cNvSpPr/>
          <p:nvPr/>
        </p:nvSpPr>
        <p:spPr>
          <a:xfrm>
            <a:off x="10967239" y="4627250"/>
            <a:ext cx="2751300" cy="2212200"/>
          </a:xfrm>
          <a:prstGeom prst="rect">
            <a:avLst/>
          </a:prstGeom>
          <a:noFill/>
          <a:ln>
            <a:noFill/>
          </a:ln>
        </p:spPr>
        <p:txBody>
          <a:bodyPr anchorCtr="0" anchor="t" bIns="0" lIns="0" spcFirstLastPara="1" rIns="0" wrap="square" tIns="0">
            <a:noAutofit/>
          </a:bodyPr>
          <a:lstStyle/>
          <a:p>
            <a:pPr indent="-342900" lvl="0" marL="457200" marR="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Strategic launch across relevant digital channels</a:t>
            </a:r>
            <a:endParaRPr sz="1800">
              <a:solidFill>
                <a:srgbClr val="FEFEFE"/>
              </a:solidFill>
              <a:latin typeface="Rethink Sans"/>
              <a:ea typeface="Rethink Sans"/>
              <a:cs typeface="Rethink Sans"/>
              <a:sym typeface="Rethink Sans"/>
            </a:endParaRPr>
          </a:p>
          <a:p>
            <a:pPr indent="-342900" lvl="0" marL="457200" marR="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Real-time performance monitoring</a:t>
            </a:r>
            <a:endParaRPr sz="1800">
              <a:solidFill>
                <a:srgbClr val="FEFEFE"/>
              </a:solidFill>
              <a:latin typeface="Rethink Sans"/>
              <a:ea typeface="Rethink Sans"/>
              <a:cs typeface="Rethink Sans"/>
              <a:sym typeface="Rethink Sans"/>
            </a:endParaRPr>
          </a:p>
        </p:txBody>
      </p:sp>
      <p:sp>
        <p:nvSpPr>
          <p:cNvPr id="374" name="Google Shape;374;p55"/>
          <p:cNvSpPr/>
          <p:nvPr/>
        </p:nvSpPr>
        <p:spPr>
          <a:xfrm>
            <a:off x="799675" y="3404463"/>
            <a:ext cx="2751300" cy="4638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Discovery &amp;</a:t>
            </a:r>
            <a:br>
              <a:rPr lang="en-US" sz="2450">
                <a:solidFill>
                  <a:srgbClr val="FEFEFE"/>
                </a:solidFill>
                <a:latin typeface="Funnel Display"/>
                <a:ea typeface="Funnel Display"/>
                <a:cs typeface="Funnel Display"/>
                <a:sym typeface="Funnel Display"/>
              </a:rPr>
            </a:br>
            <a:r>
              <a:rPr lang="en-US" sz="2450">
                <a:solidFill>
                  <a:srgbClr val="FEFEFE"/>
                </a:solidFill>
                <a:latin typeface="Funnel Display"/>
                <a:ea typeface="Funnel Display"/>
                <a:cs typeface="Funnel Display"/>
                <a:sym typeface="Funnel Display"/>
              </a:rPr>
              <a:t>Strategy</a:t>
            </a:r>
            <a:endParaRPr sz="2450">
              <a:solidFill>
                <a:srgbClr val="FEFEFE"/>
              </a:solidFill>
              <a:latin typeface="Funnel Display"/>
              <a:ea typeface="Funnel Display"/>
              <a:cs typeface="Funnel Display"/>
              <a:sym typeface="Funnel Display"/>
            </a:endParaRPr>
          </a:p>
        </p:txBody>
      </p:sp>
      <p:sp>
        <p:nvSpPr>
          <p:cNvPr id="375" name="Google Shape;375;p55"/>
          <p:cNvSpPr/>
          <p:nvPr/>
        </p:nvSpPr>
        <p:spPr>
          <a:xfrm>
            <a:off x="4216961" y="3027924"/>
            <a:ext cx="2751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a:solidFill>
                  <a:srgbClr val="FEFEFE"/>
                </a:solidFill>
                <a:latin typeface="Funnel Display"/>
                <a:ea typeface="Funnel Display"/>
                <a:cs typeface="Funnel Display"/>
                <a:sym typeface="Funnel Display"/>
              </a:rPr>
              <a:t>Phase 2 | Weeks 3-4</a:t>
            </a:r>
            <a:endParaRPr>
              <a:solidFill>
                <a:srgbClr val="FEFEFE"/>
              </a:solidFill>
              <a:latin typeface="Funnel Display"/>
              <a:ea typeface="Funnel Display"/>
              <a:cs typeface="Funnel Display"/>
              <a:sym typeface="Funnel Display"/>
            </a:endParaRPr>
          </a:p>
        </p:txBody>
      </p:sp>
      <p:sp>
        <p:nvSpPr>
          <p:cNvPr id="376" name="Google Shape;376;p55"/>
          <p:cNvSpPr/>
          <p:nvPr/>
        </p:nvSpPr>
        <p:spPr>
          <a:xfrm>
            <a:off x="4216961" y="3404463"/>
            <a:ext cx="2751300" cy="4638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Framework Development</a:t>
            </a:r>
            <a:endParaRPr sz="2450">
              <a:solidFill>
                <a:srgbClr val="FEFEFE"/>
              </a:solidFill>
              <a:latin typeface="Funnel Display"/>
              <a:ea typeface="Funnel Display"/>
              <a:cs typeface="Funnel Display"/>
              <a:sym typeface="Funnel Display"/>
            </a:endParaRPr>
          </a:p>
        </p:txBody>
      </p:sp>
      <p:sp>
        <p:nvSpPr>
          <p:cNvPr id="377" name="Google Shape;377;p55"/>
          <p:cNvSpPr/>
          <p:nvPr/>
        </p:nvSpPr>
        <p:spPr>
          <a:xfrm>
            <a:off x="7629241" y="3027924"/>
            <a:ext cx="2751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a:solidFill>
                  <a:srgbClr val="FEFEFE"/>
                </a:solidFill>
                <a:latin typeface="Funnel Display"/>
                <a:ea typeface="Funnel Display"/>
                <a:cs typeface="Funnel Display"/>
                <a:sym typeface="Funnel Display"/>
              </a:rPr>
              <a:t>Phase 3 | Weeks 5-8</a:t>
            </a:r>
            <a:endParaRPr>
              <a:solidFill>
                <a:srgbClr val="FEFEFE"/>
              </a:solidFill>
              <a:latin typeface="Funnel Display"/>
              <a:ea typeface="Funnel Display"/>
              <a:cs typeface="Funnel Display"/>
              <a:sym typeface="Funnel Display"/>
            </a:endParaRPr>
          </a:p>
        </p:txBody>
      </p:sp>
      <p:sp>
        <p:nvSpPr>
          <p:cNvPr id="378" name="Google Shape;378;p55"/>
          <p:cNvSpPr/>
          <p:nvPr/>
        </p:nvSpPr>
        <p:spPr>
          <a:xfrm>
            <a:off x="7629241" y="3404463"/>
            <a:ext cx="2751300" cy="4638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Digital Asset</a:t>
            </a:r>
            <a:br>
              <a:rPr lang="en-US" sz="2450">
                <a:solidFill>
                  <a:srgbClr val="FEFEFE"/>
                </a:solidFill>
                <a:latin typeface="Funnel Display"/>
                <a:ea typeface="Funnel Display"/>
                <a:cs typeface="Funnel Display"/>
                <a:sym typeface="Funnel Display"/>
              </a:rPr>
            </a:br>
            <a:r>
              <a:rPr lang="en-US" sz="2450">
                <a:solidFill>
                  <a:srgbClr val="FEFEFE"/>
                </a:solidFill>
                <a:latin typeface="Funnel Display"/>
                <a:ea typeface="Funnel Display"/>
                <a:cs typeface="Funnel Display"/>
                <a:sym typeface="Funnel Display"/>
              </a:rPr>
              <a:t>Creation</a:t>
            </a:r>
            <a:endParaRPr sz="2450">
              <a:solidFill>
                <a:srgbClr val="FEFEFE"/>
              </a:solidFill>
              <a:latin typeface="Funnel Display"/>
              <a:ea typeface="Funnel Display"/>
              <a:cs typeface="Funnel Display"/>
              <a:sym typeface="Funnel Display"/>
            </a:endParaRPr>
          </a:p>
        </p:txBody>
      </p:sp>
      <p:sp>
        <p:nvSpPr>
          <p:cNvPr id="379" name="Google Shape;379;p55"/>
          <p:cNvSpPr/>
          <p:nvPr/>
        </p:nvSpPr>
        <p:spPr>
          <a:xfrm>
            <a:off x="11073746" y="3027924"/>
            <a:ext cx="2751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a:solidFill>
                  <a:srgbClr val="FEFEFE"/>
                </a:solidFill>
                <a:latin typeface="Funnel Display"/>
                <a:ea typeface="Funnel Display"/>
                <a:cs typeface="Funnel Display"/>
                <a:sym typeface="Funnel Display"/>
              </a:rPr>
              <a:t>Phase 4 | Weeks 9-10</a:t>
            </a:r>
            <a:endParaRPr>
              <a:solidFill>
                <a:srgbClr val="FEFEFE"/>
              </a:solidFill>
              <a:latin typeface="Funnel Display"/>
              <a:ea typeface="Funnel Display"/>
              <a:cs typeface="Funnel Display"/>
              <a:sym typeface="Funnel Display"/>
            </a:endParaRPr>
          </a:p>
        </p:txBody>
      </p:sp>
      <p:sp>
        <p:nvSpPr>
          <p:cNvPr id="380" name="Google Shape;380;p55"/>
          <p:cNvSpPr/>
          <p:nvPr/>
        </p:nvSpPr>
        <p:spPr>
          <a:xfrm>
            <a:off x="11073746" y="3404463"/>
            <a:ext cx="2751300" cy="4638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Launch &amp;</a:t>
            </a:r>
            <a:br>
              <a:rPr lang="en-US" sz="2450">
                <a:solidFill>
                  <a:srgbClr val="FEFEFE"/>
                </a:solidFill>
                <a:latin typeface="Funnel Display"/>
                <a:ea typeface="Funnel Display"/>
                <a:cs typeface="Funnel Display"/>
                <a:sym typeface="Funnel Display"/>
              </a:rPr>
            </a:br>
            <a:r>
              <a:rPr lang="en-US" sz="2450">
                <a:solidFill>
                  <a:srgbClr val="FEFEFE"/>
                </a:solidFill>
                <a:latin typeface="Funnel Display"/>
                <a:ea typeface="Funnel Display"/>
                <a:cs typeface="Funnel Display"/>
                <a:sym typeface="Funnel Display"/>
              </a:rPr>
              <a:t>Optimization</a:t>
            </a:r>
            <a:endParaRPr sz="2450">
              <a:solidFill>
                <a:srgbClr val="FEFEFE"/>
              </a:solidFill>
              <a:latin typeface="Funnel Display"/>
              <a:ea typeface="Funnel Display"/>
              <a:cs typeface="Funnel Display"/>
              <a:sym typeface="Funnel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385" name="Shape 385"/>
        <p:cNvGrpSpPr/>
        <p:nvPr/>
      </p:nvGrpSpPr>
      <p:grpSpPr>
        <a:xfrm>
          <a:off x="0" y="0"/>
          <a:ext cx="0" cy="0"/>
          <a:chOff x="0" y="0"/>
          <a:chExt cx="0" cy="0"/>
        </a:xfrm>
      </p:grpSpPr>
      <p:pic>
        <p:nvPicPr>
          <p:cNvPr id="386" name="Google Shape;386;p56" title="Frame 67.jpg"/>
          <p:cNvPicPr preferRelativeResize="0"/>
          <p:nvPr/>
        </p:nvPicPr>
        <p:blipFill>
          <a:blip r:embed="rId3">
            <a:alphaModFix/>
          </a:blip>
          <a:stretch>
            <a:fillRect/>
          </a:stretch>
        </p:blipFill>
        <p:spPr>
          <a:xfrm>
            <a:off x="0" y="0"/>
            <a:ext cx="14630400" cy="8229600"/>
          </a:xfrm>
          <a:prstGeom prst="rect">
            <a:avLst/>
          </a:prstGeom>
          <a:noFill/>
          <a:ln>
            <a:noFill/>
          </a:ln>
        </p:spPr>
      </p:pic>
      <p:pic>
        <p:nvPicPr>
          <p:cNvPr id="387" name="Google Shape;387;p56"/>
          <p:cNvPicPr preferRelativeResize="0"/>
          <p:nvPr/>
        </p:nvPicPr>
        <p:blipFill>
          <a:blip r:embed="rId4">
            <a:alphaModFix/>
          </a:blip>
          <a:stretch>
            <a:fillRect/>
          </a:stretch>
        </p:blipFill>
        <p:spPr>
          <a:xfrm>
            <a:off x="9758225" y="2493513"/>
            <a:ext cx="524524" cy="524273"/>
          </a:xfrm>
          <a:prstGeom prst="rect">
            <a:avLst/>
          </a:prstGeom>
          <a:noFill/>
          <a:ln>
            <a:noFill/>
          </a:ln>
        </p:spPr>
      </p:pic>
      <p:pic>
        <p:nvPicPr>
          <p:cNvPr id="388" name="Google Shape;388;p56"/>
          <p:cNvPicPr preferRelativeResize="0"/>
          <p:nvPr/>
        </p:nvPicPr>
        <p:blipFill>
          <a:blip r:embed="rId5">
            <a:alphaModFix/>
          </a:blip>
          <a:stretch>
            <a:fillRect/>
          </a:stretch>
        </p:blipFill>
        <p:spPr>
          <a:xfrm>
            <a:off x="5239537" y="2485400"/>
            <a:ext cx="532424" cy="532398"/>
          </a:xfrm>
          <a:prstGeom prst="rect">
            <a:avLst/>
          </a:prstGeom>
          <a:noFill/>
          <a:ln>
            <a:noFill/>
          </a:ln>
        </p:spPr>
      </p:pic>
      <p:sp>
        <p:nvSpPr>
          <p:cNvPr id="389" name="Google Shape;389;p56"/>
          <p:cNvSpPr/>
          <p:nvPr/>
        </p:nvSpPr>
        <p:spPr>
          <a:xfrm>
            <a:off x="727703" y="645200"/>
            <a:ext cx="13097400" cy="568500"/>
          </a:xfrm>
          <a:prstGeom prst="rect">
            <a:avLst/>
          </a:prstGeom>
          <a:noFill/>
          <a:ln>
            <a:noFill/>
          </a:ln>
        </p:spPr>
        <p:txBody>
          <a:bodyPr anchorCtr="0" anchor="t" bIns="0" lIns="0" spcFirstLastPara="1" rIns="0" wrap="square" tIns="0">
            <a:noAutofit/>
          </a:bodyPr>
          <a:lstStyle/>
          <a:p>
            <a:pPr indent="0" lvl="0" marL="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Investment &amp; </a:t>
            </a:r>
            <a:r>
              <a:rPr lang="en-US" sz="3900">
                <a:solidFill>
                  <a:srgbClr val="D56EED"/>
                </a:solidFill>
                <a:latin typeface="Funnel Display"/>
                <a:ea typeface="Funnel Display"/>
                <a:cs typeface="Funnel Display"/>
                <a:sym typeface="Funnel Display"/>
              </a:rPr>
              <a:t>Value</a:t>
            </a:r>
            <a:endParaRPr sz="3900">
              <a:solidFill>
                <a:srgbClr val="D56EED"/>
              </a:solidFill>
              <a:latin typeface="Funnel Display"/>
              <a:ea typeface="Funnel Display"/>
              <a:cs typeface="Funnel Display"/>
              <a:sym typeface="Funnel Display"/>
            </a:endParaRPr>
          </a:p>
        </p:txBody>
      </p:sp>
      <p:sp>
        <p:nvSpPr>
          <p:cNvPr id="390" name="Google Shape;390;p56"/>
          <p:cNvSpPr/>
          <p:nvPr/>
        </p:nvSpPr>
        <p:spPr>
          <a:xfrm>
            <a:off x="799675" y="3260374"/>
            <a:ext cx="4059300" cy="3945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TBS Core Package</a:t>
            </a:r>
            <a:endParaRPr sz="2450">
              <a:solidFill>
                <a:srgbClr val="FEFEFE"/>
              </a:solidFill>
              <a:latin typeface="Funnel Display"/>
              <a:ea typeface="Funnel Display"/>
              <a:cs typeface="Funnel Display"/>
              <a:sym typeface="Funnel Display"/>
            </a:endParaRPr>
          </a:p>
        </p:txBody>
      </p:sp>
      <p:sp>
        <p:nvSpPr>
          <p:cNvPr id="391" name="Google Shape;391;p56"/>
          <p:cNvSpPr/>
          <p:nvPr/>
        </p:nvSpPr>
        <p:spPr>
          <a:xfrm>
            <a:off x="693707" y="4749875"/>
            <a:ext cx="4066800" cy="2124600"/>
          </a:xfrm>
          <a:prstGeom prst="rect">
            <a:avLst/>
          </a:prstGeom>
          <a:noFill/>
          <a:ln>
            <a:noFill/>
          </a:ln>
        </p:spPr>
        <p:txBody>
          <a:bodyPr anchorCtr="0" anchor="t" bIns="0" lIns="0" spcFirstLastPara="1" rIns="0" wrap="square" tIns="0">
            <a:noAutofit/>
          </a:bodyPr>
          <a:lstStyle/>
          <a:p>
            <a:pPr indent="-342900" lvl="0" marL="45720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Digital Authority Audit &amp; Strategy Session</a:t>
            </a:r>
            <a:endParaRPr sz="1800">
              <a:solidFill>
                <a:srgbClr val="FEFEFE"/>
              </a:solidFill>
              <a:latin typeface="Rethink Sans"/>
              <a:ea typeface="Rethink Sans"/>
              <a:cs typeface="Rethink Sans"/>
              <a:sym typeface="Rethink Sans"/>
            </a:endParaRPr>
          </a:p>
          <a:p>
            <a:pPr indent="-342900" lvl="0" marL="45720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Foundational Digital Identity &amp; Messaging</a:t>
            </a:r>
            <a:endParaRPr sz="1800">
              <a:solidFill>
                <a:srgbClr val="FEFEFE"/>
              </a:solidFill>
              <a:latin typeface="Rethink Sans"/>
              <a:ea typeface="Rethink Sans"/>
              <a:cs typeface="Rethink Sans"/>
              <a:sym typeface="Rethink Sans"/>
            </a:endParaRPr>
          </a:p>
          <a:p>
            <a:pPr indent="-342900" lvl="0" marL="45720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Basic Web Presence Optimization &amp; Recommendations</a:t>
            </a:r>
            <a:endParaRPr sz="1800">
              <a:solidFill>
                <a:srgbClr val="FEFEFE"/>
              </a:solidFill>
              <a:latin typeface="Rethink Sans"/>
              <a:ea typeface="Rethink Sans"/>
              <a:cs typeface="Rethink Sans"/>
              <a:sym typeface="Rethink Sans"/>
            </a:endParaRPr>
          </a:p>
        </p:txBody>
      </p:sp>
      <p:sp>
        <p:nvSpPr>
          <p:cNvPr id="392" name="Google Shape;392;p56"/>
          <p:cNvSpPr/>
          <p:nvPr/>
        </p:nvSpPr>
        <p:spPr>
          <a:xfrm>
            <a:off x="807044" y="3709670"/>
            <a:ext cx="4059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1800">
                <a:solidFill>
                  <a:srgbClr val="FEFEFE"/>
                </a:solidFill>
                <a:latin typeface="Funnel Display"/>
                <a:ea typeface="Funnel Display"/>
                <a:cs typeface="Funnel Display"/>
                <a:sym typeface="Funnel Display"/>
              </a:rPr>
              <a:t>$7,500 - $12,000</a:t>
            </a:r>
            <a:endParaRPr sz="1800">
              <a:solidFill>
                <a:srgbClr val="FEFEFE"/>
              </a:solidFill>
              <a:latin typeface="Funnel Display"/>
              <a:ea typeface="Funnel Display"/>
              <a:cs typeface="Funnel Display"/>
              <a:sym typeface="Funnel Display"/>
            </a:endParaRPr>
          </a:p>
        </p:txBody>
      </p:sp>
      <p:pic>
        <p:nvPicPr>
          <p:cNvPr id="393" name="Google Shape;393;p56"/>
          <p:cNvPicPr preferRelativeResize="0"/>
          <p:nvPr/>
        </p:nvPicPr>
        <p:blipFill>
          <a:blip r:embed="rId6">
            <a:alphaModFix/>
          </a:blip>
          <a:stretch>
            <a:fillRect/>
          </a:stretch>
        </p:blipFill>
        <p:spPr>
          <a:xfrm>
            <a:off x="727700" y="2488949"/>
            <a:ext cx="525548" cy="525301"/>
          </a:xfrm>
          <a:prstGeom prst="rect">
            <a:avLst/>
          </a:prstGeom>
          <a:noFill/>
          <a:ln>
            <a:noFill/>
          </a:ln>
        </p:spPr>
      </p:pic>
      <p:sp>
        <p:nvSpPr>
          <p:cNvPr id="394" name="Google Shape;394;p56"/>
          <p:cNvSpPr/>
          <p:nvPr/>
        </p:nvSpPr>
        <p:spPr>
          <a:xfrm>
            <a:off x="5314950" y="3260374"/>
            <a:ext cx="4059300" cy="3945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TBS Accelerated Package</a:t>
            </a:r>
            <a:endParaRPr sz="2450">
              <a:solidFill>
                <a:srgbClr val="FEFEFE"/>
              </a:solidFill>
              <a:latin typeface="Funnel Display"/>
              <a:ea typeface="Funnel Display"/>
              <a:cs typeface="Funnel Display"/>
              <a:sym typeface="Funnel Display"/>
            </a:endParaRPr>
          </a:p>
        </p:txBody>
      </p:sp>
      <p:sp>
        <p:nvSpPr>
          <p:cNvPr id="395" name="Google Shape;395;p56"/>
          <p:cNvSpPr/>
          <p:nvPr/>
        </p:nvSpPr>
        <p:spPr>
          <a:xfrm>
            <a:off x="5208982" y="4749875"/>
            <a:ext cx="4066800" cy="2124600"/>
          </a:xfrm>
          <a:prstGeom prst="rect">
            <a:avLst/>
          </a:prstGeom>
          <a:noFill/>
          <a:ln>
            <a:noFill/>
          </a:ln>
        </p:spPr>
        <p:txBody>
          <a:bodyPr anchorCtr="0" anchor="t" bIns="0" lIns="0" spcFirstLastPara="1" rIns="0" wrap="square" tIns="0">
            <a:noAutofit/>
          </a:bodyPr>
          <a:lstStyle/>
          <a:p>
            <a:pPr indent="-342900" lvl="0" marL="45720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Comprehensive Digital Transformation Roadmap</a:t>
            </a:r>
            <a:endParaRPr sz="1800">
              <a:solidFill>
                <a:srgbClr val="FEFEFE"/>
              </a:solidFill>
              <a:latin typeface="Rethink Sans"/>
              <a:ea typeface="Rethink Sans"/>
              <a:cs typeface="Rethink Sans"/>
              <a:sym typeface="Rethink Sans"/>
            </a:endParaRPr>
          </a:p>
          <a:p>
            <a:pPr indent="-342900" lvl="0" marL="45720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Custom Platform Development &amp; Integration</a:t>
            </a:r>
            <a:endParaRPr sz="1800">
              <a:solidFill>
                <a:srgbClr val="FEFEFE"/>
              </a:solidFill>
              <a:latin typeface="Rethink Sans"/>
              <a:ea typeface="Rethink Sans"/>
              <a:cs typeface="Rethink Sans"/>
              <a:sym typeface="Rethink Sans"/>
            </a:endParaRPr>
          </a:p>
          <a:p>
            <a:pPr indent="-342900" lvl="0" marL="45720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Integrated Impact Amplification Campaigns (SEO, Social, Ads)</a:t>
            </a:r>
            <a:endParaRPr sz="1800">
              <a:solidFill>
                <a:srgbClr val="FEFEFE"/>
              </a:solidFill>
              <a:latin typeface="Rethink Sans"/>
              <a:ea typeface="Rethink Sans"/>
              <a:cs typeface="Rethink Sans"/>
              <a:sym typeface="Rethink Sans"/>
            </a:endParaRPr>
          </a:p>
        </p:txBody>
      </p:sp>
      <p:sp>
        <p:nvSpPr>
          <p:cNvPr id="396" name="Google Shape;396;p56"/>
          <p:cNvSpPr/>
          <p:nvPr/>
        </p:nvSpPr>
        <p:spPr>
          <a:xfrm>
            <a:off x="5322319" y="3709670"/>
            <a:ext cx="4059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1800">
                <a:solidFill>
                  <a:srgbClr val="FEFEFE"/>
                </a:solidFill>
                <a:latin typeface="Funnel Display"/>
                <a:ea typeface="Funnel Display"/>
                <a:cs typeface="Funnel Display"/>
                <a:sym typeface="Funnel Display"/>
              </a:rPr>
              <a:t>$25,000 - $40,000</a:t>
            </a:r>
            <a:endParaRPr sz="1800">
              <a:solidFill>
                <a:srgbClr val="FEFEFE"/>
              </a:solidFill>
              <a:latin typeface="Funnel Display"/>
              <a:ea typeface="Funnel Display"/>
              <a:cs typeface="Funnel Display"/>
              <a:sym typeface="Funnel Display"/>
            </a:endParaRPr>
          </a:p>
        </p:txBody>
      </p:sp>
      <p:sp>
        <p:nvSpPr>
          <p:cNvPr id="397" name="Google Shape;397;p56"/>
          <p:cNvSpPr/>
          <p:nvPr/>
        </p:nvSpPr>
        <p:spPr>
          <a:xfrm>
            <a:off x="9830225" y="3260374"/>
            <a:ext cx="4059300" cy="3945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TBS Enterprise Solutions</a:t>
            </a:r>
            <a:endParaRPr sz="2450">
              <a:solidFill>
                <a:srgbClr val="FEFEFE"/>
              </a:solidFill>
              <a:latin typeface="Funnel Display"/>
              <a:ea typeface="Funnel Display"/>
              <a:cs typeface="Funnel Display"/>
              <a:sym typeface="Funnel Display"/>
            </a:endParaRPr>
          </a:p>
        </p:txBody>
      </p:sp>
      <p:sp>
        <p:nvSpPr>
          <p:cNvPr id="398" name="Google Shape;398;p56"/>
          <p:cNvSpPr/>
          <p:nvPr/>
        </p:nvSpPr>
        <p:spPr>
          <a:xfrm>
            <a:off x="9724257" y="4749875"/>
            <a:ext cx="4066800" cy="2124600"/>
          </a:xfrm>
          <a:prstGeom prst="rect">
            <a:avLst/>
          </a:prstGeom>
          <a:noFill/>
          <a:ln>
            <a:noFill/>
          </a:ln>
        </p:spPr>
        <p:txBody>
          <a:bodyPr anchorCtr="0" anchor="t" bIns="0" lIns="0" spcFirstLastPara="1" rIns="0" wrap="square" tIns="0">
            <a:noAutofit/>
          </a:bodyPr>
          <a:lstStyle/>
          <a:p>
            <a:pPr indent="-342900" lvl="0" marL="45720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Holistic Digital Ecosystem Redesign &amp; Replatforming</a:t>
            </a:r>
            <a:endParaRPr sz="1800">
              <a:solidFill>
                <a:srgbClr val="FEFEFE"/>
              </a:solidFill>
              <a:latin typeface="Rethink Sans"/>
              <a:ea typeface="Rethink Sans"/>
              <a:cs typeface="Rethink Sans"/>
              <a:sym typeface="Rethink Sans"/>
            </a:endParaRPr>
          </a:p>
          <a:p>
            <a:pPr indent="-342900" lvl="0" marL="457200" rtl="0" algn="l">
              <a:lnSpc>
                <a:spcPct val="130000"/>
              </a:lnSpc>
              <a:spcBef>
                <a:spcPts val="1000"/>
              </a:spcBef>
              <a:spcAft>
                <a:spcPts val="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Advanced Data Analytics &amp; AI-driven Solutions</a:t>
            </a:r>
            <a:endParaRPr sz="1800">
              <a:solidFill>
                <a:srgbClr val="FEFEFE"/>
              </a:solidFill>
              <a:latin typeface="Rethink Sans"/>
              <a:ea typeface="Rethink Sans"/>
              <a:cs typeface="Rethink Sans"/>
              <a:sym typeface="Rethink Sans"/>
            </a:endParaRPr>
          </a:p>
          <a:p>
            <a:pPr indent="-342900" lvl="0" marL="457200" rtl="0" algn="l">
              <a:lnSpc>
                <a:spcPct val="130000"/>
              </a:lnSpc>
              <a:spcBef>
                <a:spcPts val="1000"/>
              </a:spcBef>
              <a:spcAft>
                <a:spcPts val="1000"/>
              </a:spcAft>
              <a:buClr>
                <a:srgbClr val="FEFEFE"/>
              </a:buClr>
              <a:buSzPts val="1800"/>
              <a:buFont typeface="Rethink Sans"/>
              <a:buChar char="●"/>
            </a:pPr>
            <a:r>
              <a:rPr lang="en-US" sz="1800">
                <a:solidFill>
                  <a:srgbClr val="FEFEFE"/>
                </a:solidFill>
                <a:latin typeface="Rethink Sans"/>
                <a:ea typeface="Rethink Sans"/>
                <a:cs typeface="Rethink Sans"/>
                <a:sym typeface="Rethink Sans"/>
              </a:rPr>
              <a:t>Full-spectrum Digital Advertising &amp; Conversion Optimization</a:t>
            </a:r>
            <a:endParaRPr sz="1800">
              <a:solidFill>
                <a:srgbClr val="FEFEFE"/>
              </a:solidFill>
              <a:latin typeface="Rethink Sans"/>
              <a:ea typeface="Rethink Sans"/>
              <a:cs typeface="Rethink Sans"/>
              <a:sym typeface="Rethink Sans"/>
            </a:endParaRPr>
          </a:p>
        </p:txBody>
      </p:sp>
      <p:sp>
        <p:nvSpPr>
          <p:cNvPr id="399" name="Google Shape;399;p56"/>
          <p:cNvSpPr/>
          <p:nvPr/>
        </p:nvSpPr>
        <p:spPr>
          <a:xfrm>
            <a:off x="9837594" y="3709670"/>
            <a:ext cx="4059300" cy="248100"/>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1800">
                <a:solidFill>
                  <a:srgbClr val="FEFEFE"/>
                </a:solidFill>
                <a:latin typeface="Funnel Display"/>
                <a:ea typeface="Funnel Display"/>
                <a:cs typeface="Funnel Display"/>
                <a:sym typeface="Funnel Display"/>
              </a:rPr>
              <a:t>Custom Quote</a:t>
            </a:r>
            <a:endParaRPr sz="1800">
              <a:solidFill>
                <a:srgbClr val="FEFEFE"/>
              </a:solidFill>
              <a:latin typeface="Funnel Display"/>
              <a:ea typeface="Funnel Display"/>
              <a:cs typeface="Funnel Display"/>
              <a:sym typeface="Funnel Display"/>
            </a:endParaRPr>
          </a:p>
        </p:txBody>
      </p:sp>
      <p:cxnSp>
        <p:nvCxnSpPr>
          <p:cNvPr id="400" name="Google Shape;400;p56"/>
          <p:cNvCxnSpPr/>
          <p:nvPr/>
        </p:nvCxnSpPr>
        <p:spPr>
          <a:xfrm>
            <a:off x="807050" y="4330925"/>
            <a:ext cx="4079400" cy="0"/>
          </a:xfrm>
          <a:prstGeom prst="straightConnector1">
            <a:avLst/>
          </a:prstGeom>
          <a:noFill/>
          <a:ln cap="flat" cmpd="sng" w="9525">
            <a:solidFill>
              <a:srgbClr val="CCCCCC"/>
            </a:solidFill>
            <a:prstDash val="solid"/>
            <a:round/>
            <a:headEnd len="med" w="med" type="none"/>
            <a:tailEnd len="med" w="med" type="none"/>
          </a:ln>
        </p:spPr>
      </p:cxnSp>
      <p:cxnSp>
        <p:nvCxnSpPr>
          <p:cNvPr id="401" name="Google Shape;401;p56"/>
          <p:cNvCxnSpPr/>
          <p:nvPr/>
        </p:nvCxnSpPr>
        <p:spPr>
          <a:xfrm>
            <a:off x="5314325" y="4330925"/>
            <a:ext cx="4079400" cy="0"/>
          </a:xfrm>
          <a:prstGeom prst="straightConnector1">
            <a:avLst/>
          </a:prstGeom>
          <a:noFill/>
          <a:ln cap="flat" cmpd="sng" w="9525">
            <a:solidFill>
              <a:srgbClr val="CCCCCC"/>
            </a:solidFill>
            <a:prstDash val="solid"/>
            <a:round/>
            <a:headEnd len="med" w="med" type="none"/>
            <a:tailEnd len="med" w="med" type="none"/>
          </a:ln>
        </p:spPr>
      </p:cxnSp>
      <p:cxnSp>
        <p:nvCxnSpPr>
          <p:cNvPr id="402" name="Google Shape;402;p56"/>
          <p:cNvCxnSpPr/>
          <p:nvPr/>
        </p:nvCxnSpPr>
        <p:spPr>
          <a:xfrm>
            <a:off x="9821600" y="4330925"/>
            <a:ext cx="4079400" cy="0"/>
          </a:xfrm>
          <a:prstGeom prst="straightConnector1">
            <a:avLst/>
          </a:prstGeom>
          <a:noFill/>
          <a:ln cap="flat" cmpd="sng" w="9525">
            <a:solidFill>
              <a:srgbClr val="CCCCCC"/>
            </a:solidFill>
            <a:prstDash val="solid"/>
            <a:round/>
            <a:headEnd len="med" w="med" type="none"/>
            <a:tailEnd len="med" w="med" type="none"/>
          </a:ln>
        </p:spPr>
      </p:cxnSp>
      <p:sp>
        <p:nvSpPr>
          <p:cNvPr id="403" name="Google Shape;403;p56"/>
          <p:cNvSpPr/>
          <p:nvPr/>
        </p:nvSpPr>
        <p:spPr>
          <a:xfrm>
            <a:off x="6446375" y="754250"/>
            <a:ext cx="7378800" cy="568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Our tiered packages are designed to provide flexibility, ensuring you receive a tailored solution that maximizes your investment.</a:t>
            </a:r>
            <a:endParaRPr b="0" i="0" sz="180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408" name="Shape 408"/>
        <p:cNvGrpSpPr/>
        <p:nvPr/>
      </p:nvGrpSpPr>
      <p:grpSpPr>
        <a:xfrm>
          <a:off x="0" y="0"/>
          <a:ext cx="0" cy="0"/>
          <a:chOff x="0" y="0"/>
          <a:chExt cx="0" cy="0"/>
        </a:xfrm>
      </p:grpSpPr>
      <p:sp>
        <p:nvSpPr>
          <p:cNvPr id="409" name="Google Shape;409;p57"/>
          <p:cNvSpPr/>
          <p:nvPr/>
        </p:nvSpPr>
        <p:spPr>
          <a:xfrm>
            <a:off x="575548" y="9474518"/>
            <a:ext cx="13479304" cy="15240"/>
          </a:xfrm>
          <a:prstGeom prst="roundRect">
            <a:avLst>
              <a:gd fmla="val 396558" name="adj"/>
            </a:avLst>
          </a:prstGeom>
          <a:solidFill>
            <a:srgbClr val="3F737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7"/>
          <p:cNvSpPr/>
          <p:nvPr/>
        </p:nvSpPr>
        <p:spPr>
          <a:xfrm>
            <a:off x="5128498" y="9489758"/>
            <a:ext cx="4373285" cy="8127683"/>
          </a:xfrm>
          <a:prstGeom prst="rect">
            <a:avLst/>
          </a:prstGeom>
          <a:solidFill>
            <a:srgbClr val="265A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1" name="Google Shape;411;p57"/>
          <p:cNvPicPr preferRelativeResize="0"/>
          <p:nvPr/>
        </p:nvPicPr>
        <p:blipFill rotWithShape="1">
          <a:blip r:embed="rId3">
            <a:alphaModFix/>
          </a:blip>
          <a:srcRect b="0" l="0" r="0" t="0"/>
          <a:stretch/>
        </p:blipFill>
        <p:spPr>
          <a:xfrm>
            <a:off x="5279946" y="9633585"/>
            <a:ext cx="4070390" cy="6121837"/>
          </a:xfrm>
          <a:prstGeom prst="rect">
            <a:avLst/>
          </a:prstGeom>
          <a:noFill/>
          <a:ln>
            <a:noFill/>
          </a:ln>
        </p:spPr>
      </p:pic>
      <p:sp>
        <p:nvSpPr>
          <p:cNvPr id="412" name="Google Shape;412;p57"/>
          <p:cNvSpPr/>
          <p:nvPr/>
        </p:nvSpPr>
        <p:spPr>
          <a:xfrm>
            <a:off x="6415802" y="15917228"/>
            <a:ext cx="1798558" cy="22479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FEFEFE"/>
              </a:buClr>
              <a:buSzPts val="1400"/>
              <a:buFont typeface="Funnel Display"/>
              <a:buNone/>
            </a:pPr>
            <a:r>
              <a:rPr b="0" i="0" lang="en-US" sz="1400" u="none" cap="none" strike="noStrike">
                <a:solidFill>
                  <a:srgbClr val="FEFEFE"/>
                </a:solidFill>
                <a:latin typeface="Funnel Display"/>
                <a:ea typeface="Funnel Display"/>
                <a:cs typeface="Funnel Display"/>
                <a:sym typeface="Funnel Display"/>
              </a:rPr>
              <a:t>David Kim</a:t>
            </a:r>
            <a:endParaRPr b="0" i="0" sz="1400" u="none" cap="none" strike="noStrike"/>
          </a:p>
        </p:txBody>
      </p:sp>
      <p:sp>
        <p:nvSpPr>
          <p:cNvPr id="413" name="Google Shape;413;p57"/>
          <p:cNvSpPr/>
          <p:nvPr/>
        </p:nvSpPr>
        <p:spPr>
          <a:xfrm>
            <a:off x="5279946" y="16228338"/>
            <a:ext cx="4070390" cy="230267"/>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FEFEFE"/>
              </a:buClr>
              <a:buSzPts val="1100"/>
              <a:buFont typeface="Rethink Sans"/>
              <a:buNone/>
            </a:pPr>
            <a:r>
              <a:rPr b="1" i="0" lang="en-US" sz="1100" u="none" cap="none" strike="noStrike">
                <a:solidFill>
                  <a:srgbClr val="FEFEFE"/>
                </a:solidFill>
                <a:latin typeface="Rethink Sans"/>
                <a:ea typeface="Rethink Sans"/>
                <a:cs typeface="Rethink Sans"/>
                <a:sym typeface="Rethink Sans"/>
              </a:rPr>
              <a:t>Chief Technology Officer</a:t>
            </a:r>
            <a:endParaRPr b="0" i="0" sz="1100" u="none" cap="none" strike="noStrike"/>
          </a:p>
        </p:txBody>
      </p:sp>
      <p:sp>
        <p:nvSpPr>
          <p:cNvPr id="414" name="Google Shape;414;p57"/>
          <p:cNvSpPr/>
          <p:nvPr/>
        </p:nvSpPr>
        <p:spPr>
          <a:xfrm>
            <a:off x="5279946" y="16544925"/>
            <a:ext cx="4070390" cy="921068"/>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FEFEFE"/>
              </a:buClr>
              <a:buSzPts val="1100"/>
              <a:buFont typeface="Rethink Sans"/>
              <a:buNone/>
            </a:pPr>
            <a:r>
              <a:rPr b="0" i="0" lang="en-US" sz="1100" u="none" cap="none" strike="noStrike">
                <a:solidFill>
                  <a:srgbClr val="FEFEFE"/>
                </a:solidFill>
                <a:latin typeface="Rethink Sans"/>
                <a:ea typeface="Rethink Sans"/>
                <a:cs typeface="Rethink Sans"/>
                <a:sym typeface="Rethink Sans"/>
              </a:rPr>
              <a:t>David leads our technical innovation, overseeing the development of cutting-edge solutions that underpin our clients' digital authority. His focus on robust architecture and scalable technology ensures lasting impact.</a:t>
            </a:r>
            <a:endParaRPr b="0" i="0" sz="1100" u="none" cap="none" strike="noStrike"/>
          </a:p>
        </p:txBody>
      </p:sp>
      <p:sp>
        <p:nvSpPr>
          <p:cNvPr id="415" name="Google Shape;415;p57"/>
          <p:cNvSpPr/>
          <p:nvPr/>
        </p:nvSpPr>
        <p:spPr>
          <a:xfrm>
            <a:off x="748473" y="4349950"/>
            <a:ext cx="3854400" cy="305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EFEFE"/>
              </a:buClr>
              <a:buSzPts val="1900"/>
              <a:buFont typeface="Funnel Display"/>
              <a:buNone/>
            </a:pPr>
            <a:r>
              <a:rPr lang="en-US" sz="2450">
                <a:solidFill>
                  <a:srgbClr val="FEFEFE"/>
                </a:solidFill>
                <a:latin typeface="Funnel Display"/>
                <a:ea typeface="Funnel Display"/>
                <a:cs typeface="Funnel Display"/>
                <a:sym typeface="Funnel Display"/>
              </a:rPr>
              <a:t>Emily Chen</a:t>
            </a:r>
            <a:endParaRPr i="0" sz="2450" u="none" cap="none" strike="noStrike">
              <a:latin typeface="Funnel Display"/>
              <a:ea typeface="Funnel Display"/>
              <a:cs typeface="Funnel Display"/>
              <a:sym typeface="Funnel Display"/>
            </a:endParaRPr>
          </a:p>
        </p:txBody>
      </p:sp>
      <p:sp>
        <p:nvSpPr>
          <p:cNvPr id="416" name="Google Shape;416;p57"/>
          <p:cNvSpPr/>
          <p:nvPr/>
        </p:nvSpPr>
        <p:spPr>
          <a:xfrm>
            <a:off x="763500" y="5594650"/>
            <a:ext cx="3952500" cy="100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500"/>
              <a:buFont typeface="Rethink Sans"/>
              <a:buNone/>
            </a:pPr>
            <a:r>
              <a:rPr lang="en-US" sz="1800">
                <a:solidFill>
                  <a:srgbClr val="FEFEFE"/>
                </a:solidFill>
                <a:latin typeface="Rethink Sans"/>
                <a:ea typeface="Rethink Sans"/>
                <a:cs typeface="Rethink Sans"/>
                <a:sym typeface="Rethink Sans"/>
              </a:rPr>
              <a:t>Emily spearheads TBS Digital Labs' vision for digital transformation, driving strategic initiatives.</a:t>
            </a:r>
            <a:endParaRPr b="0" i="0" sz="1800" u="none" cap="none" strike="noStrike"/>
          </a:p>
        </p:txBody>
      </p:sp>
      <p:sp>
        <p:nvSpPr>
          <p:cNvPr id="417" name="Google Shape;417;p57"/>
          <p:cNvSpPr/>
          <p:nvPr/>
        </p:nvSpPr>
        <p:spPr>
          <a:xfrm>
            <a:off x="763500" y="4799746"/>
            <a:ext cx="3952500" cy="3057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EFEFE"/>
              </a:buClr>
              <a:buSzPts val="1500"/>
              <a:buFont typeface="Rethink Sans"/>
              <a:buNone/>
            </a:pPr>
            <a:r>
              <a:rPr lang="en-US" sz="1800">
                <a:solidFill>
                  <a:srgbClr val="FEFEFE"/>
                </a:solidFill>
                <a:latin typeface="Rethink Sans"/>
                <a:ea typeface="Rethink Sans"/>
                <a:cs typeface="Rethink Sans"/>
                <a:sym typeface="Rethink Sans"/>
              </a:rPr>
              <a:t>CEO &amp; Lead Strategist</a:t>
            </a:r>
            <a:endParaRPr i="0" sz="1800" u="none" cap="none" strike="noStrike">
              <a:latin typeface="Rethink Sans"/>
              <a:ea typeface="Rethink Sans"/>
              <a:cs typeface="Rethink Sans"/>
              <a:sym typeface="Rethink Sans"/>
            </a:endParaRPr>
          </a:p>
        </p:txBody>
      </p:sp>
      <p:sp>
        <p:nvSpPr>
          <p:cNvPr id="418" name="Google Shape;418;p57"/>
          <p:cNvSpPr/>
          <p:nvPr/>
        </p:nvSpPr>
        <p:spPr>
          <a:xfrm>
            <a:off x="727703" y="645200"/>
            <a:ext cx="13097400" cy="568500"/>
          </a:xfrm>
          <a:prstGeom prst="rect">
            <a:avLst/>
          </a:prstGeom>
          <a:noFill/>
          <a:ln>
            <a:noFill/>
          </a:ln>
        </p:spPr>
        <p:txBody>
          <a:bodyPr anchorCtr="0" anchor="t" bIns="0" lIns="0" spcFirstLastPara="1" rIns="0" wrap="square" tIns="0">
            <a:noAutofit/>
          </a:bodyPr>
          <a:lstStyle/>
          <a:p>
            <a:pPr indent="0" lvl="0" marL="0" rtl="0" algn="l">
              <a:lnSpc>
                <a:spcPct val="124675"/>
              </a:lnSpc>
              <a:spcBef>
                <a:spcPts val="0"/>
              </a:spcBef>
              <a:spcAft>
                <a:spcPts val="0"/>
              </a:spcAft>
              <a:buClr>
                <a:srgbClr val="FEFEFE"/>
              </a:buClr>
              <a:buSzPts val="3850"/>
              <a:buFont typeface="Funnel Display"/>
              <a:buNone/>
            </a:pPr>
            <a:r>
              <a:rPr lang="en-US" sz="3900">
                <a:solidFill>
                  <a:srgbClr val="FEFEFE"/>
                </a:solidFill>
                <a:latin typeface="Funnel Display"/>
                <a:ea typeface="Funnel Display"/>
                <a:cs typeface="Funnel Display"/>
                <a:sym typeface="Funnel Display"/>
              </a:rPr>
              <a:t>Meet the</a:t>
            </a:r>
            <a:r>
              <a:rPr lang="en-US" sz="3900">
                <a:solidFill>
                  <a:srgbClr val="FEFEFE"/>
                </a:solidFill>
                <a:latin typeface="Funnel Display"/>
                <a:ea typeface="Funnel Display"/>
                <a:cs typeface="Funnel Display"/>
                <a:sym typeface="Funnel Display"/>
              </a:rPr>
              <a:t> </a:t>
            </a:r>
            <a:r>
              <a:rPr lang="en-US" sz="3900">
                <a:solidFill>
                  <a:srgbClr val="D56EED"/>
                </a:solidFill>
                <a:latin typeface="Funnel Display"/>
                <a:ea typeface="Funnel Display"/>
                <a:cs typeface="Funnel Display"/>
                <a:sym typeface="Funnel Display"/>
              </a:rPr>
              <a:t>Team</a:t>
            </a:r>
            <a:endParaRPr sz="3900">
              <a:solidFill>
                <a:srgbClr val="D56EED"/>
              </a:solidFill>
              <a:latin typeface="Funnel Display"/>
              <a:ea typeface="Funnel Display"/>
              <a:cs typeface="Funnel Display"/>
              <a:sym typeface="Funnel Display"/>
            </a:endParaRPr>
          </a:p>
        </p:txBody>
      </p:sp>
      <p:sp>
        <p:nvSpPr>
          <p:cNvPr id="419" name="Google Shape;419;p57"/>
          <p:cNvSpPr/>
          <p:nvPr/>
        </p:nvSpPr>
        <p:spPr>
          <a:xfrm>
            <a:off x="5348448" y="4349950"/>
            <a:ext cx="3854400" cy="305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EFEFE"/>
              </a:buClr>
              <a:buSzPts val="1900"/>
              <a:buFont typeface="Funnel Display"/>
              <a:buNone/>
            </a:pPr>
            <a:r>
              <a:rPr lang="en-US" sz="2450">
                <a:solidFill>
                  <a:srgbClr val="FEFEFE"/>
                </a:solidFill>
                <a:latin typeface="Funnel Display"/>
                <a:ea typeface="Funnel Display"/>
                <a:cs typeface="Funnel Display"/>
                <a:sym typeface="Funnel Display"/>
              </a:rPr>
              <a:t>Maria Rodriguez</a:t>
            </a:r>
            <a:endParaRPr b="0" i="0" sz="2450" u="none" cap="none" strike="noStrike"/>
          </a:p>
        </p:txBody>
      </p:sp>
      <p:sp>
        <p:nvSpPr>
          <p:cNvPr id="420" name="Google Shape;420;p57"/>
          <p:cNvSpPr/>
          <p:nvPr/>
        </p:nvSpPr>
        <p:spPr>
          <a:xfrm>
            <a:off x="5363475" y="5594650"/>
            <a:ext cx="3952500" cy="100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500"/>
              <a:buFont typeface="Rethink Sans"/>
              <a:buNone/>
            </a:pPr>
            <a:r>
              <a:rPr lang="en-US" sz="1800">
                <a:solidFill>
                  <a:srgbClr val="FEFEFE"/>
                </a:solidFill>
                <a:latin typeface="Rethink Sans"/>
                <a:ea typeface="Rethink Sans"/>
                <a:cs typeface="Rethink Sans"/>
                <a:sym typeface="Rethink Sans"/>
              </a:rPr>
              <a:t>Maria ensures that every client partnership with TBS Digital Labs is a success story.</a:t>
            </a:r>
            <a:endParaRPr b="0" i="0" sz="1800" u="none" cap="none" strike="noStrike"/>
          </a:p>
        </p:txBody>
      </p:sp>
      <p:sp>
        <p:nvSpPr>
          <p:cNvPr id="421" name="Google Shape;421;p57"/>
          <p:cNvSpPr/>
          <p:nvPr/>
        </p:nvSpPr>
        <p:spPr>
          <a:xfrm>
            <a:off x="5363475" y="4799746"/>
            <a:ext cx="3952500" cy="3057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EFEFE"/>
              </a:buClr>
              <a:buSzPts val="1500"/>
              <a:buFont typeface="Rethink Sans"/>
              <a:buNone/>
            </a:pPr>
            <a:r>
              <a:rPr lang="en-US" sz="1800">
                <a:solidFill>
                  <a:srgbClr val="FEFEFE"/>
                </a:solidFill>
                <a:latin typeface="Rethink Sans"/>
                <a:ea typeface="Rethink Sans"/>
                <a:cs typeface="Rethink Sans"/>
                <a:sym typeface="Rethink Sans"/>
              </a:rPr>
              <a:t>Head of Client Success</a:t>
            </a:r>
            <a:endParaRPr i="0" sz="1800" u="none" cap="none" strike="noStrike">
              <a:latin typeface="Rethink Sans"/>
              <a:ea typeface="Rethink Sans"/>
              <a:cs typeface="Rethink Sans"/>
              <a:sym typeface="Rethink Sans"/>
            </a:endParaRPr>
          </a:p>
        </p:txBody>
      </p:sp>
      <p:sp>
        <p:nvSpPr>
          <p:cNvPr id="422" name="Google Shape;422;p57"/>
          <p:cNvSpPr/>
          <p:nvPr/>
        </p:nvSpPr>
        <p:spPr>
          <a:xfrm>
            <a:off x="9948423" y="4349950"/>
            <a:ext cx="3854400" cy="305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FEFEFE"/>
              </a:buClr>
              <a:buSzPts val="1900"/>
              <a:buFont typeface="Funnel Display"/>
              <a:buNone/>
            </a:pPr>
            <a:r>
              <a:rPr lang="en-US" sz="2450">
                <a:solidFill>
                  <a:srgbClr val="FEFEFE"/>
                </a:solidFill>
                <a:latin typeface="Funnel Display"/>
                <a:ea typeface="Funnel Display"/>
                <a:cs typeface="Funnel Display"/>
                <a:sym typeface="Funnel Display"/>
              </a:rPr>
              <a:t>David Kim</a:t>
            </a:r>
            <a:endParaRPr i="0" sz="2450" u="none" cap="none" strike="noStrike">
              <a:latin typeface="Funnel Display"/>
              <a:ea typeface="Funnel Display"/>
              <a:cs typeface="Funnel Display"/>
              <a:sym typeface="Funnel Display"/>
            </a:endParaRPr>
          </a:p>
        </p:txBody>
      </p:sp>
      <p:sp>
        <p:nvSpPr>
          <p:cNvPr id="423" name="Google Shape;423;p57"/>
          <p:cNvSpPr/>
          <p:nvPr/>
        </p:nvSpPr>
        <p:spPr>
          <a:xfrm>
            <a:off x="9963450" y="5594650"/>
            <a:ext cx="3952500" cy="1005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500"/>
              <a:buFont typeface="Rethink Sans"/>
              <a:buNone/>
            </a:pPr>
            <a:r>
              <a:rPr lang="en-US" sz="1800">
                <a:solidFill>
                  <a:srgbClr val="FEFEFE"/>
                </a:solidFill>
                <a:latin typeface="Rethink Sans"/>
                <a:ea typeface="Rethink Sans"/>
                <a:cs typeface="Rethink Sans"/>
                <a:sym typeface="Rethink Sans"/>
              </a:rPr>
              <a:t>David leads our technical innovation, overseeing the development of cutting-edge solutions.</a:t>
            </a:r>
            <a:endParaRPr b="0" i="0" sz="1800" u="none" cap="none" strike="noStrike"/>
          </a:p>
        </p:txBody>
      </p:sp>
      <p:sp>
        <p:nvSpPr>
          <p:cNvPr id="424" name="Google Shape;424;p57"/>
          <p:cNvSpPr/>
          <p:nvPr/>
        </p:nvSpPr>
        <p:spPr>
          <a:xfrm>
            <a:off x="9963450" y="4799746"/>
            <a:ext cx="3952500" cy="3057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EFEFE"/>
              </a:buClr>
              <a:buSzPts val="1500"/>
              <a:buFont typeface="Rethink Sans"/>
              <a:buNone/>
            </a:pPr>
            <a:r>
              <a:rPr lang="en-US" sz="1800">
                <a:solidFill>
                  <a:srgbClr val="FEFEFE"/>
                </a:solidFill>
                <a:latin typeface="Rethink Sans"/>
                <a:ea typeface="Rethink Sans"/>
                <a:cs typeface="Rethink Sans"/>
                <a:sym typeface="Rethink Sans"/>
              </a:rPr>
              <a:t>Chief Technology Officer</a:t>
            </a:r>
            <a:endParaRPr i="0" sz="1800" u="none" cap="none" strike="noStrike">
              <a:latin typeface="Rethink Sans"/>
              <a:ea typeface="Rethink Sans"/>
              <a:cs typeface="Rethink Sans"/>
              <a:sym typeface="Rethink Sans"/>
            </a:endParaRPr>
          </a:p>
        </p:txBody>
      </p:sp>
      <p:sp>
        <p:nvSpPr>
          <p:cNvPr id="425" name="Google Shape;425;p57"/>
          <p:cNvSpPr/>
          <p:nvPr/>
        </p:nvSpPr>
        <p:spPr>
          <a:xfrm>
            <a:off x="714450" y="1955460"/>
            <a:ext cx="2093700" cy="2093700"/>
          </a:xfrm>
          <a:prstGeom prst="ellipse">
            <a:avLst/>
          </a:prstGeom>
          <a:solidFill>
            <a:schemeClr val="lt2"/>
          </a:solidFill>
          <a:ln>
            <a:noFill/>
          </a:ln>
        </p:spPr>
        <p:txBody>
          <a:bodyPr anchorCtr="0" anchor="ctr" bIns="69775" lIns="69775" spcFirstLastPara="1" rIns="69775" wrap="square" tIns="69775">
            <a:noAutofit/>
          </a:bodyPr>
          <a:lstStyle/>
          <a:p>
            <a:pPr indent="0" lvl="0" marL="0" rtl="0" algn="ctr">
              <a:spcBef>
                <a:spcPts val="0"/>
              </a:spcBef>
              <a:spcAft>
                <a:spcPts val="0"/>
              </a:spcAft>
              <a:buNone/>
            </a:pPr>
            <a:r>
              <a:t/>
            </a:r>
            <a:endParaRPr sz="1068"/>
          </a:p>
        </p:txBody>
      </p:sp>
      <p:sp>
        <p:nvSpPr>
          <p:cNvPr id="426" name="Google Shape;426;p57"/>
          <p:cNvSpPr/>
          <p:nvPr/>
        </p:nvSpPr>
        <p:spPr>
          <a:xfrm>
            <a:off x="5363475" y="1955460"/>
            <a:ext cx="2093700" cy="2093700"/>
          </a:xfrm>
          <a:prstGeom prst="ellipse">
            <a:avLst/>
          </a:prstGeom>
          <a:solidFill>
            <a:schemeClr val="lt2"/>
          </a:solidFill>
          <a:ln>
            <a:noFill/>
          </a:ln>
        </p:spPr>
        <p:txBody>
          <a:bodyPr anchorCtr="0" anchor="ctr" bIns="69775" lIns="69775" spcFirstLastPara="1" rIns="69775" wrap="square" tIns="69775">
            <a:noAutofit/>
          </a:bodyPr>
          <a:lstStyle/>
          <a:p>
            <a:pPr indent="0" lvl="0" marL="0" rtl="0" algn="ctr">
              <a:spcBef>
                <a:spcPts val="0"/>
              </a:spcBef>
              <a:spcAft>
                <a:spcPts val="0"/>
              </a:spcAft>
              <a:buNone/>
            </a:pPr>
            <a:r>
              <a:t/>
            </a:r>
            <a:endParaRPr sz="1068"/>
          </a:p>
        </p:txBody>
      </p:sp>
      <p:sp>
        <p:nvSpPr>
          <p:cNvPr id="427" name="Google Shape;427;p57"/>
          <p:cNvSpPr/>
          <p:nvPr/>
        </p:nvSpPr>
        <p:spPr>
          <a:xfrm>
            <a:off x="10012500" y="1955460"/>
            <a:ext cx="2093700" cy="2093700"/>
          </a:xfrm>
          <a:prstGeom prst="ellipse">
            <a:avLst/>
          </a:prstGeom>
          <a:solidFill>
            <a:schemeClr val="lt2"/>
          </a:solidFill>
          <a:ln>
            <a:noFill/>
          </a:ln>
        </p:spPr>
        <p:txBody>
          <a:bodyPr anchorCtr="0" anchor="ctr" bIns="69775" lIns="69775" spcFirstLastPara="1" rIns="69775" wrap="square" tIns="69775">
            <a:noAutofit/>
          </a:bodyPr>
          <a:lstStyle/>
          <a:p>
            <a:pPr indent="0" lvl="0" marL="0" rtl="0" algn="ctr">
              <a:spcBef>
                <a:spcPts val="0"/>
              </a:spcBef>
              <a:spcAft>
                <a:spcPts val="0"/>
              </a:spcAft>
              <a:buNone/>
            </a:pPr>
            <a:r>
              <a:t/>
            </a:r>
            <a:endParaRPr sz="1068"/>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432" name="Shape 432"/>
        <p:cNvGrpSpPr/>
        <p:nvPr/>
      </p:nvGrpSpPr>
      <p:grpSpPr>
        <a:xfrm>
          <a:off x="0" y="0"/>
          <a:ext cx="0" cy="0"/>
          <a:chOff x="0" y="0"/>
          <a:chExt cx="0" cy="0"/>
        </a:xfrm>
      </p:grpSpPr>
      <p:sp>
        <p:nvSpPr>
          <p:cNvPr id="433" name="Google Shape;433;p58"/>
          <p:cNvSpPr/>
          <p:nvPr/>
        </p:nvSpPr>
        <p:spPr>
          <a:xfrm>
            <a:off x="719975" y="1717900"/>
            <a:ext cx="6177600" cy="75042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av</a:t>
            </a:r>
            <a:endParaRPr/>
          </a:p>
        </p:txBody>
      </p:sp>
      <p:sp>
        <p:nvSpPr>
          <p:cNvPr id="434" name="Google Shape;434;p58"/>
          <p:cNvSpPr/>
          <p:nvPr/>
        </p:nvSpPr>
        <p:spPr>
          <a:xfrm>
            <a:off x="1214775" y="2307250"/>
            <a:ext cx="5117400" cy="248100"/>
          </a:xfrm>
          <a:prstGeom prst="rect">
            <a:avLst/>
          </a:prstGeom>
          <a:noFill/>
          <a:ln>
            <a:noFill/>
          </a:ln>
        </p:spPr>
        <p:txBody>
          <a:bodyPr anchorCtr="0" anchor="ctr"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What We </a:t>
            </a:r>
            <a:r>
              <a:rPr lang="en-US" sz="2450">
                <a:solidFill>
                  <a:srgbClr val="D56EED"/>
                </a:solidFill>
                <a:latin typeface="Funnel Display"/>
                <a:ea typeface="Funnel Display"/>
                <a:cs typeface="Funnel Display"/>
                <a:sym typeface="Funnel Display"/>
              </a:rPr>
              <a:t>Need</a:t>
            </a:r>
            <a:r>
              <a:rPr lang="en-US" sz="2450">
                <a:solidFill>
                  <a:srgbClr val="FEFEFE"/>
                </a:solidFill>
                <a:latin typeface="Funnel Display"/>
                <a:ea typeface="Funnel Display"/>
                <a:cs typeface="Funnel Display"/>
                <a:sym typeface="Funnel Display"/>
              </a:rPr>
              <a:t> from You</a:t>
            </a:r>
            <a:endParaRPr sz="2450">
              <a:solidFill>
                <a:srgbClr val="FEFEFE"/>
              </a:solidFill>
              <a:latin typeface="Funnel Display"/>
              <a:ea typeface="Funnel Display"/>
              <a:cs typeface="Funnel Display"/>
              <a:sym typeface="Funnel Display"/>
            </a:endParaRPr>
          </a:p>
        </p:txBody>
      </p:sp>
      <p:sp>
        <p:nvSpPr>
          <p:cNvPr id="435" name="Google Shape;435;p58"/>
          <p:cNvSpPr/>
          <p:nvPr/>
        </p:nvSpPr>
        <p:spPr>
          <a:xfrm>
            <a:off x="727703" y="645200"/>
            <a:ext cx="130974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Dependencies &amp; Next Steps</a:t>
            </a:r>
            <a:endParaRPr b="0" i="0" sz="3900" u="none" cap="none" strike="noStrike">
              <a:solidFill>
                <a:srgbClr val="FEFEFE"/>
              </a:solidFill>
            </a:endParaRPr>
          </a:p>
        </p:txBody>
      </p:sp>
      <p:sp>
        <p:nvSpPr>
          <p:cNvPr id="436" name="Google Shape;436;p58"/>
          <p:cNvSpPr/>
          <p:nvPr/>
        </p:nvSpPr>
        <p:spPr>
          <a:xfrm>
            <a:off x="1678775" y="3298525"/>
            <a:ext cx="4653600" cy="45597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1600"/>
              </a:spcBef>
              <a:spcAft>
                <a:spcPts val="0"/>
              </a:spcAft>
              <a:buNone/>
            </a:pPr>
            <a:r>
              <a:rPr b="1" lang="en-US" sz="1800">
                <a:solidFill>
                  <a:srgbClr val="FEFEFE"/>
                </a:solidFill>
                <a:latin typeface="Rethink Sans"/>
                <a:ea typeface="Rethink Sans"/>
                <a:cs typeface="Rethink Sans"/>
                <a:sym typeface="Rethink Sans"/>
              </a:rPr>
              <a:t>Access to Key Stakeholders: </a:t>
            </a:r>
            <a:r>
              <a:rPr lang="en-US" sz="1800">
                <a:solidFill>
                  <a:srgbClr val="FEFEFE"/>
                </a:solidFill>
                <a:latin typeface="Rethink Sans"/>
                <a:ea typeface="Rethink Sans"/>
                <a:cs typeface="Rethink Sans"/>
                <a:sym typeface="Rethink Sans"/>
              </a:rPr>
              <a:t>To gather deep insights and align strategies.</a:t>
            </a:r>
            <a:endParaRPr sz="1800">
              <a:solidFill>
                <a:srgbClr val="FEFEFE"/>
              </a:solidFill>
              <a:latin typeface="Rethink Sans"/>
              <a:ea typeface="Rethink Sans"/>
              <a:cs typeface="Rethink Sans"/>
              <a:sym typeface="Rethink Sans"/>
            </a:endParaRPr>
          </a:p>
          <a:p>
            <a:pPr indent="0" lvl="0" marL="0" rtl="0" algn="l">
              <a:lnSpc>
                <a:spcPct val="130000"/>
              </a:lnSpc>
              <a:spcBef>
                <a:spcPts val="1600"/>
              </a:spcBef>
              <a:spcAft>
                <a:spcPts val="0"/>
              </a:spcAft>
              <a:buNone/>
            </a:pPr>
            <a:r>
              <a:rPr b="1" lang="en-US" sz="1800">
                <a:solidFill>
                  <a:srgbClr val="FEFEFE"/>
                </a:solidFill>
                <a:latin typeface="Rethink Sans"/>
                <a:ea typeface="Rethink Sans"/>
                <a:cs typeface="Rethink Sans"/>
                <a:sym typeface="Rethink Sans"/>
              </a:rPr>
              <a:t>Defined Business Objectives: </a:t>
            </a:r>
            <a:r>
              <a:rPr lang="en-US" sz="1800">
                <a:solidFill>
                  <a:srgbClr val="FEFEFE"/>
                </a:solidFill>
                <a:latin typeface="Rethink Sans"/>
                <a:ea typeface="Rethink Sans"/>
                <a:cs typeface="Rethink Sans"/>
                <a:sym typeface="Rethink Sans"/>
              </a:rPr>
              <a:t>Clear articulation of your goals.</a:t>
            </a:r>
            <a:endParaRPr sz="1800">
              <a:solidFill>
                <a:srgbClr val="FEFEFE"/>
              </a:solidFill>
              <a:latin typeface="Rethink Sans"/>
              <a:ea typeface="Rethink Sans"/>
              <a:cs typeface="Rethink Sans"/>
              <a:sym typeface="Rethink Sans"/>
            </a:endParaRPr>
          </a:p>
          <a:p>
            <a:pPr indent="0" lvl="0" marL="0" rtl="0" algn="l">
              <a:lnSpc>
                <a:spcPct val="130000"/>
              </a:lnSpc>
              <a:spcBef>
                <a:spcPts val="1600"/>
              </a:spcBef>
              <a:spcAft>
                <a:spcPts val="0"/>
              </a:spcAft>
              <a:buNone/>
            </a:pPr>
            <a:r>
              <a:rPr b="1" lang="en-US" sz="1800">
                <a:solidFill>
                  <a:srgbClr val="FEFEFE"/>
                </a:solidFill>
                <a:latin typeface="Rethink Sans"/>
                <a:ea typeface="Rethink Sans"/>
                <a:cs typeface="Rethink Sans"/>
                <a:sym typeface="Rethink Sans"/>
              </a:rPr>
              <a:t>Existing Digital Assets: </a:t>
            </a:r>
            <a:r>
              <a:rPr lang="en-US" sz="1800">
                <a:solidFill>
                  <a:srgbClr val="FEFEFE"/>
                </a:solidFill>
                <a:latin typeface="Rethink Sans"/>
                <a:ea typeface="Rethink Sans"/>
                <a:cs typeface="Rethink Sans"/>
                <a:sym typeface="Rethink Sans"/>
              </a:rPr>
              <a:t>Provide access to your current websites, data, and content.</a:t>
            </a:r>
            <a:endParaRPr sz="1800">
              <a:solidFill>
                <a:srgbClr val="FEFEFE"/>
              </a:solidFill>
              <a:latin typeface="Rethink Sans"/>
              <a:ea typeface="Rethink Sans"/>
              <a:cs typeface="Rethink Sans"/>
              <a:sym typeface="Rethink Sans"/>
            </a:endParaRPr>
          </a:p>
          <a:p>
            <a:pPr indent="0" lvl="0" marL="0" rtl="0" algn="l">
              <a:lnSpc>
                <a:spcPct val="130000"/>
              </a:lnSpc>
              <a:spcBef>
                <a:spcPts val="1600"/>
              </a:spcBef>
              <a:spcAft>
                <a:spcPts val="1600"/>
              </a:spcAft>
              <a:buNone/>
            </a:pPr>
            <a:r>
              <a:rPr b="1" lang="en-US" sz="1800">
                <a:solidFill>
                  <a:srgbClr val="FEFEFE"/>
                </a:solidFill>
                <a:latin typeface="Rethink Sans"/>
                <a:ea typeface="Rethink Sans"/>
                <a:cs typeface="Rethink Sans"/>
                <a:sym typeface="Rethink Sans"/>
              </a:rPr>
              <a:t>Timely Feedback &amp; Approvals: </a:t>
            </a:r>
            <a:r>
              <a:rPr lang="en-US" sz="1800">
                <a:solidFill>
                  <a:srgbClr val="FEFEFE"/>
                </a:solidFill>
                <a:latin typeface="Rethink Sans"/>
                <a:ea typeface="Rethink Sans"/>
                <a:cs typeface="Rethink Sans"/>
                <a:sym typeface="Rethink Sans"/>
              </a:rPr>
              <a:t>Essential for ensuring smooth project progression.</a:t>
            </a:r>
            <a:endParaRPr sz="1800">
              <a:solidFill>
                <a:srgbClr val="FEFEFE"/>
              </a:solidFill>
              <a:latin typeface="Rethink Sans"/>
              <a:ea typeface="Rethink Sans"/>
              <a:cs typeface="Rethink Sans"/>
              <a:sym typeface="Rethink Sans"/>
            </a:endParaRPr>
          </a:p>
        </p:txBody>
      </p:sp>
      <p:pic>
        <p:nvPicPr>
          <p:cNvPr id="437" name="Google Shape;437;p58"/>
          <p:cNvPicPr preferRelativeResize="0"/>
          <p:nvPr/>
        </p:nvPicPr>
        <p:blipFill>
          <a:blip r:embed="rId3">
            <a:alphaModFix/>
          </a:blip>
          <a:stretch>
            <a:fillRect/>
          </a:stretch>
        </p:blipFill>
        <p:spPr>
          <a:xfrm>
            <a:off x="1214855" y="3374721"/>
            <a:ext cx="162675" cy="162700"/>
          </a:xfrm>
          <a:prstGeom prst="rect">
            <a:avLst/>
          </a:prstGeom>
          <a:noFill/>
          <a:ln>
            <a:noFill/>
          </a:ln>
        </p:spPr>
      </p:pic>
      <p:pic>
        <p:nvPicPr>
          <p:cNvPr id="438" name="Google Shape;438;p58"/>
          <p:cNvPicPr preferRelativeResize="0"/>
          <p:nvPr/>
        </p:nvPicPr>
        <p:blipFill>
          <a:blip r:embed="rId3">
            <a:alphaModFix/>
          </a:blip>
          <a:stretch>
            <a:fillRect/>
          </a:stretch>
        </p:blipFill>
        <p:spPr>
          <a:xfrm>
            <a:off x="1214855" y="4246902"/>
            <a:ext cx="162675" cy="162700"/>
          </a:xfrm>
          <a:prstGeom prst="rect">
            <a:avLst/>
          </a:prstGeom>
          <a:noFill/>
          <a:ln>
            <a:noFill/>
          </a:ln>
        </p:spPr>
      </p:pic>
      <p:pic>
        <p:nvPicPr>
          <p:cNvPr id="439" name="Google Shape;439;p58"/>
          <p:cNvPicPr preferRelativeResize="0"/>
          <p:nvPr/>
        </p:nvPicPr>
        <p:blipFill>
          <a:blip r:embed="rId3">
            <a:alphaModFix/>
          </a:blip>
          <a:stretch>
            <a:fillRect/>
          </a:stretch>
        </p:blipFill>
        <p:spPr>
          <a:xfrm>
            <a:off x="1214855" y="6101146"/>
            <a:ext cx="162675" cy="162700"/>
          </a:xfrm>
          <a:prstGeom prst="rect">
            <a:avLst/>
          </a:prstGeom>
          <a:noFill/>
          <a:ln>
            <a:noFill/>
          </a:ln>
        </p:spPr>
      </p:pic>
      <p:pic>
        <p:nvPicPr>
          <p:cNvPr id="440" name="Google Shape;440;p58"/>
          <p:cNvPicPr preferRelativeResize="0"/>
          <p:nvPr/>
        </p:nvPicPr>
        <p:blipFill>
          <a:blip r:embed="rId3">
            <a:alphaModFix/>
          </a:blip>
          <a:stretch>
            <a:fillRect/>
          </a:stretch>
        </p:blipFill>
        <p:spPr>
          <a:xfrm>
            <a:off x="1214855" y="5140009"/>
            <a:ext cx="162675" cy="162700"/>
          </a:xfrm>
          <a:prstGeom prst="rect">
            <a:avLst/>
          </a:prstGeom>
          <a:noFill/>
          <a:ln>
            <a:noFill/>
          </a:ln>
        </p:spPr>
      </p:pic>
      <p:sp>
        <p:nvSpPr>
          <p:cNvPr id="441" name="Google Shape;441;p58"/>
          <p:cNvSpPr/>
          <p:nvPr/>
        </p:nvSpPr>
        <p:spPr>
          <a:xfrm>
            <a:off x="8177600" y="2307250"/>
            <a:ext cx="5117400" cy="248100"/>
          </a:xfrm>
          <a:prstGeom prst="rect">
            <a:avLst/>
          </a:prstGeom>
          <a:noFill/>
          <a:ln>
            <a:noFill/>
          </a:ln>
        </p:spPr>
        <p:txBody>
          <a:bodyPr anchorCtr="0" anchor="ctr" bIns="0" lIns="0" spcFirstLastPara="1" rIns="0" wrap="square" tIns="0">
            <a:noAutofit/>
          </a:bodyPr>
          <a:lstStyle/>
          <a:p>
            <a:pPr indent="0" lvl="0" marL="0" marR="0" rtl="0" algn="l">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What We'll </a:t>
            </a:r>
            <a:r>
              <a:rPr lang="en-US" sz="2450">
                <a:solidFill>
                  <a:srgbClr val="61BDBA"/>
                </a:solidFill>
                <a:latin typeface="Funnel Display"/>
                <a:ea typeface="Funnel Display"/>
                <a:cs typeface="Funnel Display"/>
                <a:sym typeface="Funnel Display"/>
              </a:rPr>
              <a:t>Deliver</a:t>
            </a:r>
            <a:endParaRPr sz="2450">
              <a:solidFill>
                <a:srgbClr val="61BDBA"/>
              </a:solidFill>
              <a:latin typeface="Funnel Display"/>
              <a:ea typeface="Funnel Display"/>
              <a:cs typeface="Funnel Display"/>
              <a:sym typeface="Funnel Display"/>
            </a:endParaRPr>
          </a:p>
        </p:txBody>
      </p:sp>
      <p:sp>
        <p:nvSpPr>
          <p:cNvPr id="442" name="Google Shape;442;p58"/>
          <p:cNvSpPr/>
          <p:nvPr/>
        </p:nvSpPr>
        <p:spPr>
          <a:xfrm>
            <a:off x="8641600" y="3298525"/>
            <a:ext cx="4653600" cy="43554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1600"/>
              </a:spcBef>
              <a:spcAft>
                <a:spcPts val="0"/>
              </a:spcAft>
              <a:buClr>
                <a:schemeClr val="dk1"/>
              </a:buClr>
              <a:buSzPts val="1100"/>
              <a:buFont typeface="Arial"/>
              <a:buNone/>
            </a:pPr>
            <a:r>
              <a:rPr b="1" lang="en-US" sz="1800">
                <a:solidFill>
                  <a:srgbClr val="FEFEFE"/>
                </a:solidFill>
                <a:latin typeface="Rethink Sans"/>
                <a:ea typeface="Rethink Sans"/>
                <a:cs typeface="Rethink Sans"/>
                <a:sym typeface="Rethink Sans"/>
              </a:rPr>
              <a:t>Tailored Digital Strategy: </a:t>
            </a:r>
            <a:r>
              <a:rPr lang="en-US" sz="1800">
                <a:solidFill>
                  <a:srgbClr val="FEFEFE"/>
                </a:solidFill>
                <a:latin typeface="Rethink Sans"/>
                <a:ea typeface="Rethink Sans"/>
                <a:cs typeface="Rethink Sans"/>
                <a:sym typeface="Rethink Sans"/>
              </a:rPr>
              <a:t>A comprehensive roadmap for building authority.</a:t>
            </a:r>
            <a:endParaRPr sz="1800">
              <a:solidFill>
                <a:srgbClr val="FEFEFE"/>
              </a:solidFill>
              <a:latin typeface="Rethink Sans"/>
              <a:ea typeface="Rethink Sans"/>
              <a:cs typeface="Rethink Sans"/>
              <a:sym typeface="Rethink Sans"/>
            </a:endParaRPr>
          </a:p>
          <a:p>
            <a:pPr indent="0" lvl="0" marL="0" rtl="0" algn="l">
              <a:lnSpc>
                <a:spcPct val="130000"/>
              </a:lnSpc>
              <a:spcBef>
                <a:spcPts val="1600"/>
              </a:spcBef>
              <a:spcAft>
                <a:spcPts val="0"/>
              </a:spcAft>
              <a:buClr>
                <a:schemeClr val="dk1"/>
              </a:buClr>
              <a:buSzPts val="1100"/>
              <a:buFont typeface="Arial"/>
              <a:buNone/>
            </a:pPr>
            <a:r>
              <a:rPr b="1" lang="en-US" sz="1800">
                <a:solidFill>
                  <a:srgbClr val="FEFEFE"/>
                </a:solidFill>
                <a:latin typeface="Rethink Sans"/>
                <a:ea typeface="Rethink Sans"/>
                <a:cs typeface="Rethink Sans"/>
                <a:sym typeface="Rethink Sans"/>
              </a:rPr>
              <a:t>High-Impact Content: </a:t>
            </a:r>
            <a:r>
              <a:rPr lang="en-US" sz="1800">
                <a:solidFill>
                  <a:srgbClr val="FEFEFE"/>
                </a:solidFill>
                <a:latin typeface="Rethink Sans"/>
                <a:ea typeface="Rethink Sans"/>
                <a:cs typeface="Rethink Sans"/>
                <a:sym typeface="Rethink Sans"/>
              </a:rPr>
              <a:t>Researched thought leadership pieces and engaging narratives.</a:t>
            </a:r>
            <a:endParaRPr sz="1800">
              <a:solidFill>
                <a:srgbClr val="FEFEFE"/>
              </a:solidFill>
              <a:latin typeface="Rethink Sans"/>
              <a:ea typeface="Rethink Sans"/>
              <a:cs typeface="Rethink Sans"/>
              <a:sym typeface="Rethink Sans"/>
            </a:endParaRPr>
          </a:p>
          <a:p>
            <a:pPr indent="0" lvl="0" marL="0" rtl="0" algn="l">
              <a:lnSpc>
                <a:spcPct val="130000"/>
              </a:lnSpc>
              <a:spcBef>
                <a:spcPts val="1600"/>
              </a:spcBef>
              <a:spcAft>
                <a:spcPts val="0"/>
              </a:spcAft>
              <a:buClr>
                <a:schemeClr val="dk1"/>
              </a:buClr>
              <a:buSzPts val="1100"/>
              <a:buFont typeface="Arial"/>
              <a:buNone/>
            </a:pPr>
            <a:r>
              <a:rPr b="1" lang="en-US" sz="1800">
                <a:solidFill>
                  <a:srgbClr val="FEFEFE"/>
                </a:solidFill>
                <a:latin typeface="Rethink Sans"/>
                <a:ea typeface="Rethink Sans"/>
                <a:cs typeface="Rethink Sans"/>
                <a:sym typeface="Rethink Sans"/>
              </a:rPr>
              <a:t>Optimized Digital Presence: </a:t>
            </a:r>
            <a:r>
              <a:rPr lang="en-US" sz="1800">
                <a:solidFill>
                  <a:srgbClr val="FEFEFE"/>
                </a:solidFill>
                <a:latin typeface="Rethink Sans"/>
                <a:ea typeface="Rethink Sans"/>
                <a:cs typeface="Rethink Sans"/>
                <a:sym typeface="Rethink Sans"/>
              </a:rPr>
              <a:t>Enhancements to your platforms for maximum visibility.</a:t>
            </a:r>
            <a:endParaRPr sz="1800">
              <a:solidFill>
                <a:srgbClr val="FEFEFE"/>
              </a:solidFill>
              <a:latin typeface="Rethink Sans"/>
              <a:ea typeface="Rethink Sans"/>
              <a:cs typeface="Rethink Sans"/>
              <a:sym typeface="Rethink Sans"/>
            </a:endParaRPr>
          </a:p>
          <a:p>
            <a:pPr indent="0" lvl="0" marL="0" rtl="0" algn="l">
              <a:lnSpc>
                <a:spcPct val="130000"/>
              </a:lnSpc>
              <a:spcBef>
                <a:spcPts val="1600"/>
              </a:spcBef>
              <a:spcAft>
                <a:spcPts val="1600"/>
              </a:spcAft>
              <a:buNone/>
            </a:pPr>
            <a:r>
              <a:rPr b="1" lang="en-US" sz="1800">
                <a:solidFill>
                  <a:srgbClr val="FEFEFE"/>
                </a:solidFill>
                <a:latin typeface="Rethink Sans"/>
                <a:ea typeface="Rethink Sans"/>
                <a:cs typeface="Rethink Sans"/>
                <a:sym typeface="Rethink Sans"/>
              </a:rPr>
              <a:t>Actionable Performance Reports: </a:t>
            </a:r>
            <a:r>
              <a:rPr lang="en-US" sz="1800">
                <a:solidFill>
                  <a:srgbClr val="FEFEFE"/>
                </a:solidFill>
                <a:latin typeface="Rethink Sans"/>
                <a:ea typeface="Rethink Sans"/>
                <a:cs typeface="Rethink Sans"/>
                <a:sym typeface="Rethink Sans"/>
              </a:rPr>
              <a:t>Data-driven insights and recommendations for continuous improvement.</a:t>
            </a:r>
            <a:endParaRPr sz="1800">
              <a:solidFill>
                <a:srgbClr val="FEFEFE"/>
              </a:solidFill>
              <a:latin typeface="Rethink Sans"/>
              <a:ea typeface="Rethink Sans"/>
              <a:cs typeface="Rethink Sans"/>
              <a:sym typeface="Rethink Sans"/>
            </a:endParaRPr>
          </a:p>
        </p:txBody>
      </p:sp>
      <p:pic>
        <p:nvPicPr>
          <p:cNvPr id="443" name="Google Shape;443;p58"/>
          <p:cNvPicPr preferRelativeResize="0"/>
          <p:nvPr/>
        </p:nvPicPr>
        <p:blipFill>
          <a:blip r:embed="rId3">
            <a:alphaModFix/>
          </a:blip>
          <a:stretch>
            <a:fillRect/>
          </a:stretch>
        </p:blipFill>
        <p:spPr>
          <a:xfrm>
            <a:off x="8177680" y="3374721"/>
            <a:ext cx="162675" cy="162700"/>
          </a:xfrm>
          <a:prstGeom prst="rect">
            <a:avLst/>
          </a:prstGeom>
          <a:noFill/>
          <a:ln>
            <a:noFill/>
          </a:ln>
        </p:spPr>
      </p:pic>
      <p:pic>
        <p:nvPicPr>
          <p:cNvPr id="444" name="Google Shape;444;p58"/>
          <p:cNvPicPr preferRelativeResize="0"/>
          <p:nvPr/>
        </p:nvPicPr>
        <p:blipFill>
          <a:blip r:embed="rId3">
            <a:alphaModFix/>
          </a:blip>
          <a:stretch>
            <a:fillRect/>
          </a:stretch>
        </p:blipFill>
        <p:spPr>
          <a:xfrm>
            <a:off x="8177680" y="4246902"/>
            <a:ext cx="162675" cy="162700"/>
          </a:xfrm>
          <a:prstGeom prst="rect">
            <a:avLst/>
          </a:prstGeom>
          <a:noFill/>
          <a:ln>
            <a:noFill/>
          </a:ln>
        </p:spPr>
      </p:pic>
      <p:pic>
        <p:nvPicPr>
          <p:cNvPr id="445" name="Google Shape;445;p58"/>
          <p:cNvPicPr preferRelativeResize="0"/>
          <p:nvPr/>
        </p:nvPicPr>
        <p:blipFill>
          <a:blip r:embed="rId3">
            <a:alphaModFix/>
          </a:blip>
          <a:stretch>
            <a:fillRect/>
          </a:stretch>
        </p:blipFill>
        <p:spPr>
          <a:xfrm>
            <a:off x="8177680" y="6101146"/>
            <a:ext cx="162675" cy="162700"/>
          </a:xfrm>
          <a:prstGeom prst="rect">
            <a:avLst/>
          </a:prstGeom>
          <a:noFill/>
          <a:ln>
            <a:noFill/>
          </a:ln>
        </p:spPr>
      </p:pic>
      <p:pic>
        <p:nvPicPr>
          <p:cNvPr id="446" name="Google Shape;446;p58"/>
          <p:cNvPicPr preferRelativeResize="0"/>
          <p:nvPr/>
        </p:nvPicPr>
        <p:blipFill>
          <a:blip r:embed="rId3">
            <a:alphaModFix/>
          </a:blip>
          <a:stretch>
            <a:fillRect/>
          </a:stretch>
        </p:blipFill>
        <p:spPr>
          <a:xfrm>
            <a:off x="8177680" y="5140009"/>
            <a:ext cx="162675" cy="162700"/>
          </a:xfrm>
          <a:prstGeom prst="rect">
            <a:avLst/>
          </a:prstGeom>
          <a:noFill/>
          <a:ln>
            <a:noFill/>
          </a:ln>
        </p:spPr>
      </p:pic>
      <p:sp>
        <p:nvSpPr>
          <p:cNvPr id="447" name="Google Shape;447;p58"/>
          <p:cNvSpPr/>
          <p:nvPr/>
        </p:nvSpPr>
        <p:spPr>
          <a:xfrm>
            <a:off x="7647500" y="1717900"/>
            <a:ext cx="6177600" cy="7504200"/>
          </a:xfrm>
          <a:prstGeom prst="roundRect">
            <a:avLst>
              <a:gd fmla="val 5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av</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452" name="Shape 452"/>
        <p:cNvGrpSpPr/>
        <p:nvPr/>
      </p:nvGrpSpPr>
      <p:grpSpPr>
        <a:xfrm>
          <a:off x="0" y="0"/>
          <a:ext cx="0" cy="0"/>
          <a:chOff x="0" y="0"/>
          <a:chExt cx="0" cy="0"/>
        </a:xfrm>
      </p:grpSpPr>
      <p:sp>
        <p:nvSpPr>
          <p:cNvPr id="453" name="Google Shape;453;p59"/>
          <p:cNvSpPr/>
          <p:nvPr/>
        </p:nvSpPr>
        <p:spPr>
          <a:xfrm>
            <a:off x="1329940" y="3258550"/>
            <a:ext cx="60216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High Impact, Low Effort</a:t>
            </a:r>
            <a:endParaRPr b="0" i="0" sz="2450" u="none" cap="none" strike="noStrike"/>
          </a:p>
        </p:txBody>
      </p:sp>
      <p:sp>
        <p:nvSpPr>
          <p:cNvPr id="454" name="Google Shape;454;p59"/>
          <p:cNvSpPr/>
          <p:nvPr/>
        </p:nvSpPr>
        <p:spPr>
          <a:xfrm>
            <a:off x="805350" y="3961775"/>
            <a:ext cx="6021600" cy="1782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lang="en-US" sz="1800">
                <a:solidFill>
                  <a:srgbClr val="FEFEFE"/>
                </a:solidFill>
                <a:latin typeface="Rethink Sans"/>
                <a:ea typeface="Rethink Sans"/>
                <a:cs typeface="Rethink Sans"/>
                <a:sym typeface="Rethink Sans"/>
              </a:rPr>
              <a:t>Identify and implement quick wins that immediately boost digital presence and establish early authority.</a:t>
            </a:r>
            <a:r>
              <a:rPr lang="en-US" sz="1800">
                <a:solidFill>
                  <a:srgbClr val="FEFEFE"/>
                </a:solidFill>
                <a:latin typeface="Rethink Sans"/>
                <a:ea typeface="Rethink Sans"/>
                <a:cs typeface="Rethink Sans"/>
                <a:sym typeface="Rethink Sans"/>
              </a:rPr>
              <a:t> This includes optimizing existing content for search.</a:t>
            </a:r>
            <a:endParaRPr sz="1800">
              <a:solidFill>
                <a:srgbClr val="FEFEFE"/>
              </a:solidFill>
              <a:latin typeface="Rethink Sans"/>
              <a:ea typeface="Rethink Sans"/>
              <a:cs typeface="Rethink Sans"/>
              <a:sym typeface="Rethink Sans"/>
            </a:endParaRPr>
          </a:p>
        </p:txBody>
      </p:sp>
      <p:sp>
        <p:nvSpPr>
          <p:cNvPr id="455" name="Google Shape;455;p59"/>
          <p:cNvSpPr/>
          <p:nvPr/>
        </p:nvSpPr>
        <p:spPr>
          <a:xfrm>
            <a:off x="8292508" y="3258550"/>
            <a:ext cx="60219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Low Impact, Low Effort</a:t>
            </a:r>
            <a:endParaRPr sz="2450">
              <a:solidFill>
                <a:srgbClr val="FEFEFE"/>
              </a:solidFill>
              <a:latin typeface="Funnel Display"/>
              <a:ea typeface="Funnel Display"/>
              <a:cs typeface="Funnel Display"/>
              <a:sym typeface="Funnel Display"/>
            </a:endParaRPr>
          </a:p>
        </p:txBody>
      </p:sp>
      <p:sp>
        <p:nvSpPr>
          <p:cNvPr id="456" name="Google Shape;456;p59"/>
          <p:cNvSpPr/>
          <p:nvPr/>
        </p:nvSpPr>
        <p:spPr>
          <a:xfrm>
            <a:off x="7767921" y="3961775"/>
            <a:ext cx="6021900" cy="1782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lang="en-US" sz="1800">
                <a:solidFill>
                  <a:srgbClr val="FEFEFE"/>
                </a:solidFill>
                <a:latin typeface="Rethink Sans"/>
                <a:ea typeface="Rethink Sans"/>
                <a:cs typeface="Rethink Sans"/>
                <a:sym typeface="Rethink Sans"/>
              </a:rPr>
              <a:t>Handle minor content updates, routine social media scheduling, or small technical fixes. </a:t>
            </a:r>
            <a:r>
              <a:rPr lang="en-US" sz="1800">
                <a:solidFill>
                  <a:srgbClr val="FEFEFE"/>
                </a:solidFill>
                <a:latin typeface="Rethink Sans"/>
                <a:ea typeface="Rethink Sans"/>
                <a:cs typeface="Rethink Sans"/>
                <a:sym typeface="Rethink Sans"/>
              </a:rPr>
              <a:t>While not game-changers, these tasks maintain operations.</a:t>
            </a:r>
            <a:endParaRPr sz="1800">
              <a:solidFill>
                <a:srgbClr val="FEFEFE"/>
              </a:solidFill>
              <a:latin typeface="Rethink Sans"/>
              <a:ea typeface="Rethink Sans"/>
              <a:cs typeface="Rethink Sans"/>
              <a:sym typeface="Rethink Sans"/>
            </a:endParaRPr>
          </a:p>
        </p:txBody>
      </p:sp>
      <p:sp>
        <p:nvSpPr>
          <p:cNvPr id="457" name="Google Shape;457;p59"/>
          <p:cNvSpPr/>
          <p:nvPr/>
        </p:nvSpPr>
        <p:spPr>
          <a:xfrm>
            <a:off x="1329925" y="5744073"/>
            <a:ext cx="60216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High Impact, High Effort</a:t>
            </a:r>
            <a:endParaRPr sz="2450">
              <a:solidFill>
                <a:srgbClr val="FEFEFE"/>
              </a:solidFill>
              <a:latin typeface="Funnel Display"/>
              <a:ea typeface="Funnel Display"/>
              <a:cs typeface="Funnel Display"/>
              <a:sym typeface="Funnel Display"/>
            </a:endParaRPr>
          </a:p>
        </p:txBody>
      </p:sp>
      <p:sp>
        <p:nvSpPr>
          <p:cNvPr id="458" name="Google Shape;458;p59"/>
          <p:cNvSpPr/>
          <p:nvPr/>
        </p:nvSpPr>
        <p:spPr>
          <a:xfrm>
            <a:off x="805350" y="6447305"/>
            <a:ext cx="6021600" cy="1782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lang="en-US" sz="1800">
                <a:solidFill>
                  <a:srgbClr val="FEFEFE"/>
                </a:solidFill>
                <a:latin typeface="Rethink Sans"/>
                <a:ea typeface="Rethink Sans"/>
                <a:cs typeface="Rethink Sans"/>
                <a:sym typeface="Rethink Sans"/>
              </a:rPr>
              <a:t>Undertake transformative projects like developing custom digital platforms</a:t>
            </a:r>
            <a:r>
              <a:rPr lang="en-US" sz="1800">
                <a:solidFill>
                  <a:srgbClr val="FEFEFE"/>
                </a:solidFill>
                <a:latin typeface="Rethink Sans"/>
                <a:ea typeface="Rethink Sans"/>
                <a:cs typeface="Rethink Sans"/>
                <a:sym typeface="Rethink Sans"/>
              </a:rPr>
              <a:t>, launching comprehensive brand authority campaigns.</a:t>
            </a:r>
            <a:endParaRPr sz="1800">
              <a:solidFill>
                <a:srgbClr val="FEFEFE"/>
              </a:solidFill>
              <a:latin typeface="Rethink Sans"/>
              <a:ea typeface="Rethink Sans"/>
              <a:cs typeface="Rethink Sans"/>
              <a:sym typeface="Rethink Sans"/>
            </a:endParaRPr>
          </a:p>
        </p:txBody>
      </p:sp>
      <p:sp>
        <p:nvSpPr>
          <p:cNvPr id="459" name="Google Shape;459;p59"/>
          <p:cNvSpPr/>
          <p:nvPr/>
        </p:nvSpPr>
        <p:spPr>
          <a:xfrm>
            <a:off x="8292506" y="5744073"/>
            <a:ext cx="60219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Low Impact, High Effort</a:t>
            </a:r>
            <a:endParaRPr sz="2450">
              <a:solidFill>
                <a:srgbClr val="FEFEFE"/>
              </a:solidFill>
              <a:latin typeface="Funnel Display"/>
              <a:ea typeface="Funnel Display"/>
              <a:cs typeface="Funnel Display"/>
              <a:sym typeface="Funnel Display"/>
            </a:endParaRPr>
          </a:p>
        </p:txBody>
      </p:sp>
      <p:sp>
        <p:nvSpPr>
          <p:cNvPr id="460" name="Google Shape;460;p59"/>
          <p:cNvSpPr/>
          <p:nvPr/>
        </p:nvSpPr>
        <p:spPr>
          <a:xfrm>
            <a:off x="7767921" y="6447301"/>
            <a:ext cx="6021900" cy="1782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400"/>
              <a:buFont typeface="Rethink Sans"/>
              <a:buNone/>
            </a:pPr>
            <a:r>
              <a:rPr lang="en-US" sz="1800">
                <a:solidFill>
                  <a:srgbClr val="FEFEFE"/>
                </a:solidFill>
                <a:latin typeface="Rethink Sans"/>
                <a:ea typeface="Rethink Sans"/>
                <a:cs typeface="Rethink Sans"/>
                <a:sym typeface="Rethink Sans"/>
              </a:rPr>
              <a:t>Avoid projects that consume significant resources without promising substantial returns. </a:t>
            </a:r>
            <a:r>
              <a:rPr lang="en-US" sz="1800">
                <a:solidFill>
                  <a:srgbClr val="FEFEFE"/>
                </a:solidFill>
                <a:latin typeface="Rethink Sans"/>
                <a:ea typeface="Rethink Sans"/>
                <a:cs typeface="Rethink Sans"/>
                <a:sym typeface="Rethink Sans"/>
              </a:rPr>
              <a:t>This category often includes legacy system and overhauling.</a:t>
            </a:r>
            <a:endParaRPr sz="1800">
              <a:solidFill>
                <a:srgbClr val="FEFEFE"/>
              </a:solidFill>
              <a:latin typeface="Rethink Sans"/>
              <a:ea typeface="Rethink Sans"/>
              <a:cs typeface="Rethink Sans"/>
              <a:sym typeface="Rethink Sans"/>
            </a:endParaRPr>
          </a:p>
        </p:txBody>
      </p:sp>
      <p:sp>
        <p:nvSpPr>
          <p:cNvPr id="461" name="Google Shape;461;p59"/>
          <p:cNvSpPr/>
          <p:nvPr/>
        </p:nvSpPr>
        <p:spPr>
          <a:xfrm>
            <a:off x="727703" y="645200"/>
            <a:ext cx="13097400" cy="568500"/>
          </a:xfrm>
          <a:prstGeom prst="rect">
            <a:avLst/>
          </a:prstGeom>
          <a:noFill/>
          <a:ln>
            <a:noFill/>
          </a:ln>
        </p:spPr>
        <p:txBody>
          <a:bodyPr anchorCtr="0" anchor="t" bIns="0" lIns="0" spcFirstLastPara="1" rIns="0" wrap="square" tIns="0">
            <a:noAutofit/>
          </a:bodyPr>
          <a:lstStyle/>
          <a:p>
            <a:pPr indent="0" lvl="0" marL="0" rtl="0" algn="l">
              <a:lnSpc>
                <a:spcPct val="124675"/>
              </a:lnSpc>
              <a:spcBef>
                <a:spcPts val="0"/>
              </a:spcBef>
              <a:spcAft>
                <a:spcPts val="0"/>
              </a:spcAft>
              <a:buClr>
                <a:srgbClr val="FEFEFE"/>
              </a:buClr>
              <a:buSzPts val="3850"/>
              <a:buFont typeface="Funnel Display"/>
              <a:buNone/>
            </a:pPr>
            <a:r>
              <a:rPr lang="en-US" sz="3900">
                <a:solidFill>
                  <a:srgbClr val="FEFEFE"/>
                </a:solidFill>
                <a:latin typeface="Funnel Display"/>
                <a:ea typeface="Funnel Display"/>
                <a:cs typeface="Funnel Display"/>
                <a:sym typeface="Funnel Display"/>
              </a:rPr>
              <a:t>Strategic Matrix for Digital </a:t>
            </a:r>
            <a:r>
              <a:rPr lang="en-US" sz="3900">
                <a:solidFill>
                  <a:srgbClr val="D56EED"/>
                </a:solidFill>
                <a:latin typeface="Funnel Display"/>
                <a:ea typeface="Funnel Display"/>
                <a:cs typeface="Funnel Display"/>
                <a:sym typeface="Funnel Display"/>
              </a:rPr>
              <a:t>Transformation</a:t>
            </a:r>
            <a:endParaRPr sz="3900">
              <a:solidFill>
                <a:srgbClr val="D56EED"/>
              </a:solidFill>
              <a:latin typeface="Funnel Display"/>
              <a:ea typeface="Funnel Display"/>
              <a:cs typeface="Funnel Display"/>
              <a:sym typeface="Funnel Display"/>
            </a:endParaRPr>
          </a:p>
        </p:txBody>
      </p:sp>
      <p:pic>
        <p:nvPicPr>
          <p:cNvPr id="462" name="Google Shape;462;p59"/>
          <p:cNvPicPr preferRelativeResize="0"/>
          <p:nvPr/>
        </p:nvPicPr>
        <p:blipFill>
          <a:blip r:embed="rId3">
            <a:alphaModFix/>
          </a:blip>
          <a:stretch>
            <a:fillRect/>
          </a:stretch>
        </p:blipFill>
        <p:spPr>
          <a:xfrm>
            <a:off x="799652" y="3323999"/>
            <a:ext cx="260312" cy="260312"/>
          </a:xfrm>
          <a:prstGeom prst="rect">
            <a:avLst/>
          </a:prstGeom>
          <a:noFill/>
          <a:ln>
            <a:noFill/>
          </a:ln>
        </p:spPr>
      </p:pic>
      <p:pic>
        <p:nvPicPr>
          <p:cNvPr id="463" name="Google Shape;463;p59"/>
          <p:cNvPicPr preferRelativeResize="0"/>
          <p:nvPr/>
        </p:nvPicPr>
        <p:blipFill>
          <a:blip r:embed="rId3">
            <a:alphaModFix/>
          </a:blip>
          <a:stretch>
            <a:fillRect/>
          </a:stretch>
        </p:blipFill>
        <p:spPr>
          <a:xfrm>
            <a:off x="799652" y="5830799"/>
            <a:ext cx="260312" cy="260312"/>
          </a:xfrm>
          <a:prstGeom prst="rect">
            <a:avLst/>
          </a:prstGeom>
          <a:noFill/>
          <a:ln>
            <a:noFill/>
          </a:ln>
        </p:spPr>
      </p:pic>
      <p:pic>
        <p:nvPicPr>
          <p:cNvPr id="464" name="Google Shape;464;p59"/>
          <p:cNvPicPr preferRelativeResize="0"/>
          <p:nvPr/>
        </p:nvPicPr>
        <p:blipFill>
          <a:blip r:embed="rId3">
            <a:alphaModFix/>
          </a:blip>
          <a:stretch>
            <a:fillRect/>
          </a:stretch>
        </p:blipFill>
        <p:spPr>
          <a:xfrm>
            <a:off x="7767927" y="3323999"/>
            <a:ext cx="260312" cy="260312"/>
          </a:xfrm>
          <a:prstGeom prst="rect">
            <a:avLst/>
          </a:prstGeom>
          <a:noFill/>
          <a:ln>
            <a:noFill/>
          </a:ln>
        </p:spPr>
      </p:pic>
      <p:pic>
        <p:nvPicPr>
          <p:cNvPr id="465" name="Google Shape;465;p59"/>
          <p:cNvPicPr preferRelativeResize="0"/>
          <p:nvPr/>
        </p:nvPicPr>
        <p:blipFill>
          <a:blip r:embed="rId3">
            <a:alphaModFix/>
          </a:blip>
          <a:stretch>
            <a:fillRect/>
          </a:stretch>
        </p:blipFill>
        <p:spPr>
          <a:xfrm>
            <a:off x="7767927" y="5830799"/>
            <a:ext cx="260312" cy="2603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470" name="Shape 470"/>
        <p:cNvGrpSpPr/>
        <p:nvPr/>
      </p:nvGrpSpPr>
      <p:grpSpPr>
        <a:xfrm>
          <a:off x="0" y="0"/>
          <a:ext cx="0" cy="0"/>
          <a:chOff x="0" y="0"/>
          <a:chExt cx="0" cy="0"/>
        </a:xfrm>
      </p:grpSpPr>
      <p:sp>
        <p:nvSpPr>
          <p:cNvPr id="471" name="Google Shape;471;p60"/>
          <p:cNvSpPr/>
          <p:nvPr/>
        </p:nvSpPr>
        <p:spPr>
          <a:xfrm>
            <a:off x="727702" y="645200"/>
            <a:ext cx="5735700" cy="568500"/>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FEFEFE"/>
              </a:buClr>
              <a:buSzPts val="3550"/>
              <a:buFont typeface="Funnel Display"/>
              <a:buNone/>
            </a:pPr>
            <a:r>
              <a:rPr lang="en-US" sz="3900">
                <a:solidFill>
                  <a:srgbClr val="FEFEFE"/>
                </a:solidFill>
                <a:latin typeface="Funnel Display"/>
                <a:ea typeface="Funnel Display"/>
                <a:cs typeface="Funnel Display"/>
                <a:sym typeface="Funnel Display"/>
              </a:rPr>
              <a:t>Core </a:t>
            </a:r>
            <a:r>
              <a:rPr lang="en-US" sz="3900">
                <a:solidFill>
                  <a:srgbClr val="D56EED"/>
                </a:solidFill>
                <a:latin typeface="Funnel Display"/>
                <a:ea typeface="Funnel Display"/>
                <a:cs typeface="Funnel Display"/>
                <a:sym typeface="Funnel Display"/>
              </a:rPr>
              <a:t>Service Pillars</a:t>
            </a:r>
            <a:endParaRPr sz="3900">
              <a:solidFill>
                <a:srgbClr val="D56EED"/>
              </a:solidFill>
              <a:latin typeface="Funnel Display"/>
              <a:ea typeface="Funnel Display"/>
              <a:cs typeface="Funnel Display"/>
              <a:sym typeface="Funnel Display"/>
            </a:endParaRPr>
          </a:p>
        </p:txBody>
      </p:sp>
      <p:sp>
        <p:nvSpPr>
          <p:cNvPr id="472" name="Google Shape;472;p60"/>
          <p:cNvSpPr/>
          <p:nvPr/>
        </p:nvSpPr>
        <p:spPr>
          <a:xfrm>
            <a:off x="799613" y="2954575"/>
            <a:ext cx="3893700" cy="2481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Strategy</a:t>
            </a:r>
            <a:endParaRPr sz="2450">
              <a:solidFill>
                <a:srgbClr val="FEFEFE"/>
              </a:solidFill>
              <a:latin typeface="Funnel Display"/>
              <a:ea typeface="Funnel Display"/>
              <a:cs typeface="Funnel Display"/>
              <a:sym typeface="Funnel Display"/>
            </a:endParaRPr>
          </a:p>
        </p:txBody>
      </p:sp>
      <p:sp>
        <p:nvSpPr>
          <p:cNvPr id="473" name="Google Shape;473;p60"/>
          <p:cNvSpPr/>
          <p:nvPr/>
        </p:nvSpPr>
        <p:spPr>
          <a:xfrm>
            <a:off x="6463400" y="645200"/>
            <a:ext cx="7445100" cy="900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We focus on building your authority and amplifying your impact, ensuring every digital initiative.</a:t>
            </a:r>
            <a:endParaRPr b="0" i="0" sz="1800" u="none" cap="none" strike="noStrike"/>
          </a:p>
        </p:txBody>
      </p:sp>
      <p:sp>
        <p:nvSpPr>
          <p:cNvPr id="474" name="Google Shape;474;p60"/>
          <p:cNvSpPr/>
          <p:nvPr/>
        </p:nvSpPr>
        <p:spPr>
          <a:xfrm>
            <a:off x="799625" y="3500350"/>
            <a:ext cx="3893700" cy="7938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Developing bespoke digital roadmaps that align with your vision.</a:t>
            </a:r>
            <a:endParaRPr sz="1800">
              <a:solidFill>
                <a:srgbClr val="FEFEFE"/>
              </a:solidFill>
              <a:latin typeface="Rethink Sans"/>
              <a:ea typeface="Rethink Sans"/>
              <a:cs typeface="Rethink Sans"/>
              <a:sym typeface="Rethink Sans"/>
            </a:endParaRPr>
          </a:p>
        </p:txBody>
      </p:sp>
      <p:sp>
        <p:nvSpPr>
          <p:cNvPr id="475" name="Google Shape;475;p60"/>
          <p:cNvSpPr/>
          <p:nvPr/>
        </p:nvSpPr>
        <p:spPr>
          <a:xfrm>
            <a:off x="5368338" y="2954575"/>
            <a:ext cx="3893700" cy="2481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Analytics</a:t>
            </a:r>
            <a:endParaRPr sz="2450">
              <a:solidFill>
                <a:srgbClr val="FEFEFE"/>
              </a:solidFill>
              <a:latin typeface="Funnel Display"/>
              <a:ea typeface="Funnel Display"/>
              <a:cs typeface="Funnel Display"/>
              <a:sym typeface="Funnel Display"/>
            </a:endParaRPr>
          </a:p>
        </p:txBody>
      </p:sp>
      <p:sp>
        <p:nvSpPr>
          <p:cNvPr id="476" name="Google Shape;476;p60"/>
          <p:cNvSpPr/>
          <p:nvPr/>
        </p:nvSpPr>
        <p:spPr>
          <a:xfrm>
            <a:off x="5368350" y="3500350"/>
            <a:ext cx="3893700" cy="7938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Leveraging deep data insights to continuously refine strategies.</a:t>
            </a:r>
            <a:endParaRPr sz="1800">
              <a:solidFill>
                <a:srgbClr val="FEFEFE"/>
              </a:solidFill>
              <a:latin typeface="Rethink Sans"/>
              <a:ea typeface="Rethink Sans"/>
              <a:cs typeface="Rethink Sans"/>
              <a:sym typeface="Rethink Sans"/>
            </a:endParaRPr>
          </a:p>
        </p:txBody>
      </p:sp>
      <p:sp>
        <p:nvSpPr>
          <p:cNvPr id="477" name="Google Shape;477;p60"/>
          <p:cNvSpPr/>
          <p:nvPr/>
        </p:nvSpPr>
        <p:spPr>
          <a:xfrm>
            <a:off x="9937063" y="2954575"/>
            <a:ext cx="3893700" cy="2481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Marketing</a:t>
            </a:r>
            <a:endParaRPr sz="2450">
              <a:solidFill>
                <a:srgbClr val="FEFEFE"/>
              </a:solidFill>
              <a:latin typeface="Funnel Display"/>
              <a:ea typeface="Funnel Display"/>
              <a:cs typeface="Funnel Display"/>
              <a:sym typeface="Funnel Display"/>
            </a:endParaRPr>
          </a:p>
        </p:txBody>
      </p:sp>
      <p:sp>
        <p:nvSpPr>
          <p:cNvPr id="478" name="Google Shape;478;p60"/>
          <p:cNvSpPr/>
          <p:nvPr/>
        </p:nvSpPr>
        <p:spPr>
          <a:xfrm>
            <a:off x="9937075" y="3500350"/>
            <a:ext cx="3893700" cy="7938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Executing targeted</a:t>
            </a:r>
            <a:br>
              <a:rPr lang="en-US" sz="1800">
                <a:solidFill>
                  <a:srgbClr val="FEFEFE"/>
                </a:solidFill>
                <a:latin typeface="Rethink Sans"/>
                <a:ea typeface="Rethink Sans"/>
                <a:cs typeface="Rethink Sans"/>
                <a:sym typeface="Rethink Sans"/>
              </a:rPr>
            </a:br>
            <a:r>
              <a:rPr lang="en-US" sz="1800">
                <a:solidFill>
                  <a:srgbClr val="FEFEFE"/>
                </a:solidFill>
                <a:latin typeface="Rethink Sans"/>
                <a:ea typeface="Rethink Sans"/>
                <a:cs typeface="Rethink Sans"/>
                <a:sym typeface="Rethink Sans"/>
              </a:rPr>
              <a:t>digital campaigns.</a:t>
            </a:r>
            <a:endParaRPr sz="1800">
              <a:solidFill>
                <a:srgbClr val="FEFEFE"/>
              </a:solidFill>
              <a:latin typeface="Rethink Sans"/>
              <a:ea typeface="Rethink Sans"/>
              <a:cs typeface="Rethink Sans"/>
              <a:sym typeface="Rethink Sans"/>
            </a:endParaRPr>
          </a:p>
        </p:txBody>
      </p:sp>
      <p:sp>
        <p:nvSpPr>
          <p:cNvPr id="479" name="Google Shape;479;p60"/>
          <p:cNvSpPr/>
          <p:nvPr/>
        </p:nvSpPr>
        <p:spPr>
          <a:xfrm>
            <a:off x="799613" y="5551925"/>
            <a:ext cx="3893700" cy="2481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Design</a:t>
            </a:r>
            <a:endParaRPr sz="2450">
              <a:solidFill>
                <a:srgbClr val="FEFEFE"/>
              </a:solidFill>
              <a:latin typeface="Funnel Display"/>
              <a:ea typeface="Funnel Display"/>
              <a:cs typeface="Funnel Display"/>
              <a:sym typeface="Funnel Display"/>
            </a:endParaRPr>
          </a:p>
        </p:txBody>
      </p:sp>
      <p:sp>
        <p:nvSpPr>
          <p:cNvPr id="480" name="Google Shape;480;p60"/>
          <p:cNvSpPr/>
          <p:nvPr/>
        </p:nvSpPr>
        <p:spPr>
          <a:xfrm>
            <a:off x="799625" y="6097700"/>
            <a:ext cx="3893700" cy="7938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Crafting intuitive and engaging user experiences and visual identities.</a:t>
            </a:r>
            <a:endParaRPr sz="1800">
              <a:solidFill>
                <a:srgbClr val="FEFEFE"/>
              </a:solidFill>
              <a:latin typeface="Rethink Sans"/>
              <a:ea typeface="Rethink Sans"/>
              <a:cs typeface="Rethink Sans"/>
              <a:sym typeface="Rethink Sans"/>
            </a:endParaRPr>
          </a:p>
        </p:txBody>
      </p:sp>
      <p:sp>
        <p:nvSpPr>
          <p:cNvPr id="481" name="Google Shape;481;p60"/>
          <p:cNvSpPr/>
          <p:nvPr/>
        </p:nvSpPr>
        <p:spPr>
          <a:xfrm>
            <a:off x="5368338" y="5551925"/>
            <a:ext cx="3893700" cy="2481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Technology</a:t>
            </a:r>
            <a:endParaRPr sz="2450">
              <a:solidFill>
                <a:srgbClr val="FEFEFE"/>
              </a:solidFill>
              <a:latin typeface="Funnel Display"/>
              <a:ea typeface="Funnel Display"/>
              <a:cs typeface="Funnel Display"/>
              <a:sym typeface="Funnel Display"/>
            </a:endParaRPr>
          </a:p>
        </p:txBody>
      </p:sp>
      <p:sp>
        <p:nvSpPr>
          <p:cNvPr id="482" name="Google Shape;482;p60"/>
          <p:cNvSpPr/>
          <p:nvPr/>
        </p:nvSpPr>
        <p:spPr>
          <a:xfrm>
            <a:off x="5368350" y="6097700"/>
            <a:ext cx="3893700" cy="7938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Building robust, cutting-edge digital platforms and solutions.</a:t>
            </a:r>
            <a:endParaRPr sz="1800">
              <a:solidFill>
                <a:srgbClr val="FEFEFE"/>
              </a:solidFill>
              <a:latin typeface="Rethink Sans"/>
              <a:ea typeface="Rethink Sans"/>
              <a:cs typeface="Rethink Sans"/>
              <a:sym typeface="Rethink Sans"/>
            </a:endParaRPr>
          </a:p>
        </p:txBody>
      </p:sp>
      <p:sp>
        <p:nvSpPr>
          <p:cNvPr id="483" name="Google Shape;483;p60"/>
          <p:cNvSpPr/>
          <p:nvPr/>
        </p:nvSpPr>
        <p:spPr>
          <a:xfrm>
            <a:off x="9937063" y="5551925"/>
            <a:ext cx="3893700" cy="248100"/>
          </a:xfrm>
          <a:prstGeom prst="rect">
            <a:avLst/>
          </a:prstGeom>
          <a:noFill/>
          <a:ln>
            <a:noFill/>
          </a:ln>
        </p:spPr>
        <p:txBody>
          <a:bodyPr anchorCtr="0" anchor="t" bIns="0" lIns="0" spcFirstLastPara="1" rIns="0" wrap="square" tIns="0">
            <a:noAutofit/>
          </a:bodyPr>
          <a:lstStyle/>
          <a:p>
            <a:pPr indent="0" lvl="0" marL="0" marR="0" rtl="0" algn="ctr">
              <a:lnSpc>
                <a:spcPct val="125806"/>
              </a:lnSpc>
              <a:spcBef>
                <a:spcPts val="0"/>
              </a:spcBef>
              <a:spcAft>
                <a:spcPts val="0"/>
              </a:spcAft>
              <a:buClr>
                <a:srgbClr val="FEFEFE"/>
              </a:buClr>
              <a:buSzPts val="1550"/>
              <a:buFont typeface="Funnel Display"/>
              <a:buNone/>
            </a:pPr>
            <a:r>
              <a:rPr lang="en-US" sz="2450">
                <a:solidFill>
                  <a:srgbClr val="FEFEFE"/>
                </a:solidFill>
                <a:latin typeface="Funnel Display"/>
                <a:ea typeface="Funnel Display"/>
                <a:cs typeface="Funnel Display"/>
                <a:sym typeface="Funnel Display"/>
              </a:rPr>
              <a:t>Content</a:t>
            </a:r>
            <a:endParaRPr sz="2450">
              <a:solidFill>
                <a:srgbClr val="FEFEFE"/>
              </a:solidFill>
              <a:latin typeface="Funnel Display"/>
              <a:ea typeface="Funnel Display"/>
              <a:cs typeface="Funnel Display"/>
              <a:sym typeface="Funnel Display"/>
            </a:endParaRPr>
          </a:p>
        </p:txBody>
      </p:sp>
      <p:sp>
        <p:nvSpPr>
          <p:cNvPr id="484" name="Google Shape;484;p60"/>
          <p:cNvSpPr/>
          <p:nvPr/>
        </p:nvSpPr>
        <p:spPr>
          <a:xfrm>
            <a:off x="9937075" y="6097700"/>
            <a:ext cx="3893700" cy="7938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250"/>
              <a:buFont typeface="Rethink Sans"/>
              <a:buNone/>
            </a:pPr>
            <a:r>
              <a:rPr lang="en-US" sz="1800">
                <a:solidFill>
                  <a:srgbClr val="FEFEFE"/>
                </a:solidFill>
                <a:latin typeface="Rethink Sans"/>
                <a:ea typeface="Rethink Sans"/>
                <a:cs typeface="Rethink Sans"/>
                <a:sym typeface="Rethink Sans"/>
              </a:rPr>
              <a:t>Producing compelling narratives, thought leadership pieces.</a:t>
            </a:r>
            <a:endParaRPr sz="1800">
              <a:solidFill>
                <a:srgbClr val="FEFEFE"/>
              </a:solidFill>
              <a:latin typeface="Rethink Sans"/>
              <a:ea typeface="Rethink Sans"/>
              <a:cs typeface="Rethink Sans"/>
              <a:sym typeface="Rethink Sans"/>
            </a:endParaRPr>
          </a:p>
        </p:txBody>
      </p:sp>
      <p:pic>
        <p:nvPicPr>
          <p:cNvPr id="485" name="Google Shape;485;p60"/>
          <p:cNvPicPr preferRelativeResize="0"/>
          <p:nvPr/>
        </p:nvPicPr>
        <p:blipFill>
          <a:blip r:embed="rId3">
            <a:alphaModFix/>
          </a:blip>
          <a:stretch>
            <a:fillRect/>
          </a:stretch>
        </p:blipFill>
        <p:spPr>
          <a:xfrm>
            <a:off x="7054386" y="2259551"/>
            <a:ext cx="455450" cy="455450"/>
          </a:xfrm>
          <a:prstGeom prst="rect">
            <a:avLst/>
          </a:prstGeom>
          <a:noFill/>
          <a:ln>
            <a:noFill/>
          </a:ln>
        </p:spPr>
      </p:pic>
      <p:pic>
        <p:nvPicPr>
          <p:cNvPr id="486" name="Google Shape;486;p60"/>
          <p:cNvPicPr preferRelativeResize="0"/>
          <p:nvPr/>
        </p:nvPicPr>
        <p:blipFill>
          <a:blip r:embed="rId4">
            <a:alphaModFix/>
          </a:blip>
          <a:stretch>
            <a:fillRect/>
          </a:stretch>
        </p:blipFill>
        <p:spPr>
          <a:xfrm>
            <a:off x="2533576" y="4922499"/>
            <a:ext cx="425800" cy="418325"/>
          </a:xfrm>
          <a:prstGeom prst="rect">
            <a:avLst/>
          </a:prstGeom>
          <a:noFill/>
          <a:ln>
            <a:noFill/>
          </a:ln>
        </p:spPr>
      </p:pic>
      <p:pic>
        <p:nvPicPr>
          <p:cNvPr id="487" name="Google Shape;487;p60"/>
          <p:cNvPicPr preferRelativeResize="0"/>
          <p:nvPr/>
        </p:nvPicPr>
        <p:blipFill>
          <a:blip r:embed="rId5">
            <a:alphaModFix/>
          </a:blip>
          <a:stretch>
            <a:fillRect/>
          </a:stretch>
        </p:blipFill>
        <p:spPr>
          <a:xfrm>
            <a:off x="11663426" y="4907362"/>
            <a:ext cx="441000" cy="448600"/>
          </a:xfrm>
          <a:prstGeom prst="rect">
            <a:avLst/>
          </a:prstGeom>
          <a:noFill/>
          <a:ln>
            <a:noFill/>
          </a:ln>
        </p:spPr>
      </p:pic>
      <p:pic>
        <p:nvPicPr>
          <p:cNvPr id="488" name="Google Shape;488;p60"/>
          <p:cNvPicPr preferRelativeResize="0"/>
          <p:nvPr/>
        </p:nvPicPr>
        <p:blipFill>
          <a:blip r:embed="rId6">
            <a:alphaModFix/>
          </a:blip>
          <a:stretch>
            <a:fillRect/>
          </a:stretch>
        </p:blipFill>
        <p:spPr>
          <a:xfrm>
            <a:off x="2454598" y="2268002"/>
            <a:ext cx="456750" cy="464900"/>
          </a:xfrm>
          <a:prstGeom prst="rect">
            <a:avLst/>
          </a:prstGeom>
          <a:noFill/>
          <a:ln>
            <a:noFill/>
          </a:ln>
        </p:spPr>
      </p:pic>
      <p:pic>
        <p:nvPicPr>
          <p:cNvPr id="489" name="Google Shape;489;p60"/>
          <p:cNvPicPr preferRelativeResize="0"/>
          <p:nvPr/>
        </p:nvPicPr>
        <p:blipFill>
          <a:blip r:embed="rId7">
            <a:alphaModFix/>
          </a:blip>
          <a:stretch>
            <a:fillRect/>
          </a:stretch>
        </p:blipFill>
        <p:spPr>
          <a:xfrm>
            <a:off x="11652887" y="2267988"/>
            <a:ext cx="462075" cy="438575"/>
          </a:xfrm>
          <a:prstGeom prst="rect">
            <a:avLst/>
          </a:prstGeom>
          <a:noFill/>
          <a:ln>
            <a:noFill/>
          </a:ln>
        </p:spPr>
      </p:pic>
      <p:pic>
        <p:nvPicPr>
          <p:cNvPr id="490" name="Google Shape;490;p60"/>
          <p:cNvPicPr preferRelativeResize="0"/>
          <p:nvPr/>
        </p:nvPicPr>
        <p:blipFill>
          <a:blip r:embed="rId8">
            <a:alphaModFix/>
          </a:blip>
          <a:stretch>
            <a:fillRect/>
          </a:stretch>
        </p:blipFill>
        <p:spPr>
          <a:xfrm>
            <a:off x="7064338" y="4905275"/>
            <a:ext cx="494124" cy="452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495" name="Shape 495"/>
        <p:cNvGrpSpPr/>
        <p:nvPr/>
      </p:nvGrpSpPr>
      <p:grpSpPr>
        <a:xfrm>
          <a:off x="0" y="0"/>
          <a:ext cx="0" cy="0"/>
          <a:chOff x="0" y="0"/>
          <a:chExt cx="0" cy="0"/>
        </a:xfrm>
      </p:grpSpPr>
      <p:pic>
        <p:nvPicPr>
          <p:cNvPr id="496" name="Google Shape;496;p61" title="Frame 67.jpg"/>
          <p:cNvPicPr preferRelativeResize="0"/>
          <p:nvPr/>
        </p:nvPicPr>
        <p:blipFill>
          <a:blip r:embed="rId3">
            <a:alphaModFix/>
          </a:blip>
          <a:stretch>
            <a:fillRect/>
          </a:stretch>
        </p:blipFill>
        <p:spPr>
          <a:xfrm>
            <a:off x="0" y="0"/>
            <a:ext cx="14630400" cy="8229600"/>
          </a:xfrm>
          <a:prstGeom prst="rect">
            <a:avLst/>
          </a:prstGeom>
          <a:noFill/>
          <a:ln>
            <a:noFill/>
          </a:ln>
        </p:spPr>
      </p:pic>
      <p:sp>
        <p:nvSpPr>
          <p:cNvPr id="497" name="Google Shape;497;p61"/>
          <p:cNvSpPr/>
          <p:nvPr/>
        </p:nvSpPr>
        <p:spPr>
          <a:xfrm>
            <a:off x="0" y="0"/>
            <a:ext cx="14630400" cy="298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p61"/>
          <p:cNvSpPr/>
          <p:nvPr/>
        </p:nvSpPr>
        <p:spPr>
          <a:xfrm>
            <a:off x="3745502" y="4967700"/>
            <a:ext cx="7139400" cy="279000"/>
          </a:xfrm>
          <a:prstGeom prst="rect">
            <a:avLst/>
          </a:prstGeom>
          <a:noFill/>
          <a:ln>
            <a:noFill/>
          </a:ln>
        </p:spPr>
        <p:txBody>
          <a:bodyPr anchorCtr="0" anchor="t" bIns="0" lIns="0" spcFirstLastPara="1" rIns="0" wrap="square" tIns="0">
            <a:noAutofit/>
          </a:bodyPr>
          <a:lstStyle/>
          <a:p>
            <a:pPr indent="0" lvl="0" marL="0" marR="0" rtl="0" algn="ctr">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Let's </a:t>
            </a:r>
            <a:r>
              <a:rPr lang="en-US" sz="2450">
                <a:solidFill>
                  <a:srgbClr val="D56EED"/>
                </a:solidFill>
                <a:latin typeface="Funnel Display"/>
                <a:ea typeface="Funnel Display"/>
                <a:cs typeface="Funnel Display"/>
                <a:sym typeface="Funnel Display"/>
              </a:rPr>
              <a:t>Build</a:t>
            </a:r>
            <a:r>
              <a:rPr lang="en-US" sz="2450">
                <a:solidFill>
                  <a:srgbClr val="FEFEFE"/>
                </a:solidFill>
                <a:latin typeface="Funnel Display"/>
                <a:ea typeface="Funnel Display"/>
                <a:cs typeface="Funnel Display"/>
                <a:sym typeface="Funnel Display"/>
              </a:rPr>
              <a:t> Authority and </a:t>
            </a:r>
            <a:r>
              <a:rPr lang="en-US" sz="2450">
                <a:solidFill>
                  <a:srgbClr val="61BDBA"/>
                </a:solidFill>
                <a:latin typeface="Funnel Display"/>
                <a:ea typeface="Funnel Display"/>
                <a:cs typeface="Funnel Display"/>
                <a:sym typeface="Funnel Display"/>
              </a:rPr>
              <a:t>Amplify</a:t>
            </a:r>
            <a:r>
              <a:rPr lang="en-US" sz="2450">
                <a:solidFill>
                  <a:srgbClr val="FEFEFE"/>
                </a:solidFill>
                <a:latin typeface="Funnel Display"/>
                <a:ea typeface="Funnel Display"/>
                <a:cs typeface="Funnel Display"/>
                <a:sym typeface="Funnel Display"/>
              </a:rPr>
              <a:t> Your Impact</a:t>
            </a:r>
            <a:endParaRPr b="0" i="0" sz="2450" u="none" cap="none" strike="noStrike"/>
          </a:p>
        </p:txBody>
      </p:sp>
      <p:sp>
        <p:nvSpPr>
          <p:cNvPr id="499" name="Google Shape;499;p61"/>
          <p:cNvSpPr/>
          <p:nvPr/>
        </p:nvSpPr>
        <p:spPr>
          <a:xfrm>
            <a:off x="793796" y="3556775"/>
            <a:ext cx="13031400" cy="620100"/>
          </a:xfrm>
          <a:prstGeom prst="rect">
            <a:avLst/>
          </a:prstGeom>
          <a:noFill/>
          <a:ln>
            <a:noFill/>
          </a:ln>
        </p:spPr>
        <p:txBody>
          <a:bodyPr anchorCtr="0" anchor="t" bIns="0" lIns="0" spcFirstLastPara="1" rIns="0" wrap="square" tIns="0">
            <a:noAutofit/>
          </a:bodyPr>
          <a:lstStyle/>
          <a:p>
            <a:pPr indent="0" lvl="0" marL="0" marR="0" rtl="0" algn="ctr">
              <a:lnSpc>
                <a:spcPct val="124359"/>
              </a:lnSpc>
              <a:spcBef>
                <a:spcPts val="0"/>
              </a:spcBef>
              <a:spcAft>
                <a:spcPts val="0"/>
              </a:spcAft>
              <a:buClr>
                <a:srgbClr val="FEFEFE"/>
              </a:buClr>
              <a:buSzPts val="3900"/>
              <a:buFont typeface="Funnel Display"/>
              <a:buNone/>
            </a:pPr>
            <a:r>
              <a:rPr lang="en-US" sz="5600">
                <a:solidFill>
                  <a:srgbClr val="FEFEFE"/>
                </a:solidFill>
                <a:latin typeface="Funnel Display"/>
                <a:ea typeface="Funnel Display"/>
                <a:cs typeface="Funnel Display"/>
                <a:sym typeface="Funnel Display"/>
              </a:rPr>
              <a:t>Thank You</a:t>
            </a:r>
            <a:endParaRPr b="0" i="0" sz="5600" u="none" cap="none" strike="noStrike"/>
          </a:p>
        </p:txBody>
      </p:sp>
      <p:sp>
        <p:nvSpPr>
          <p:cNvPr id="500" name="Google Shape;500;p61"/>
          <p:cNvSpPr/>
          <p:nvPr/>
        </p:nvSpPr>
        <p:spPr>
          <a:xfrm>
            <a:off x="2577753" y="5561425"/>
            <a:ext cx="9474900" cy="9525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EFEFE"/>
              </a:buClr>
              <a:buSzPts val="1550"/>
              <a:buFont typeface="Rethink Sans"/>
              <a:buNone/>
            </a:pPr>
            <a:r>
              <a:rPr b="0" i="0" lang="en-US" sz="1800" u="none" cap="none" strike="noStrike">
                <a:solidFill>
                  <a:srgbClr val="FEFEFE"/>
                </a:solidFill>
                <a:latin typeface="Rethink Sans"/>
                <a:ea typeface="Rethink Sans"/>
                <a:cs typeface="Rethink Sans"/>
                <a:sym typeface="Rethink Sans"/>
              </a:rPr>
              <a:t>At TBS Digital Labs, we specialize in empowering your brand with unparalleled digital presence and strategic insights. Partner with us to transform your vision into measurable success and establish lasting influence in your industry.</a:t>
            </a:r>
            <a:endParaRPr b="0" i="0" sz="1800" u="none" cap="none" strike="noStrike"/>
          </a:p>
        </p:txBody>
      </p:sp>
      <p:cxnSp>
        <p:nvCxnSpPr>
          <p:cNvPr id="501" name="Google Shape;501;p61"/>
          <p:cNvCxnSpPr/>
          <p:nvPr/>
        </p:nvCxnSpPr>
        <p:spPr>
          <a:xfrm rot="10800000">
            <a:off x="6247500" y="4652975"/>
            <a:ext cx="2135400" cy="0"/>
          </a:xfrm>
          <a:prstGeom prst="straightConnector1">
            <a:avLst/>
          </a:prstGeom>
          <a:noFill/>
          <a:ln cap="flat" cmpd="sng" w="9525">
            <a:solidFill>
              <a:srgbClr val="FCFCFC"/>
            </a:solidFill>
            <a:prstDash val="solid"/>
            <a:round/>
            <a:headEnd len="med" w="med" type="none"/>
            <a:tailEnd len="med" w="med" type="none"/>
          </a:ln>
        </p:spPr>
      </p:cxnSp>
      <p:sp>
        <p:nvSpPr>
          <p:cNvPr id="502" name="Google Shape;502;p61"/>
          <p:cNvSpPr txBox="1"/>
          <p:nvPr/>
        </p:nvSpPr>
        <p:spPr>
          <a:xfrm>
            <a:off x="2118525" y="708180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61290"/>
              </a:lnSpc>
              <a:spcBef>
                <a:spcPts val="0"/>
              </a:spcBef>
              <a:spcAft>
                <a:spcPts val="0"/>
              </a:spcAft>
              <a:buNone/>
            </a:pPr>
            <a:r>
              <a:rPr lang="en-US">
                <a:solidFill>
                  <a:srgbClr val="FEFEFE"/>
                </a:solidFill>
                <a:latin typeface="Rethink Sans"/>
                <a:ea typeface="Rethink Sans"/>
                <a:cs typeface="Rethink Sans"/>
                <a:sym typeface="Rethink Sans"/>
              </a:rPr>
              <a:t> info@tbsdigitallabs.com</a:t>
            </a:r>
            <a:endParaRPr/>
          </a:p>
        </p:txBody>
      </p:sp>
      <p:sp>
        <p:nvSpPr>
          <p:cNvPr id="503" name="Google Shape;503;p61"/>
          <p:cNvSpPr txBox="1"/>
          <p:nvPr/>
        </p:nvSpPr>
        <p:spPr>
          <a:xfrm>
            <a:off x="5815200" y="708180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61290"/>
              </a:lnSpc>
              <a:spcBef>
                <a:spcPts val="0"/>
              </a:spcBef>
              <a:spcAft>
                <a:spcPts val="0"/>
              </a:spcAft>
              <a:buNone/>
            </a:pPr>
            <a:r>
              <a:rPr lang="en-US">
                <a:solidFill>
                  <a:srgbClr val="FEFEFE"/>
                </a:solidFill>
                <a:latin typeface="Rethink Sans"/>
                <a:ea typeface="Rethink Sans"/>
                <a:cs typeface="Rethink Sans"/>
                <a:sym typeface="Rethink Sans"/>
              </a:rPr>
              <a:t>+1 (800) 555-0199</a:t>
            </a:r>
            <a:endParaRPr/>
          </a:p>
        </p:txBody>
      </p:sp>
      <p:sp>
        <p:nvSpPr>
          <p:cNvPr id="504" name="Google Shape;504;p61"/>
          <p:cNvSpPr txBox="1"/>
          <p:nvPr/>
        </p:nvSpPr>
        <p:spPr>
          <a:xfrm>
            <a:off x="9511875" y="7081800"/>
            <a:ext cx="3000000" cy="400200"/>
          </a:xfrm>
          <a:prstGeom prst="rect">
            <a:avLst/>
          </a:prstGeom>
          <a:noFill/>
          <a:ln>
            <a:noFill/>
          </a:ln>
        </p:spPr>
        <p:txBody>
          <a:bodyPr anchorCtr="0" anchor="t" bIns="91425" lIns="91425" spcFirstLastPara="1" rIns="91425" wrap="square" tIns="91425">
            <a:spAutoFit/>
          </a:bodyPr>
          <a:lstStyle/>
          <a:p>
            <a:pPr indent="0" lvl="0" marL="0" rtl="0" algn="ctr">
              <a:lnSpc>
                <a:spcPct val="161290"/>
              </a:lnSpc>
              <a:spcBef>
                <a:spcPts val="0"/>
              </a:spcBef>
              <a:spcAft>
                <a:spcPts val="0"/>
              </a:spcAft>
              <a:buNone/>
            </a:pPr>
            <a:r>
              <a:rPr lang="en-US">
                <a:solidFill>
                  <a:srgbClr val="FEFEFE"/>
                </a:solidFill>
                <a:latin typeface="Rethink Sans"/>
                <a:ea typeface="Rethink Sans"/>
                <a:cs typeface="Rethink Sans"/>
                <a:sym typeface="Rethink Sans"/>
              </a:rPr>
              <a:t>www.tbsdigitallabs.com</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22B"/>
        </a:solidFill>
      </p:bgPr>
    </p:bg>
    <p:spTree>
      <p:nvGrpSpPr>
        <p:cNvPr id="509" name="Shape 509"/>
        <p:cNvGrpSpPr/>
        <p:nvPr/>
      </p:nvGrpSpPr>
      <p:grpSpPr>
        <a:xfrm>
          <a:off x="0" y="0"/>
          <a:ext cx="0" cy="0"/>
          <a:chOff x="0" y="0"/>
          <a:chExt cx="0" cy="0"/>
        </a:xfrm>
      </p:grpSpPr>
      <p:pic>
        <p:nvPicPr>
          <p:cNvPr id="510" name="Google Shape;510;p62" title="Frame 67.jpg"/>
          <p:cNvPicPr preferRelativeResize="0"/>
          <p:nvPr/>
        </p:nvPicPr>
        <p:blipFill>
          <a:blip r:embed="rId3">
            <a:alphaModFix/>
          </a:blip>
          <a:stretch>
            <a:fillRect/>
          </a:stretch>
        </p:blipFill>
        <p:spPr>
          <a:xfrm>
            <a:off x="0" y="0"/>
            <a:ext cx="14630400" cy="8229600"/>
          </a:xfrm>
          <a:prstGeom prst="rect">
            <a:avLst/>
          </a:prstGeom>
          <a:noFill/>
          <a:ln>
            <a:noFill/>
          </a:ln>
        </p:spPr>
      </p:pic>
      <p:pic>
        <p:nvPicPr>
          <p:cNvPr id="511" name="Google Shape;511;p62"/>
          <p:cNvPicPr preferRelativeResize="0"/>
          <p:nvPr/>
        </p:nvPicPr>
        <p:blipFill>
          <a:blip r:embed="rId4">
            <a:alphaModFix/>
          </a:blip>
          <a:stretch>
            <a:fillRect/>
          </a:stretch>
        </p:blipFill>
        <p:spPr>
          <a:xfrm>
            <a:off x="-5859925" y="-5911725"/>
            <a:ext cx="11189076" cy="11194552"/>
          </a:xfrm>
          <a:prstGeom prst="rect">
            <a:avLst/>
          </a:prstGeom>
          <a:noFill/>
          <a:ln>
            <a:noFill/>
          </a:ln>
        </p:spPr>
      </p:pic>
      <p:sp>
        <p:nvSpPr>
          <p:cNvPr id="512" name="Google Shape;512;p62"/>
          <p:cNvSpPr/>
          <p:nvPr/>
        </p:nvSpPr>
        <p:spPr>
          <a:xfrm>
            <a:off x="5949452" y="5516775"/>
            <a:ext cx="7139400" cy="27900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FEFEFE"/>
              </a:buClr>
              <a:buSzPts val="1750"/>
              <a:buFont typeface="Funnel Display"/>
              <a:buNone/>
            </a:pPr>
            <a:r>
              <a:rPr lang="en-US" sz="2450">
                <a:solidFill>
                  <a:srgbClr val="FEFEFE"/>
                </a:solidFill>
                <a:latin typeface="Funnel Display"/>
                <a:ea typeface="Funnel Display"/>
                <a:cs typeface="Funnel Display"/>
                <a:sym typeface="Funnel Display"/>
              </a:rPr>
              <a:t>Book Your </a:t>
            </a:r>
            <a:r>
              <a:rPr lang="en-US" sz="2450">
                <a:solidFill>
                  <a:srgbClr val="61BDBA"/>
                </a:solidFill>
                <a:latin typeface="Funnel Display"/>
                <a:ea typeface="Funnel Display"/>
                <a:cs typeface="Funnel Display"/>
                <a:sym typeface="Funnel Display"/>
              </a:rPr>
              <a:t>Discovery Call</a:t>
            </a:r>
            <a:r>
              <a:rPr lang="en-US" sz="2450">
                <a:solidFill>
                  <a:srgbClr val="FEFEFE"/>
                </a:solidFill>
                <a:latin typeface="Funnel Display"/>
                <a:ea typeface="Funnel Display"/>
                <a:cs typeface="Funnel Display"/>
                <a:sym typeface="Funnel Display"/>
              </a:rPr>
              <a:t> Today</a:t>
            </a:r>
            <a:endParaRPr sz="2450">
              <a:solidFill>
                <a:srgbClr val="FEFEFE"/>
              </a:solidFill>
              <a:latin typeface="Funnel Display"/>
              <a:ea typeface="Funnel Display"/>
              <a:cs typeface="Funnel Display"/>
              <a:sym typeface="Funnel Display"/>
            </a:endParaRPr>
          </a:p>
        </p:txBody>
      </p:sp>
      <p:sp>
        <p:nvSpPr>
          <p:cNvPr id="513" name="Google Shape;513;p62"/>
          <p:cNvSpPr/>
          <p:nvPr/>
        </p:nvSpPr>
        <p:spPr>
          <a:xfrm>
            <a:off x="5949450" y="1034875"/>
            <a:ext cx="7875600" cy="620100"/>
          </a:xfrm>
          <a:prstGeom prst="rect">
            <a:avLst/>
          </a:prstGeom>
          <a:noFill/>
          <a:ln>
            <a:noFill/>
          </a:ln>
        </p:spPr>
        <p:txBody>
          <a:bodyPr anchorCtr="0" anchor="t" bIns="0" lIns="0" spcFirstLastPara="1" rIns="0" wrap="square" tIns="0">
            <a:noAutofit/>
          </a:bodyPr>
          <a:lstStyle/>
          <a:p>
            <a:pPr indent="0" lvl="0" marL="0" marR="0" rtl="0" algn="l">
              <a:lnSpc>
                <a:spcPct val="124359"/>
              </a:lnSpc>
              <a:spcBef>
                <a:spcPts val="0"/>
              </a:spcBef>
              <a:spcAft>
                <a:spcPts val="0"/>
              </a:spcAft>
              <a:buClr>
                <a:srgbClr val="FEFEFE"/>
              </a:buClr>
              <a:buSzPts val="3900"/>
              <a:buFont typeface="Funnel Display"/>
              <a:buNone/>
            </a:pPr>
            <a:r>
              <a:rPr lang="en-US" sz="3900">
                <a:solidFill>
                  <a:srgbClr val="FEFEFE"/>
                </a:solidFill>
                <a:latin typeface="Funnel Display"/>
                <a:ea typeface="Funnel Display"/>
                <a:cs typeface="Funnel Display"/>
                <a:sym typeface="Funnel Display"/>
              </a:rPr>
              <a:t>Ready to </a:t>
            </a:r>
            <a:r>
              <a:rPr lang="en-US" sz="3900">
                <a:solidFill>
                  <a:srgbClr val="D56EED"/>
                </a:solidFill>
                <a:latin typeface="Funnel Display"/>
                <a:ea typeface="Funnel Display"/>
                <a:cs typeface="Funnel Display"/>
                <a:sym typeface="Funnel Display"/>
              </a:rPr>
              <a:t>Transform</a:t>
            </a:r>
            <a:r>
              <a:rPr lang="en-US" sz="3900">
                <a:solidFill>
                  <a:srgbClr val="FEFEFE"/>
                </a:solidFill>
                <a:latin typeface="Funnel Display"/>
                <a:ea typeface="Funnel Display"/>
                <a:cs typeface="Funnel Display"/>
                <a:sym typeface="Funnel Display"/>
              </a:rPr>
              <a:t> Your Brand?</a:t>
            </a:r>
            <a:endParaRPr sz="3900">
              <a:solidFill>
                <a:srgbClr val="FEFEFE"/>
              </a:solidFill>
              <a:latin typeface="Funnel Display"/>
              <a:ea typeface="Funnel Display"/>
              <a:cs typeface="Funnel Display"/>
              <a:sym typeface="Funnel Display"/>
            </a:endParaRPr>
          </a:p>
        </p:txBody>
      </p:sp>
      <p:sp>
        <p:nvSpPr>
          <p:cNvPr id="514" name="Google Shape;514;p62"/>
          <p:cNvSpPr/>
          <p:nvPr/>
        </p:nvSpPr>
        <p:spPr>
          <a:xfrm>
            <a:off x="5949450" y="2412825"/>
            <a:ext cx="7875600" cy="2203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EFEFE"/>
              </a:buClr>
              <a:buSzPts val="1550"/>
              <a:buFont typeface="Rethink Sans"/>
              <a:buNone/>
            </a:pPr>
            <a:r>
              <a:rPr lang="en-US" sz="1800">
                <a:solidFill>
                  <a:srgbClr val="FEFEFE"/>
                </a:solidFill>
                <a:latin typeface="Rethink Sans"/>
                <a:ea typeface="Rethink Sans"/>
                <a:cs typeface="Rethink Sans"/>
                <a:sym typeface="Rethink Sans"/>
              </a:rPr>
              <a:t>At TBS Digital Labs, we specialize in crafting robust digital strategies, implementing innovative solutions, and delivering measurable results. Our approach is designed to transform your challenges into opportunities.</a:t>
            </a:r>
            <a:endParaRPr sz="1800">
              <a:solidFill>
                <a:srgbClr val="FEFEFE"/>
              </a:solidFill>
              <a:latin typeface="Rethink Sans"/>
              <a:ea typeface="Rethink Sans"/>
              <a:cs typeface="Rethink Sans"/>
              <a:sym typeface="Rethink Sans"/>
            </a:endParaRPr>
          </a:p>
          <a:p>
            <a:pPr indent="0" lvl="0" marL="0" marR="0" rtl="0" algn="l">
              <a:lnSpc>
                <a:spcPct val="130000"/>
              </a:lnSpc>
              <a:spcBef>
                <a:spcPts val="2400"/>
              </a:spcBef>
              <a:spcAft>
                <a:spcPts val="2400"/>
              </a:spcAft>
              <a:buClr>
                <a:srgbClr val="FEFEFE"/>
              </a:buClr>
              <a:buSzPts val="1550"/>
              <a:buFont typeface="Rethink Sans"/>
              <a:buNone/>
            </a:pPr>
            <a:r>
              <a:rPr lang="en-US" sz="1800">
                <a:solidFill>
                  <a:srgbClr val="FEFEFE"/>
                </a:solidFill>
                <a:latin typeface="Rethink Sans"/>
                <a:ea typeface="Rethink Sans"/>
                <a:cs typeface="Rethink Sans"/>
                <a:sym typeface="Rethink Sans"/>
              </a:rPr>
              <a:t>Elevate your digital presence and secure your industry leadership. We build the authority that amplifies your impact.</a:t>
            </a:r>
            <a:endParaRPr sz="1800">
              <a:solidFill>
                <a:srgbClr val="FEFEFE"/>
              </a:solidFill>
              <a:latin typeface="Rethink Sans"/>
              <a:ea typeface="Rethink Sans"/>
              <a:cs typeface="Rethink Sans"/>
              <a:sym typeface="Rethink Sans"/>
            </a:endParaRPr>
          </a:p>
        </p:txBody>
      </p:sp>
      <p:cxnSp>
        <p:nvCxnSpPr>
          <p:cNvPr id="515" name="Google Shape;515;p62"/>
          <p:cNvCxnSpPr/>
          <p:nvPr/>
        </p:nvCxnSpPr>
        <p:spPr>
          <a:xfrm rot="10800000">
            <a:off x="5949450" y="1969700"/>
            <a:ext cx="2135400" cy="0"/>
          </a:xfrm>
          <a:prstGeom prst="straightConnector1">
            <a:avLst/>
          </a:prstGeom>
          <a:noFill/>
          <a:ln cap="flat" cmpd="sng" w="9525">
            <a:solidFill>
              <a:srgbClr val="FCFCFC"/>
            </a:solidFill>
            <a:prstDash val="solid"/>
            <a:round/>
            <a:headEnd len="med" w="med" type="none"/>
            <a:tailEnd len="med" w="med" type="none"/>
          </a:ln>
        </p:spPr>
      </p:cxnSp>
      <p:sp>
        <p:nvSpPr>
          <p:cNvPr id="516" name="Google Shape;516;p62"/>
          <p:cNvSpPr txBox="1"/>
          <p:nvPr/>
        </p:nvSpPr>
        <p:spPr>
          <a:xfrm>
            <a:off x="5949450" y="6147550"/>
            <a:ext cx="3000000" cy="1351800"/>
          </a:xfrm>
          <a:prstGeom prst="rect">
            <a:avLst/>
          </a:prstGeom>
          <a:noFill/>
          <a:ln>
            <a:noFill/>
          </a:ln>
        </p:spPr>
        <p:txBody>
          <a:bodyPr anchorCtr="0" anchor="t" bIns="91425" lIns="91425" spcFirstLastPara="1" rIns="91425" wrap="square" tIns="91425">
            <a:spAutoFit/>
          </a:bodyPr>
          <a:lstStyle/>
          <a:p>
            <a:pPr indent="0" lvl="0" marL="0" rtl="0" algn="l">
              <a:lnSpc>
                <a:spcPct val="161290"/>
              </a:lnSpc>
              <a:spcBef>
                <a:spcPts val="0"/>
              </a:spcBef>
              <a:spcAft>
                <a:spcPts val="0"/>
              </a:spcAft>
              <a:buNone/>
            </a:pPr>
            <a:r>
              <a:rPr lang="en-US">
                <a:solidFill>
                  <a:srgbClr val="FEFEFE"/>
                </a:solidFill>
                <a:latin typeface="Rethink Sans"/>
                <a:ea typeface="Rethink Sans"/>
                <a:cs typeface="Rethink Sans"/>
                <a:sym typeface="Rethink Sans"/>
              </a:rPr>
              <a:t> info@tbsdigitallabs.com</a:t>
            </a:r>
            <a:endParaRPr>
              <a:solidFill>
                <a:srgbClr val="FEFEFE"/>
              </a:solidFill>
              <a:latin typeface="Rethink Sans"/>
              <a:ea typeface="Rethink Sans"/>
              <a:cs typeface="Rethink Sans"/>
              <a:sym typeface="Rethink Sans"/>
            </a:endParaRPr>
          </a:p>
          <a:p>
            <a:pPr indent="0" lvl="0" marL="0" rtl="0" algn="l">
              <a:lnSpc>
                <a:spcPct val="161290"/>
              </a:lnSpc>
              <a:spcBef>
                <a:spcPts val="1000"/>
              </a:spcBef>
              <a:spcAft>
                <a:spcPts val="0"/>
              </a:spcAft>
              <a:buNone/>
            </a:pPr>
            <a:r>
              <a:rPr lang="en-US">
                <a:solidFill>
                  <a:srgbClr val="FEFEFE"/>
                </a:solidFill>
                <a:latin typeface="Rethink Sans"/>
                <a:ea typeface="Rethink Sans"/>
                <a:cs typeface="Rethink Sans"/>
                <a:sym typeface="Rethink Sans"/>
              </a:rPr>
              <a:t>+1 (800) 555-0199</a:t>
            </a:r>
            <a:endParaRPr>
              <a:solidFill>
                <a:srgbClr val="FEFEFE"/>
              </a:solidFill>
              <a:latin typeface="Rethink Sans"/>
              <a:ea typeface="Rethink Sans"/>
              <a:cs typeface="Rethink Sans"/>
              <a:sym typeface="Rethink Sans"/>
            </a:endParaRPr>
          </a:p>
          <a:p>
            <a:pPr indent="0" lvl="0" marL="0" rtl="0" algn="l">
              <a:lnSpc>
                <a:spcPct val="161290"/>
              </a:lnSpc>
              <a:spcBef>
                <a:spcPts val="1000"/>
              </a:spcBef>
              <a:spcAft>
                <a:spcPts val="1000"/>
              </a:spcAft>
              <a:buNone/>
            </a:pPr>
            <a:r>
              <a:rPr lang="en-US">
                <a:solidFill>
                  <a:srgbClr val="FEFEFE"/>
                </a:solidFill>
                <a:latin typeface="Rethink Sans"/>
                <a:ea typeface="Rethink Sans"/>
                <a:cs typeface="Rethink Sans"/>
                <a:sym typeface="Rethink Sans"/>
              </a:rPr>
              <a:t>www.tbsdigitallabs.com</a:t>
            </a:r>
            <a:endParaRPr>
              <a:solidFill>
                <a:srgbClr val="FEFEFE"/>
              </a:solidFill>
              <a:latin typeface="Rethink Sans"/>
              <a:ea typeface="Rethink Sans"/>
              <a:cs typeface="Rethink Sans"/>
              <a:sym typeface="Rethink Sans"/>
            </a:endParaRPr>
          </a:p>
        </p:txBody>
      </p:sp>
      <p:pic>
        <p:nvPicPr>
          <p:cNvPr id="517" name="Google Shape;517;p62"/>
          <p:cNvPicPr preferRelativeResize="0"/>
          <p:nvPr/>
        </p:nvPicPr>
        <p:blipFill rotWithShape="1">
          <a:blip r:embed="rId5">
            <a:alphaModFix/>
          </a:blip>
          <a:srcRect b="23871" l="19660" r="19660" t="23871"/>
          <a:stretch/>
        </p:blipFill>
        <p:spPr>
          <a:xfrm>
            <a:off x="805350" y="5536263"/>
            <a:ext cx="3364423" cy="19436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